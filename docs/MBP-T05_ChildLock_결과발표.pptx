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743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88952" cy="9144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MOBIUS BOOTCAMP 1기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PBL 결과발표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3366"/>
                </a:solidFill>
              </a:defRPr>
            </a:pPr>
            <a:r>
              <a:t>[PBL 과목명 입력]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49039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08080"/>
                </a:solidFill>
              </a:defRPr>
            </a:pPr>
            <a:r>
              <a:t>예: PBL1 ISO26262 / PBL2 ASPICE / PBL3 SW설계 / PBL4 CANoe / PBL5 데이터분석 / PBL6 AUTOSAR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33333"/>
                </a:solidFill>
              </a:defRPr>
            </a:pPr>
            <a:r>
              <a:t>[팀명]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120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333333"/>
                </a:solidFill>
              </a:defRPr>
            </a:pPr>
            <a:r>
              <a:t>[프로젝트명]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943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08080"/>
                </a:solidFill>
              </a:defRPr>
            </a:pPr>
            <a:r>
              <a:t>2026. 02. __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217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</a:defRPr>
            </a:pPr>
            <a:r>
              <a:t>현대모비스 x LIKELION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01. 팀 소개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4572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560320" cy="4114800"/>
          </a:xfrm>
          <a:prstGeom prst="roundRect">
            <a:avLst/>
          </a:prstGeom>
          <a:solidFill>
            <a:srgbClr val="F5F5F5"/>
          </a:solidFill>
          <a:ln>
            <a:solidFill>
              <a:srgbClr val="00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25880" y="1645920"/>
            <a:ext cx="1371600" cy="1371600"/>
          </a:xfrm>
          <a:prstGeom prst="ellipse">
            <a:avLst/>
          </a:prstGeom>
          <a:solidFill>
            <a:srgbClr val="DCDCDC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t>[팀원 1 이름]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661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66B2"/>
                </a:solidFill>
              </a:defRPr>
            </a:pPr>
            <a:r>
              <a:t>[역할]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3192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• 담당 업무 1</a:t>
            </a:r>
            <a:br/>
            <a:r>
              <a:t>• 담당 업무 2</a:t>
            </a:r>
            <a:br/>
            <a:r>
              <a:t>• 기술 스택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1371600"/>
            <a:ext cx="2560320" cy="4114800"/>
          </a:xfrm>
          <a:prstGeom prst="roundRect">
            <a:avLst/>
          </a:prstGeom>
          <a:solidFill>
            <a:srgbClr val="F5F5F5"/>
          </a:solidFill>
          <a:ln>
            <a:solidFill>
              <a:srgbClr val="00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160520" y="1645920"/>
            <a:ext cx="1371600" cy="1371600"/>
          </a:xfrm>
          <a:prstGeom prst="ellipse">
            <a:avLst/>
          </a:prstGeom>
          <a:solidFill>
            <a:srgbClr val="DCDCDC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40" y="32004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t>[팀원 2 이름]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35661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66B2"/>
                </a:solidFill>
              </a:defRPr>
            </a:pPr>
            <a:r>
              <a:t>[역할]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393192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• 담당 업무 1</a:t>
            </a:r>
            <a:br/>
            <a:r>
              <a:t>• 담당 업무 2</a:t>
            </a:r>
            <a:br/>
            <a:r>
              <a:t>• 기술 스택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371600"/>
            <a:ext cx="2560320" cy="4114800"/>
          </a:xfrm>
          <a:prstGeom prst="roundRect">
            <a:avLst/>
          </a:prstGeom>
          <a:solidFill>
            <a:srgbClr val="F5F5F5"/>
          </a:solidFill>
          <a:ln>
            <a:solidFill>
              <a:srgbClr val="00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995160" y="1645920"/>
            <a:ext cx="1371600" cy="1371600"/>
          </a:xfrm>
          <a:prstGeom prst="ellipse">
            <a:avLst/>
          </a:prstGeom>
          <a:solidFill>
            <a:srgbClr val="DCDCDC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2004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t>[팀원 3 이름]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5661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66B2"/>
                </a:solidFill>
              </a:defRPr>
            </a:pPr>
            <a:r>
              <a:t>[역할]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93192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• 담당 업무 1</a:t>
            </a:r>
            <a:br/>
            <a:r>
              <a:t>• 담당 업무 2</a:t>
            </a:r>
            <a:br/>
            <a:r>
              <a:t>• 기술 스택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1371600"/>
            <a:ext cx="2560320" cy="4114800"/>
          </a:xfrm>
          <a:prstGeom prst="roundRect">
            <a:avLst/>
          </a:prstGeom>
          <a:solidFill>
            <a:srgbClr val="F5F5F5"/>
          </a:solidFill>
          <a:ln>
            <a:solidFill>
              <a:srgbClr val="00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829800" y="1645920"/>
            <a:ext cx="1371600" cy="1371600"/>
          </a:xfrm>
          <a:prstGeom prst="ellipse">
            <a:avLst/>
          </a:prstGeom>
          <a:solidFill>
            <a:srgbClr val="DCDCDC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0" y="32004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t>[팀원 4 이름]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35661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66B2"/>
                </a:solidFill>
              </a:defRPr>
            </a:pPr>
            <a:r>
              <a:t>[역할]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393192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• 담당 업무 1</a:t>
            </a:r>
            <a:br/>
            <a:r>
              <a:t>• 담당 업무 2</a:t>
            </a:r>
            <a:br/>
            <a:r>
              <a:t>• 기술 스택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83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</a:defRPr>
            </a:pPr>
            <a:r>
              <a:t>MOBIUS BOOTCAMP 1기 | PBL 결과발표 | 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02. 문제 정의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4572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303520" cy="2560320"/>
          </a:xfrm>
          <a:prstGeom prst="roundRect">
            <a:avLst/>
          </a:prstGeom>
          <a:solidFill>
            <a:srgbClr val="FFF0F0"/>
          </a:solidFill>
          <a:ln>
            <a:solidFill>
              <a:srgbClr val="C8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AS-IS (현재 문제점)</a:t>
            </a:r>
          </a:p>
          <a:p>
            <a:r>
              <a:t>• 문제점 1: 수동 기계식 차일드 락의 조작 불편 (운전자 직접 변경 필요)</a:t>
            </a:r>
          </a:p>
          <a:p>
            <a:r>
              <a:t>• 문제점 2: 사고 시 뒷좌석 승객 탈출 지연 위험</a:t>
            </a:r>
          </a:p>
          <a:p>
            <a:r>
              <a:t>• 문제점 3: 후방 위험(자전거/오토바이 등) 인지 및 제어 수단 부재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• 문제점 1: [설명]</a:t>
            </a:r>
            <a:br/>
            <a:br/>
            <a:r>
              <a:t>• 문제점 2: [설명]</a:t>
            </a:r>
            <a:br/>
            <a:br/>
            <a:r>
              <a:t>• 문제점 3: [설명]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852160" y="2194560"/>
            <a:ext cx="548640" cy="457200"/>
          </a:xfrm>
          <a:prstGeom prst="rightArrow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92240" y="1188720"/>
            <a:ext cx="5303520" cy="2560320"/>
          </a:xfrm>
          <a:prstGeom prst="roundRect">
            <a:avLst/>
          </a:prstGeom>
          <a:solidFill>
            <a:srgbClr val="F0FFF0"/>
          </a:solidFill>
          <a:ln>
            <a:solidFill>
              <a:srgbClr val="64B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280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TO-BE (목표 상태)</a:t>
            </a:r>
          </a:p>
          <a:p>
            <a:r>
              <a:t>• 목표 1: 속도 기반 자동 잠금 제어를 통한 편의 개선</a:t>
            </a:r>
          </a:p>
          <a:p>
            <a:r>
              <a:t>• 목표 2: 충돌 등 비상 상황 시 뒷좌석 자동 잠금 해제로 대피 지원</a:t>
            </a:r>
          </a:p>
          <a:p>
            <a:r>
              <a:t>• 목표 3: 후방 센서 연동을 통한 하차 시 보호 로직 탑재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173736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• 목표 1: [설명]</a:t>
            </a:r>
            <a:br/>
            <a:br/>
            <a:r>
              <a:t>• 목표 2: [설명]</a:t>
            </a:r>
            <a:br/>
            <a:br/>
            <a:r>
              <a:t>• 목표 3: [설명]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023360"/>
            <a:ext cx="11338560" cy="2286000"/>
          </a:xfrm>
          <a:prstGeom prst="roundRect">
            <a:avLst/>
          </a:prstGeom>
          <a:solidFill>
            <a:srgbClr val="F0F8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114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핵심 연구 질문</a:t>
            </a:r>
          </a:p>
          <a:p>
            <a:r>
              <a:t>ISO 26262 안전 표준을 준수하면서 승객의 편의성과 하차 안전을 모두 만족하는 지능형 차일드 락 SW를 어떻게 구현할 것인가?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57200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[이 프로젝트를 통해 해결하고자 하는 핵심 질문을 작성하세요]</a:t>
            </a:r>
            <a:br/>
            <a:br/>
            <a:r>
              <a:t>예: "차량 주행 데이터를 분석하여 운전자의 위험 운전 패턴을 사전에 감지할 수 있는가?"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83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</a:defRPr>
            </a:pPr>
            <a:r>
              <a:t>MOBIUS BOOTCAMP 1기 | PBL 결과발표 | 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03. 솔루션 개요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4572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1338560" cy="137160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지능형 센서 및 차량 속도 연동 안전 제어 소프트웨어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4C8DC"/>
                </a:solidFill>
              </a:defRPr>
            </a:pPr>
            <a:r>
              <a:t>예: CAN 데이터 기반 실시간 이상 탐지 시스템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26080"/>
            <a:ext cx="3566160" cy="3291840"/>
          </a:xfrm>
          <a:prstGeom prst="roundRect">
            <a:avLst/>
          </a:prstGeom>
          <a:solidFill>
            <a:srgbClr val="F8F8F8"/>
          </a:solidFill>
          <a:ln>
            <a:solidFill>
              <a:srgbClr val="00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828800" y="3108960"/>
            <a:ext cx="731520" cy="731520"/>
          </a:xfrm>
          <a:prstGeom prst="ellipse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315468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023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FG-01 도어 잠금/해제 제어</a:t>
            </a:r>
          </a:p>
          <a:p>
            <a:r>
              <a:t>• 운전자 스위치 조작 제어</a:t>
            </a:r>
          </a:p>
          <a:p>
            <a:r>
              <a:t>• 차량 속도 연동 자동 잠금 활성화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48056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</a:defRPr>
            </a:pPr>
            <a:r>
              <a:t>기능에 대한 상세 설명을</a:t>
            </a:r>
            <a:br/>
            <a:r>
              <a:t>이곳에 작성합니다.</a:t>
            </a:r>
            <a:br/>
            <a:br/>
            <a:r>
              <a:t>• 세부사항 1</a:t>
            </a:r>
            <a:br/>
            <a:r>
              <a:t>• 세부사항 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2926080"/>
            <a:ext cx="3566160" cy="3291840"/>
          </a:xfrm>
          <a:prstGeom prst="roundRect">
            <a:avLst/>
          </a:prstGeom>
          <a:solidFill>
            <a:srgbClr val="F8F8F8"/>
          </a:solidFill>
          <a:ln>
            <a:solidFill>
              <a:srgbClr val="00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669280" y="3108960"/>
            <a:ext cx="731520" cy="731520"/>
          </a:xfrm>
          <a:prstGeom prst="ellipse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315468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4023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비상 상황 대처</a:t>
            </a:r>
          </a:p>
          <a:p>
            <a:r>
              <a:t>• 차량 충돌 발생 시 뒷좌석 비상 잠금 해제 제어</a:t>
            </a:r>
          </a:p>
          <a:p>
            <a:r>
              <a:t>• 상시 실내 탑승자 개방 금지 메커니즘 결합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448056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</a:defRPr>
            </a:pPr>
            <a:r>
              <a:t>기능에 대한 상세 설명을</a:t>
            </a:r>
            <a:br/>
            <a:r>
              <a:t>이곳에 작성합니다.</a:t>
            </a:r>
            <a:br/>
            <a:br/>
            <a:r>
              <a:t>• 세부사항 1</a:t>
            </a:r>
            <a:br/>
            <a:r>
              <a:t>• 세부사항 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2926080"/>
            <a:ext cx="3566160" cy="3291840"/>
          </a:xfrm>
          <a:prstGeom prst="roundRect">
            <a:avLst/>
          </a:prstGeom>
          <a:solidFill>
            <a:srgbClr val="F8F8F8"/>
          </a:solidFill>
          <a:ln>
            <a:solidFill>
              <a:srgbClr val="00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509760" y="3108960"/>
            <a:ext cx="731520" cy="731520"/>
          </a:xfrm>
          <a:prstGeom prst="ellipse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0" y="315468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4023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FG-02 하차 안전 보조 제어</a:t>
            </a:r>
          </a:p>
          <a:p>
            <a:r>
              <a:t>• 후측방 차량/이륜차 접근 감지 연동</a:t>
            </a:r>
          </a:p>
          <a:p>
            <a:r>
              <a:t>• 뒷좌석 점유 및 상태 요약 알림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448056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</a:defRPr>
            </a:pPr>
            <a:r>
              <a:t>기능에 대한 상세 설명을</a:t>
            </a:r>
            <a:br/>
            <a:r>
              <a:t>이곳에 작성합니다.</a:t>
            </a:r>
            <a:br/>
            <a:br/>
            <a:r>
              <a:t>• 세부사항 1</a:t>
            </a:r>
            <a:br/>
            <a:r>
              <a:t>• 세부사항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583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</a:defRPr>
            </a:pPr>
            <a:r>
              <a:t>MOBIUS BOOTCAMP 1기 | PBL 결과발표 | 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04. 기술 스택 &amp; 아키텍처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4572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7772400" cy="5029200"/>
          </a:xfrm>
          <a:prstGeom prst="roundRect">
            <a:avLst/>
          </a:prstGeom>
          <a:solidFill>
            <a:srgbClr val="FCFCFC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200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[시스템 아키텍처 다이어그램 공간]</a:t>
            </a:r>
          </a:p>
          <a:p>
            <a:r>
              <a:t>• State Machine: Locked, Unlocked, Emergency 상태 전이</a:t>
            </a:r>
          </a:p>
          <a:p>
            <a:r>
              <a:t>• Logic Flow: 센서 입력 -&gt; 제어 판별 -&gt; Actuator 제어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08080"/>
                </a:solidFill>
              </a:defRPr>
            </a:pPr>
            <a:r>
              <a:t>이미지를 삽입하거나 도형으로 구성하세요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1188720"/>
            <a:ext cx="3474720" cy="502920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0" y="13716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Tech Stack</a:t>
            </a:r>
          </a:p>
          <a:p>
            <a:r>
              <a:t>Language</a:t>
            </a:r>
          </a:p>
          <a:p>
            <a:r>
              <a:t>C11 / C++17</a:t>
            </a:r>
          </a:p>
          <a:p>
            <a:r>
              <a:t>Framework</a:t>
            </a:r>
          </a:p>
          <a:p>
            <a:r>
              <a:t>ISO 26262, MISRA C:2012, ASPICE</a:t>
            </a:r>
          </a:p>
          <a:p>
            <a:r>
              <a:t>Testing</a:t>
            </a:r>
          </a:p>
          <a:p>
            <a:r>
              <a:t>Google Test v1.17.0, Cppcheck</a:t>
            </a:r>
          </a:p>
          <a:p>
            <a:r>
              <a:t>Tools</a:t>
            </a:r>
          </a:p>
          <a:p>
            <a:r>
              <a:t>CMake, Lizard, Gcov / Lcov</a:t>
            </a:r>
          </a:p>
          <a:p>
            <a:r>
              <a:t>OS</a:t>
            </a:r>
          </a:p>
          <a:p>
            <a:r>
              <a:t>Ubuntu 22.04 LTS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192024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6B4D2"/>
                </a:solidFill>
              </a:defRPr>
            </a:pPr>
            <a:r>
              <a:t>Language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21488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[Python, C, etc.]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274320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6B4D2"/>
                </a:solidFill>
              </a:defRPr>
            </a:pPr>
            <a:r>
              <a:t>Framework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2971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[CANoe, AUTOSAR, etc.]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356616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6B4D2"/>
                </a:solidFill>
              </a:defRPr>
            </a:pPr>
            <a:r>
              <a:t>Database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37947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[MySQL, etc.]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438912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6B4D2"/>
                </a:solidFill>
              </a:defRPr>
            </a:pPr>
            <a:r>
              <a:t>Tools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46177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[Git, JIRA, etc.]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521208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6B4D2"/>
                </a:solidFill>
              </a:defRPr>
            </a:pPr>
            <a:r>
              <a:t>Hardware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5440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[CAN 장비, etc.]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583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</a:defRPr>
            </a:pPr>
            <a:r>
              <a:t>MOBIUS BOOTCAMP 1기 | PBL 결과발표 | 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05. 구현 결과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4572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303520" cy="2286000"/>
          </a:xfrm>
          <a:prstGeom prst="roundRect">
            <a:avLst/>
          </a:prstGeom>
          <a:solidFill>
            <a:srgbClr val="F5F5F5"/>
          </a:solidFill>
          <a:ln>
            <a:solidFill>
              <a:srgbClr val="00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08080"/>
                </a:solidFill>
              </a:defRPr>
            </a:pPr>
            <a:r>
              <a:t>[스크린샷 삽입]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089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3366"/>
                </a:solidFill>
              </a:defRPr>
            </a:pPr>
            <a:r>
              <a:t>화면 1: [기능명]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188720"/>
            <a:ext cx="5303520" cy="2286000"/>
          </a:xfrm>
          <a:prstGeom prst="roundRect">
            <a:avLst/>
          </a:prstGeom>
          <a:solidFill>
            <a:srgbClr val="F5F5F5"/>
          </a:solidFill>
          <a:ln>
            <a:solidFill>
              <a:srgbClr val="00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08080"/>
                </a:solidFill>
              </a:defRPr>
            </a:pPr>
            <a:r>
              <a:t>[스크린샷 삽입]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31089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3366"/>
                </a:solidFill>
              </a:defRPr>
            </a:pPr>
            <a:r>
              <a:t>화면 2: [기능명]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657600"/>
            <a:ext cx="5303520" cy="2286000"/>
          </a:xfrm>
          <a:prstGeom prst="roundRect">
            <a:avLst/>
          </a:prstGeom>
          <a:solidFill>
            <a:srgbClr val="F5F5F5"/>
          </a:solidFill>
          <a:ln>
            <a:solidFill>
              <a:srgbClr val="00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5720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08080"/>
                </a:solidFill>
              </a:defRPr>
            </a:pPr>
            <a:r>
              <a:t>[스크린샷 삽입]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5778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3366"/>
                </a:solidFill>
              </a:defRPr>
            </a:pPr>
            <a:r>
              <a:t>화면 3: [기능명]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3657600"/>
            <a:ext cx="5303520" cy="2286000"/>
          </a:xfrm>
          <a:prstGeom prst="roundRect">
            <a:avLst/>
          </a:prstGeom>
          <a:solidFill>
            <a:srgbClr val="F5F5F5"/>
          </a:solidFill>
          <a:ln>
            <a:solidFill>
              <a:srgbClr val="00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45720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08080"/>
                </a:solidFill>
              </a:defRPr>
            </a:pPr>
            <a:r>
              <a:t>[스크린샷 삽입]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55778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3366"/>
                </a:solidFill>
              </a:defRPr>
            </a:pPr>
            <a:r>
              <a:t>화면 4: [기능명]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583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</a:defRPr>
            </a:pPr>
            <a:r>
              <a:t>MOBIUS BOOTCAMP 1기 | PBL 결과발표 | 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06. 테스트 &amp; 검증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4572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713232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00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6766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테스트 케이스 및 결과 (단위 및 서브시스템 검증)</a:t>
            </a:r>
          </a:p>
          <a:p>
            <a:r>
              <a:t>• UC-01~07 전 구간 GTest 기반 테스트 작성</a:t>
            </a:r>
          </a:p>
          <a:p>
            <a:r>
              <a:t>• 상태 머신 (State Machine) 전이 조건 만족 검증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2286000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테스트 항목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0" y="1737360"/>
            <a:ext cx="1645920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0" y="17830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예상 결과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37360"/>
            <a:ext cx="1645920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7830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실제 결과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737360"/>
            <a:ext cx="1097280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7830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Pass/Fail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103120"/>
            <a:ext cx="2286000" cy="502920"/>
          </a:xfrm>
          <a:prstGeom prst="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148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</a:defRPr>
            </a:pPr>
            <a:r>
              <a:t>[입력]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26080" y="2103120"/>
            <a:ext cx="1645920" cy="502920"/>
          </a:xfrm>
          <a:prstGeom prst="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80" y="21488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</a:defRPr>
            </a:pPr>
            <a:r>
              <a:t>[입력]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0" y="2103120"/>
            <a:ext cx="1645920" cy="502920"/>
          </a:xfrm>
          <a:prstGeom prst="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21488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</a:defRPr>
            </a:pPr>
            <a:r>
              <a:t>[입력]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2103120"/>
            <a:ext cx="1097280" cy="502920"/>
          </a:xfrm>
          <a:prstGeom prst="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21488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</a:defRPr>
            </a:pPr>
            <a:r>
              <a:t>[입력]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2651760"/>
            <a:ext cx="22860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2697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</a:defRPr>
            </a:pPr>
            <a:r>
              <a:t>[입력]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26080" y="2651760"/>
            <a:ext cx="1645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26080" y="26974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</a:defRPr>
            </a:pPr>
            <a:r>
              <a:t>[입력]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0" y="2651760"/>
            <a:ext cx="1645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0" y="26974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</a:defRPr>
            </a:pPr>
            <a:r>
              <a:t>[입력]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2651760"/>
            <a:ext cx="10972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0" y="26974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</a:defRPr>
            </a:pPr>
            <a:r>
              <a:t>[입력]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3200400"/>
            <a:ext cx="2286000" cy="502920"/>
          </a:xfrm>
          <a:prstGeom prst="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3246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</a:defRPr>
            </a:pPr>
            <a:r>
              <a:t>[입력]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26080" y="3200400"/>
            <a:ext cx="1645920" cy="502920"/>
          </a:xfrm>
          <a:prstGeom prst="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926080" y="32461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</a:defRPr>
            </a:pPr>
            <a:r>
              <a:t>[입력]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0" y="3200400"/>
            <a:ext cx="1645920" cy="502920"/>
          </a:xfrm>
          <a:prstGeom prst="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0" y="32461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</a:defRPr>
            </a:pPr>
            <a:r>
              <a:t>[입력]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3200400"/>
            <a:ext cx="1097280" cy="502920"/>
          </a:xfrm>
          <a:prstGeom prst="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0" y="32461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</a:defRPr>
            </a:pPr>
            <a:r>
              <a:t>[입력]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3749039"/>
            <a:ext cx="22860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3794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</a:defRPr>
            </a:pPr>
            <a:r>
              <a:t>[입력]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926080" y="3749039"/>
            <a:ext cx="1645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926080" y="37947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</a:defRPr>
            </a:pPr>
            <a:r>
              <a:t>[입력]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0" y="3749039"/>
            <a:ext cx="1645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0" y="37947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</a:defRPr>
            </a:pPr>
            <a:r>
              <a:t>[입력]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17920" y="3749039"/>
            <a:ext cx="10972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17920" y="37947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</a:defRPr>
            </a:pPr>
            <a:r>
              <a:t>[입력]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" y="4297679"/>
            <a:ext cx="2286000" cy="502920"/>
          </a:xfrm>
          <a:prstGeom prst="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" y="4343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</a:defRPr>
            </a:pPr>
            <a:r>
              <a:t>[입력]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926080" y="4297679"/>
            <a:ext cx="1645920" cy="502920"/>
          </a:xfrm>
          <a:prstGeom prst="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926080" y="43434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</a:defRPr>
            </a:pPr>
            <a:r>
              <a:t>[입력]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0" y="4297679"/>
            <a:ext cx="1645920" cy="502920"/>
          </a:xfrm>
          <a:prstGeom prst="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00" y="43434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</a:defRPr>
            </a:pPr>
            <a:r>
              <a:t>[입력]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17920" y="4297679"/>
            <a:ext cx="1097280" cy="502920"/>
          </a:xfrm>
          <a:prstGeom prst="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17920" y="43434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</a:defRPr>
            </a:pPr>
            <a:r>
              <a:t>[입력]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772400" y="1188720"/>
            <a:ext cx="4114800" cy="5029200"/>
          </a:xfrm>
          <a:prstGeom prst="roundRect">
            <a:avLst/>
          </a:prstGeom>
          <a:solidFill>
            <a:srgbClr val="F0F8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955279" y="128016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</a:defRPr>
            </a:pPr>
            <a:r>
              <a:t>성과 지표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955279" y="1828800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성과 지표</a:t>
            </a:r>
          </a:p>
          <a:p>
            <a:r>
              <a:t>정확도</a:t>
            </a:r>
          </a:p>
          <a:p>
            <a:r>
              <a:t>100%</a:t>
            </a:r>
          </a:p>
          <a:p>
            <a:r>
              <a:t>처리 속도</a:t>
            </a:r>
          </a:p>
          <a:p>
            <a:r>
              <a:t>&lt;1ms</a:t>
            </a:r>
          </a:p>
          <a:p>
            <a:r>
              <a:t>테스트 통과율</a:t>
            </a:r>
          </a:p>
          <a:p>
            <a:r>
              <a:t>100%</a:t>
            </a:r>
          </a:p>
          <a:p>
            <a:r>
              <a:t>커버리지</a:t>
            </a:r>
          </a:p>
          <a:p>
            <a:r>
              <a:t>100%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55279" y="210312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[__]%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955279" y="2834640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처리 속도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955279" y="310896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[__]ms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955279" y="3840480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테스트 통과율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955279" y="411480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[__]%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955279" y="4846320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커버리지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955279" y="512064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[__]%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7200" y="6583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</a:defRPr>
            </a:pPr>
            <a:r>
              <a:t>MOBIUS BOOTCAMP 1기 | PBL 결과발표 | 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07. 학습 내용 &amp; 교훈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4572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669280" cy="2468880"/>
          </a:xfrm>
          <a:prstGeom prst="roundRect">
            <a:avLst/>
          </a:prstGeom>
          <a:solidFill>
            <a:srgbClr val="F0F8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기술적 학습</a:t>
            </a:r>
          </a:p>
          <a:p>
            <a:r>
              <a:t>• ISO 26262 기반 요구사항 도출 및 시스템 설계 방법론 체득</a:t>
            </a:r>
          </a:p>
          <a:p>
            <a:r>
              <a:t>• MISRA C 코딩 가이드라인 실무 적용</a:t>
            </a:r>
          </a:p>
          <a:p>
            <a:r>
              <a:t>• Cppcheck 및 GTest를 활용한 엄격한 품질보증 파이프라인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• [학습 내용 1]</a:t>
            </a:r>
            <a:br/>
            <a:br/>
            <a:r>
              <a:t>• [학습 내용 2]</a:t>
            </a:r>
            <a:br/>
            <a:br/>
            <a:r>
              <a:t>• [학습 내용 3]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188720"/>
            <a:ext cx="5669280" cy="2468880"/>
          </a:xfrm>
          <a:prstGeom prst="roundRect">
            <a:avLst/>
          </a:prstGeom>
          <a:solidFill>
            <a:srgbClr val="FFF8F0"/>
          </a:solidFill>
          <a:ln>
            <a:solidFill>
              <a:srgbClr val="FF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280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협업 &amp; 프로세스</a:t>
            </a:r>
          </a:p>
          <a:p>
            <a:r>
              <a:t>• CI/CD 파이프라인(CMake + GTest)을 통한 테스트 자동화 구축</a:t>
            </a:r>
          </a:p>
          <a:p>
            <a:r>
              <a:t>• GitHub Policy 및 커밋 컨벤션 준수 중요성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• [학습 내용 1]</a:t>
            </a:r>
            <a:br/>
            <a:br/>
            <a:r>
              <a:t>• [학습 내용 2]</a:t>
            </a:r>
            <a:br/>
            <a:br/>
            <a:r>
              <a:t>• [학습 내용 3]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840480"/>
            <a:ext cx="11338560" cy="2468880"/>
          </a:xfrm>
          <a:prstGeom prst="roundRect">
            <a:avLst/>
          </a:prstGeom>
          <a:solidFill>
            <a:srgbClr val="FFFAF5"/>
          </a:solidFill>
          <a:ln>
            <a:solidFill>
              <a:srgbClr val="C89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931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도전 과제 &amp; 해결 과정</a:t>
            </a:r>
          </a:p>
          <a:p>
            <a:r>
              <a:t>[도전 과제]</a:t>
            </a:r>
          </a:p>
          <a:p>
            <a:r>
              <a:t>다양한 센서 이벤트 및 예외 상황 엣지케이스 테스트 난이도</a:t>
            </a:r>
          </a:p>
          <a:p>
            <a:r>
              <a:t>[해결 방법]</a:t>
            </a:r>
          </a:p>
          <a:p>
            <a:r>
              <a:t>TDD 방법론 도입 및 Failure Mode (FMEA/HARA) 사전 정의 후 분기 모의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3891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도전 과제 &amp; 해결 과정</a:t>
            </a:r>
          </a:p>
          <a:p>
            <a:r>
              <a:t>[도전 과제]</a:t>
            </a:r>
          </a:p>
          <a:p>
            <a:r>
              <a:t>다양한 센서 이벤트 및 예외 상황 엣지케이스 테스트 난이도</a:t>
            </a:r>
          </a:p>
          <a:p>
            <a:r>
              <a:t>[해결 방법]</a:t>
            </a:r>
          </a:p>
          <a:p>
            <a:r>
              <a:t>TDD 방법론 도입 및 Failure Mode (FMEA/HARA) 사전 정의 후 분기 모의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66344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• [어려웠던 점 1]</a:t>
            </a:r>
            <a:br/>
            <a:r>
              <a:t>• [어려웠던 점 2]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43891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</a:defRPr>
            </a:pPr>
            <a:r>
              <a:t>해결 방법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466344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• [해결 방법 1]</a:t>
            </a:r>
            <a:br/>
            <a:r>
              <a:t>• [해결 방법 2]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583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</a:defRPr>
            </a:pPr>
            <a:r>
              <a:t>MOBIUS BOOTCAMP 1기 | PBL 결과발표 | 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08. 향후 계획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4572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133856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00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560320"/>
            <a:ext cx="10515600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286000" y="2423160"/>
            <a:ext cx="320040" cy="320040"/>
          </a:xfrm>
          <a:prstGeom prst="ellipse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1645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1단계</a:t>
            </a:r>
          </a:p>
          <a:p>
            <a:r>
              <a:t>[통신 연동 강화]</a:t>
            </a:r>
          </a:p>
          <a:p>
            <a:r>
              <a:t>• CAN(차량 내 네트워크) 통신 레이어 모의 통합 반영</a:t>
            </a:r>
          </a:p>
          <a:p>
            <a:r>
              <a:t>• 다양한 ECU 신호 통합 시뮬레이션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11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</a:defRPr>
            </a:pPr>
            <a:r>
              <a:t>[단기 개선]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9260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</a:defRPr>
            </a:pPr>
            <a:r>
              <a:t>• 상세 계획</a:t>
            </a:r>
            <a:br/>
            <a:r>
              <a:t>• 상세 계획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0" y="2423160"/>
            <a:ext cx="320040" cy="320040"/>
          </a:xfrm>
          <a:prstGeom prst="ellipse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1645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2단계</a:t>
            </a:r>
          </a:p>
          <a:p>
            <a:r>
              <a:t>[하드웨어 포팅]</a:t>
            </a:r>
          </a:p>
          <a:p>
            <a:r>
              <a:t>• 실제 모터 제어(Actuator) 보드 포팅 및 검증</a:t>
            </a:r>
          </a:p>
          <a:p>
            <a:r>
              <a:t>• 실시간 운영체제(RTOS) 환경 최적화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011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</a:defRPr>
            </a:pPr>
            <a:r>
              <a:t>[기능 확장]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9260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</a:defRPr>
            </a:pPr>
            <a:r>
              <a:t>• 상세 계획</a:t>
            </a:r>
            <a:br/>
            <a:r>
              <a:t>• 상세 계획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0" y="2423160"/>
            <a:ext cx="320040" cy="320040"/>
          </a:xfrm>
          <a:prstGeom prst="ellipse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79" y="1645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3단계</a:t>
            </a:r>
          </a:p>
          <a:p>
            <a:r>
              <a:t>[실용화]</a:t>
            </a:r>
          </a:p>
          <a:p>
            <a:r>
              <a:t>• 고도화된 타겟 환경 통합 플랫폼 시연</a:t>
            </a:r>
          </a:p>
          <a:p>
            <a:r>
              <a:t>• 동적 분석 추가 도입을 통한 기능 안전 규격 확보 강화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2011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</a:defRPr>
            </a:pPr>
            <a:r>
              <a:t>[실용화]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29260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</a:defRPr>
            </a:pPr>
            <a:r>
              <a:t>• 상세 계획</a:t>
            </a:r>
            <a:br/>
            <a:r>
              <a:t>• 상세 계획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114800"/>
            <a:ext cx="5486400" cy="2194560"/>
          </a:xfrm>
          <a:prstGeom prst="roundRect">
            <a:avLst/>
          </a:prstGeom>
          <a:solidFill>
            <a:srgbClr val="F0FFF0"/>
          </a:solidFill>
          <a:ln>
            <a:solidFill>
              <a:srgbClr val="64B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2062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실무 적용 가능성</a:t>
            </a:r>
          </a:p>
          <a:p>
            <a:r>
              <a:t>• 현대모비스/협력사의 차세대 통합 차량 제어기 플랫폼</a:t>
            </a:r>
          </a:p>
          <a:p>
            <a:r>
              <a:t>• 하차 안전 보조와 차일드 락 기능 간소화 및 통합 지능화 모듈 솔루션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6634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• [현대모비스/협력사 적용 가능 영역]</a:t>
            </a:r>
            <a:br/>
            <a:br/>
            <a:r>
              <a:t>• [기대 효과]</a:t>
            </a:r>
            <a:br/>
            <a:br/>
            <a:r>
              <a:t>• [필요 조건]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4114800"/>
            <a:ext cx="5669280" cy="2194560"/>
          </a:xfrm>
          <a:prstGeom prst="roundRect">
            <a:avLst/>
          </a:prstGeom>
          <a:solidFill>
            <a:srgbClr val="F8F8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42062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추가 개발 아이디어</a:t>
            </a:r>
          </a:p>
          <a:p>
            <a:r>
              <a:t>• 모바일 앱 제어 API 제공 (블루투스 연동)</a:t>
            </a:r>
          </a:p>
          <a:p>
            <a:r>
              <a:t>• 레이더/라이다 기반 더욱 정밀한 후측방 접근 객체 분류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66344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• [아이디어 1]</a:t>
            </a:r>
            <a:br/>
            <a:br/>
            <a:r>
              <a:t>• [아이디어 2]</a:t>
            </a:r>
            <a:br/>
            <a:br/>
            <a:r>
              <a:t>• [아이디어 3]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83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</a:defRPr>
            </a:pPr>
            <a:r>
              <a:t>MOBIUS BOOTCAMP 1기 | PBL 결과발표 | 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0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3657600"/>
            <a:ext cx="4572000" cy="4572000"/>
          </a:xfrm>
          <a:prstGeom prst="ellipse">
            <a:avLst/>
          </a:prstGeom>
          <a:solidFill>
            <a:srgbClr val="00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286000"/>
            <a:ext cx="12188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Q &amp;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47472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B4C8DC"/>
                </a:solidFill>
              </a:defRPr>
            </a:pPr>
            <a:r>
              <a:t>질문과 답변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02920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[팀명]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48640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4C8DC"/>
                </a:solidFill>
              </a:defRPr>
            </a:pPr>
            <a:r>
              <a:t>감사합니다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21792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6AABE"/>
                </a:solidFill>
              </a:defRPr>
            </a:pPr>
            <a:r>
              <a:t>MOBIUS BOOTCAMP 1기 | 현대모비스 x LIKELION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