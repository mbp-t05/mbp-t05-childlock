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00" d="100"/>
          <a:sy n="100" d="100"/>
        </p:scale>
        <p:origin x="-1512" y="-112"/>
      </p:cViewPr>
      <p:guideLst>
        <p:guide orient="horz" pos="2159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743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914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4400" b="1">
                <a:solidFill>
                  <a:srgbClr val="ffffff"/>
                </a:solidFill>
              </a:defRPr>
            </a:pPr>
            <a:r>
              <a:rPr lang="ko-KR" altLang="en-US"/>
              <a:t>MOBIUS BOOTCAMP 1기</a:t>
            </a: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800" b="0">
                <a:solidFill>
                  <a:srgbClr val="ffffff"/>
                </a:solidFill>
              </a:defRPr>
            </a:pPr>
            <a:r>
              <a:rPr lang="ko-KR" altLang="en-US"/>
              <a:t>PBL 결과발표</a:t>
            </a: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400" b="1">
                <a:solidFill>
                  <a:srgbClr val="003366"/>
                </a:solidFill>
              </a:defRPr>
            </a:pPr>
            <a:r>
              <a:rPr lang="en-US" altLang="ko-KR"/>
              <a:t>PBL 1 ISO26262 </a:t>
            </a:r>
            <a:r>
              <a:rPr lang="ko-KR" altLang="en-US"/>
              <a:t>프로젝트</a:t>
            </a: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0"/>
            <a:ext cx="10972800" cy="421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200" b="0">
                <a:solidFill>
                  <a:srgbClr val="333333"/>
                </a:solidFill>
              </a:defRPr>
            </a:pPr>
            <a:r>
              <a:rPr lang="ko-KR" altLang="en-US"/>
              <a:t>ISO 26262  </a:t>
            </a:r>
            <a:r>
              <a:rPr lang="en-US" altLang="ko-KR"/>
              <a:t>Child Lock </a:t>
            </a:r>
            <a:r>
              <a:rPr lang="ko-KR" altLang="en-US"/>
              <a:t>SW 시뮬레이션 프로젝트</a:t>
            </a: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0972800" cy="29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400" b="0">
                <a:solidFill>
                  <a:srgbClr val="808080"/>
                </a:solidFill>
              </a:defRPr>
            </a:pPr>
            <a:r>
              <a:rPr lang="ko-KR" altLang="en-US"/>
              <a:t>2026. 03. 2</a:t>
            </a:r>
            <a:r>
              <a:rPr lang="en-US" altLang="ko-KR"/>
              <a:t>3</a:t>
            </a:r>
            <a:endParaRPr lang="en-US" altLang="ko-KR"/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 sz="1000" b="0">
                <a:solidFill>
                  <a:srgbClr val="808080"/>
                </a:solidFill>
              </a:defRPr>
            </a:pPr>
            <a:r>
              <a:rPr lang="ko-KR" altLang="en-US"/>
              <a:t>현대모비스 x LIKELION</a:t>
            </a:r>
            <a:endParaRPr lang="ko-KR" altLang="en-US"/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4252939"/>
            <a:ext cx="3549276" cy="2650518"/>
          </a:xfrm>
          <a:prstGeom prst="rect">
            <a:avLst/>
          </a:prstGeom>
          <a:noFill/>
        </p:spPr>
      </p:pic>
      <p:sp>
        <p:nvSpPr>
          <p:cNvPr id="15" name="TextBox 7"/>
          <p:cNvSpPr txBox="1"/>
          <p:nvPr/>
        </p:nvSpPr>
        <p:spPr>
          <a:xfrm>
            <a:off x="457200" y="4572000"/>
            <a:ext cx="10972800" cy="56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3200" b="1">
                <a:solidFill>
                  <a:srgbClr val="333333"/>
                </a:solidFill>
              </a:defRPr>
            </a:pPr>
            <a:r>
              <a:rPr lang="ko-KR" altLang="en-US"/>
              <a:t>팀명 </a:t>
            </a:r>
            <a:r>
              <a:rPr lang="en-US" altLang="ko-KR"/>
              <a:t>:</a:t>
            </a:r>
            <a:r>
              <a:rPr lang="ko-KR" altLang="en-US"/>
              <a:t> 전차</a:t>
            </a:r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01. 팀 소개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rPr sz="900">
                <a:latin typeface="Malgun Gothic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rPr sz="900">
                <a:latin typeface="Malgun Gothic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6052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rPr sz="900">
                <a:latin typeface="Malgun Gothic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rPr sz="900">
                <a:latin typeface="Malgun Gothic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9516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rPr sz="900">
                <a:latin typeface="Malgun Gothic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rPr sz="900">
                <a:latin typeface="Malgun Gothic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2980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rPr sz="900">
                <a:latin typeface="Malgun Gothic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rPr sz="900">
                <a:latin typeface="Malgun Gothic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2/10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872" y="1207008"/>
            <a:ext cx="3749039" cy="731520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" y="1261872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이한결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" y="1609344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E5FF"/>
                </a:solidFill>
                <a:latin typeface="Malgun Gothic"/>
              </a:rPr>
              <a:t>@hangyeoli  |  프로젝트 메인테이너 &amp; F-01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8872" y="1938528"/>
            <a:ext cx="3749039" cy="160019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0312" y="1984248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357E"/>
                </a:solidFill>
                <a:latin typeface="Malgun Gothic"/>
              </a:rPr>
              <a:t>F-01 InputMonitorAndValidator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" y="2441448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algun Gothic"/>
              </a:rPr>
              <a:t>• 전체 Issues 생성 관리 (Issue #4~#13)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" y="2697480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algun Gothic"/>
              </a:rPr>
              <a:t>• CMake 빌드 구성 (PR#17)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" y="2953512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algun Gothic"/>
              </a:rPr>
              <a:t>• Scope Fix &amp; CTest (PR#26)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86783" y="1207008"/>
            <a:ext cx="3749039" cy="73152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59935" y="1261872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김이안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59935" y="1609344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E5FF"/>
                </a:solidFill>
                <a:latin typeface="Malgun Gothic"/>
              </a:rPr>
              <a:t>@iank1m  |  상태 결정 로직 개발자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86783" y="1938528"/>
            <a:ext cx="3749039" cy="160019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78223" y="1984248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5BB5"/>
                </a:solidFill>
                <a:latin typeface="Malgun Gothic"/>
              </a:rPr>
              <a:t>F-02 ChildLockStateDecision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96511" y="2441448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algun Gothic"/>
              </a:rPr>
              <a:t>• 차일드락 핵심 상태 전이 로직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96511" y="2697480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algun Gothic"/>
              </a:rPr>
              <a:t>• 단독 구현 (PR#14)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96511" y="2953512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algun Gothic"/>
              </a:rPr>
              <a:t>• ISO 26262 ASIL 설계 반영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54696" y="1207008"/>
            <a:ext cx="3749039" cy="731520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27848" y="1261872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박찬석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27848" y="1609344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E5FF"/>
                </a:solidFill>
                <a:latin typeface="Malgun Gothic"/>
              </a:rPr>
              <a:t>@p-chanseok  |  TDD 기반 제어 로직 개발자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54696" y="1938528"/>
            <a:ext cx="3749039" cy="160019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46136" y="1984248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357E"/>
                </a:solidFill>
                <a:latin typeface="Malgun Gothic"/>
              </a:rPr>
              <a:t>F-03 DoorEcuCommandHandler
F-04 RearDoorOpenBlockHandler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64423" y="2441448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algun Gothic"/>
              </a:rPr>
              <a:t>• TDD 방식 Door ECU 제어 (PR#23)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64423" y="2697480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algun Gothic"/>
              </a:rPr>
              <a:t>• 69/69 테스트 케이스 통과 (PR#22)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8872" y="3648456"/>
            <a:ext cx="3749039" cy="73152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2024" y="3703320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이승욱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2024" y="4050792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E5FF"/>
                </a:solidFill>
                <a:latin typeface="Malgun Gothic"/>
              </a:rPr>
              <a:t>@josephuk77  |  상태 유지 &amp; 알림 개발자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8872" y="4379976"/>
            <a:ext cx="3749039" cy="160019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0312" y="4425696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5BB5"/>
                </a:solidFill>
                <a:latin typeface="Malgun Gothic"/>
              </a:rPr>
              <a:t>F-05 StatePersistenceManager
F-10 IgnitionOffStatusAlert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8600" y="4882896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algun Gothic"/>
              </a:rPr>
              <a:t>• 상태 저장/복구 및 시동 OFF 알림 (PR#19, #20)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8600" y="5138928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algun Gothic"/>
              </a:rPr>
              <a:t>• UML 다이어그램 문서화 (Issue#1/PR#2)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986783" y="3648456"/>
            <a:ext cx="3749039" cy="731520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59935" y="3703320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김도균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59935" y="4050792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E5FF"/>
                </a:solidFill>
                <a:latin typeface="Malgun Gothic"/>
              </a:rPr>
              <a:t>@codingSkeleton6478  |  HMI &amp; 좌석 알림 개발자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86783" y="4379976"/>
            <a:ext cx="3749039" cy="160019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78223" y="4425696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357E"/>
                </a:solidFill>
                <a:latin typeface="Malgun Gothic"/>
              </a:rPr>
              <a:t>F-06 HmiAndEventLogger
F-09 RearSeatOccupancyAlert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96511" y="4882896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algun Gothic"/>
              </a:rPr>
              <a:t>• 경고/알림 HMI 출력 로직 (PR#24)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96511" y="5138928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algun Gothic"/>
              </a:rPr>
              <a:t>• 이벤트 로거 구현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54696" y="3648456"/>
            <a:ext cx="3749039" cy="73152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27848" y="3703320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algun Gothic"/>
              </a:rPr>
              <a:t>박기준 (팀장)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27848" y="4050792"/>
            <a:ext cx="36027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E5FF"/>
                </a:solidFill>
                <a:latin typeface="Malgun Gothic"/>
              </a:rPr>
              <a:t>@PKJthecreator  |  PM &amp; Safety 모듈 개발자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54696" y="4379976"/>
            <a:ext cx="3749039" cy="160019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46136" y="4425696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5BB5"/>
                </a:solidFill>
                <a:latin typeface="Malgun Gothic"/>
              </a:rPr>
              <a:t>F-07 RearRiskEvaluation
F-08 RearRiskProtectionController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64423" y="4882896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algun Gothic"/>
              </a:rPr>
              <a:t>• 후방 위험 평가/보호 핵심 ASIL B 로직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64423" y="5138928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algun Gothic"/>
              </a:rPr>
              <a:t>• (PR#15, PR#16) + PM 총괄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02. 문제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2560320"/>
          </a:xfrm>
          <a:prstGeom prst="roundRect">
            <a:avLst/>
          </a:prstGeom>
          <a:solidFill>
            <a:srgbClr val="FFF0F0"/>
          </a:solidFill>
          <a:ln>
            <a:solidFill>
              <a:srgbClr val="C8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3C3C"/>
                </a:solidFill>
              </a:defRPr>
            </a:pPr>
            <a:r>
              <a:t>AS-IS (현재 문제점)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2E"/>
                </a:solidFill>
                <a:latin typeface="Malgun Gothic"/>
              </a:rPr>
              <a:t>▪ 문제점 1: 기계식 차일드 락의 수동 제어 불편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운전자가 뒷좌석에 직접 접근하여 개별 조작 필요 → 운전 중 불가</a:t>
            </a:r>
          </a:p>
          <a:p>
            <a:r>
              <a:rPr sz="1100" b="1">
                <a:solidFill>
                  <a:srgbClr val="1A1A2E"/>
                </a:solidFill>
                <a:latin typeface="Malgun Gothic"/>
              </a:rPr>
              <a:t>▪ 문제점 2: 사고·충돌 발생 시 뒷좌석 탈출 지연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기계식 잠금 시 비상 해제 수단 없어 인명 피해 위험 가중</a:t>
            </a:r>
          </a:p>
          <a:p>
            <a:r>
              <a:rPr sz="1100" b="1">
                <a:solidFill>
                  <a:srgbClr val="1A1A2E"/>
                </a:solidFill>
                <a:latin typeface="Malgun Gothic"/>
              </a:rPr>
              <a:t>▪ 문제점 3: 후방 위험 접근 정보와 하차 안전 연동 부재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후방 이륜차·차량 접근 중에도 뒷좌석 문이 열릴 수 있어 사고 위험</a:t>
            </a:r>
          </a:p>
          <a:p>
            <a:r>
              <a:rPr sz="1100" b="1">
                <a:solidFill>
                  <a:srgbClr val="1A1A2E"/>
                </a:solidFill>
                <a:latin typeface="Malgun Gothic"/>
              </a:rPr>
              <a:t>▪ 문제점 4: 점화 OFF 시 차일드 락 상태 인지 부재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하차 직전 잠금 상태 미인지로 아이가 내부에서 열기 불가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52160" y="2194560"/>
            <a:ext cx="548640" cy="45720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188720"/>
            <a:ext cx="5303520" cy="2560320"/>
          </a:xfrm>
          <a:prstGeom prst="roundRect">
            <a:avLst/>
          </a:prstGeom>
          <a:solidFill>
            <a:srgbClr val="F0FFF0"/>
          </a:solidFill>
          <a:ln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C8C3C"/>
                </a:solidFill>
              </a:defRPr>
            </a:pPr>
            <a:r>
              <a:t>TO-BE (목표 상태)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5BB5"/>
                </a:solidFill>
                <a:latin typeface="Malgun Gothic"/>
              </a:rPr>
              <a:t>✔ 목표 1: 전자식 통합 차일드 락 제어 (FG-01)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운전석에서 원버튼 ON/OFF + 속도 기반 자동 잠금 (≥15 km/h)</a:t>
            </a:r>
          </a:p>
          <a:p>
            <a:r>
              <a:rPr sz="1100" b="1">
                <a:solidFill>
                  <a:srgbClr val="005BB5"/>
                </a:solidFill>
                <a:latin typeface="Malgun Gothic"/>
              </a:rPr>
              <a:t>✔ 목표 2: 사고 시 즉각 자동 해제 (ASIL B, FG-01)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충돌·에어백 신호 동시 감지 시 비상 해제 최우선 수행</a:t>
            </a:r>
          </a:p>
          <a:p>
            <a:r>
              <a:rPr sz="1100" b="1">
                <a:solidFill>
                  <a:srgbClr val="005BB5"/>
                </a:solidFill>
                <a:latin typeface="Malgun Gothic"/>
              </a:rPr>
              <a:t>✔ 목표 3: 후방 위험 연동 자동 보호 (FG-02)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후방 레이더 연동 — 위험 감지 시 자동 잠금 유지 &amp; 운전자 경고</a:t>
            </a:r>
          </a:p>
          <a:p>
            <a:r>
              <a:rPr sz="1100" b="1">
                <a:solidFill>
                  <a:srgbClr val="005BB5"/>
                </a:solidFill>
                <a:latin typeface="Malgun Gothic"/>
              </a:rPr>
              <a:t>✔ 목표 4: 시동 OFF / 출발 시 상태 알림 (FG-02)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점화 OFF 및 출발 시 뒷좌석 점유 + CL 상태 1회 운전자 알림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11338560" cy="228600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핵심 연구 질문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rPr sz="1300" b="0">
                <a:solidFill>
                  <a:srgbClr val="1A1A2E"/>
                </a:solidFill>
                <a:latin typeface="Malgun Gothic"/>
              </a:rPr>
              <a:t>ISO 26262 기능 안전을 준수하면서, 승객의 편의성과 하차 안전을 모두 충족하는
지능형 차일드 락 제어 시스템을 어떻게 설계·구현·검증할 것인가?
→ V-모델 기반 SRS↔SDD↔Code↔Test 양방향 추적성으로 답한다.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3/10</a:t>
            </a: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2400" b="1">
                <a:solidFill>
                  <a:srgbClr val="ffffff"/>
                </a:solidFill>
              </a:defRPr>
            </a:pPr>
            <a:r>
              <a:rPr lang="ko-KR" altLang="en-US"/>
              <a:t>03. 솔루션 개요</a:t>
            </a:r>
            <a:endParaRPr lang="ko-KR" altLang="en-US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338560" cy="1371600"/>
          </a:xfrm>
          <a:prstGeom prst="roundRect">
            <a:avLst>
              <a:gd name="adj" fmla="val 16667"/>
            </a:avLst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200" b="1">
                <a:solidFill>
                  <a:srgbClr val="ffffff"/>
                </a:solidFill>
              </a:defRPr>
            </a:pPr>
            <a:r>
              <a:rPr lang="ko-KR" altLang="en-US"/>
              <a:t>지능형 센서 및 차량 상태 연동 제어 기반의 통합 하차 안전 솔루션 (FG-01 / FG-02)</a:t>
            </a: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200" b="0">
                <a:solidFill>
                  <a:srgbClr val="b4c8dc"/>
                </a:solidFill>
              </a:defRPr>
            </a:pPr>
            <a:r>
              <a:rPr lang="ko-KR" altLang="en-US"/>
              <a:t>C/C++ 기반 ISO 26262 및 FMEA/HAZOP 상위 기능 안전 분석 적용 모듈</a:t>
            </a:r>
            <a:endParaRPr lang="ko-KR" altLang="en-US"/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3566160" cy="329184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Oval 8"/>
          <p:cNvSpPr/>
          <p:nvPr/>
        </p:nvSpPr>
        <p:spPr>
          <a:xfrm>
            <a:off x="1828800" y="3108960"/>
            <a:ext cx="731520" cy="73152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828800" y="31546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400" b="1">
                <a:solidFill>
                  <a:srgbClr val="ffffff"/>
                </a:solidFill>
              </a:defRPr>
            </a:pPr>
            <a:r>
              <a:rPr lang="ko-KR" altLang="en-US"/>
              <a:t>1</a:t>
            </a:r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600" b="1">
                <a:solidFill>
                  <a:srgbClr val="333333"/>
                </a:solidFill>
              </a:defRPr>
            </a:pPr>
            <a:r>
              <a:rPr lang="ko-KR" altLang="en-US"/>
              <a:t>FG-01: 도어 잠금 및 해제 제어</a:t>
            </a: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3200400" cy="1184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속도, 충돌, 스위치 연동 로직 적용 및 직전 상태 복구(Safe State) 제어</a:t>
            </a:r>
            <a:endParaRPr lang="ko-KR" altLang="en-US"/>
          </a:p>
        </p:txBody>
      </p:sp>
      <p:sp>
        <p:nvSpPr>
          <p:cNvPr id="13" name="Rounded Rectangle 12"/>
          <p:cNvSpPr/>
          <p:nvPr/>
        </p:nvSpPr>
        <p:spPr>
          <a:xfrm>
            <a:off x="4297680" y="2926080"/>
            <a:ext cx="3566160" cy="329184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Oval 13"/>
          <p:cNvSpPr/>
          <p:nvPr/>
        </p:nvSpPr>
        <p:spPr>
          <a:xfrm>
            <a:off x="5669280" y="3108960"/>
            <a:ext cx="731520" cy="73152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5669280" y="31546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400" b="1">
                <a:solidFill>
                  <a:srgbClr val="ffffff"/>
                </a:solidFill>
              </a:defRPr>
            </a:pPr>
            <a:r>
              <a:rPr lang="ko-KR" altLang="en-US"/>
              <a:t>2</a:t>
            </a:r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448056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600" b="1">
                <a:solidFill>
                  <a:srgbClr val="333333"/>
                </a:solidFill>
              </a:defRPr>
            </a:pPr>
            <a:r>
              <a:rPr lang="ko-KR" altLang="en-US"/>
              <a:t>FG-02: 하차 안전 보조 제어</a:t>
            </a:r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4480560" y="4480560"/>
            <a:ext cx="3200400" cy="1184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후방 위험 판단 시 자동 잠금 유지 및 뒷좌석 점유/출발 상태 전환 시 운전자 알림 연동</a:t>
            </a:r>
            <a:endParaRPr lang="ko-KR" altLang="en-US"/>
          </a:p>
        </p:txBody>
      </p:sp>
      <p:sp>
        <p:nvSpPr>
          <p:cNvPr id="18" name="Rounded Rectangle 17"/>
          <p:cNvSpPr/>
          <p:nvPr/>
        </p:nvSpPr>
        <p:spPr>
          <a:xfrm>
            <a:off x="8138160" y="2926080"/>
            <a:ext cx="3566160" cy="329184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Oval 18"/>
          <p:cNvSpPr/>
          <p:nvPr/>
        </p:nvSpPr>
        <p:spPr>
          <a:xfrm>
            <a:off x="9509760" y="3108960"/>
            <a:ext cx="731520" cy="73152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9509760" y="31546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400" b="1">
                <a:solidFill>
                  <a:srgbClr val="ffffff"/>
                </a:solidFill>
              </a:defRPr>
            </a:pPr>
            <a:r>
              <a:rPr lang="ko-KR" altLang="en-US"/>
              <a:t>3</a:t>
            </a:r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32104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600" b="1">
                <a:solidFill>
                  <a:srgbClr val="333333"/>
                </a:solidFill>
              </a:defRPr>
            </a:pPr>
            <a:r>
              <a:rPr lang="ko-KR" altLang="en-US"/>
              <a:t>Fail-Safe 설계 및 테스트 결함 주입 (Fault Injection) 방어</a:t>
            </a:r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8321040" y="4480560"/>
            <a:ext cx="3200400" cy="1461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FMEA/HAZOP 기반 요구사항 분석 적용 및 Fault Injection 시나리오 방어를 통한 Fail-Safe 설계</a:t>
            </a: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 sz="1000" b="0">
                <a:solidFill>
                  <a:srgbClr val="808080"/>
                </a:solidFill>
              </a:defRPr>
            </a:pPr>
            <a:r>
              <a:rPr lang="ko-KR" altLang="en-US"/>
              <a:t>MOBIUS BOOTCAMP 1기 | PBL 결과발표 | 4/10</a:t>
            </a: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04. 기술 스택 &amp;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7772400" cy="5029200"/>
          </a:xfrm>
          <a:prstGeom prst="roundRect">
            <a:avLst/>
          </a:prstGeom>
          <a:solidFill>
            <a:srgbClr val="FCFCFC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0" y="1188720"/>
            <a:ext cx="3474720" cy="50292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9202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148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C11, C++17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7432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971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ISO 26262, ASPICE, V-Model 워크플로우 적용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5661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794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Google Test, Cppcheck (단위 테스트 및 정적 분석)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3891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617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GitHub Actions (CI 자동화), Draw.io (UML)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5212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Environment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5440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Ubuntu 22.04 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5/10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234440"/>
            <a:ext cx="74980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0357E"/>
                </a:solidFill>
                <a:latin typeface="Malgun Gothic"/>
              </a:rPr>
              <a:t>시스템 상태 다이어그램 (State Diagram)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00589"/>
            <a:ext cx="7406640" cy="43163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05. 구현 결과 (Implementation Results)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96595" y="1097280"/>
            <a:ext cx="566928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5" y="1234439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1F54"/>
                </a:solidFill>
                <a:latin typeface="Malgun Gothic"/>
              </a:rPr>
              <a:t>시뮬레이션 및 테스트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5" y="1600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Malgun Gothic"/>
              </a:rPr>
              <a:t>• GTest 프레임워크 기반 140개 단위/통합 테스트 100% 통과
• 시뮬레이션 환경의 동적 입력(차속/센서)에 따른 정상 상태 전이 검증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5" y="2194560"/>
            <a:ext cx="5303520" cy="17373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0915" y="2286000"/>
            <a:ext cx="109728" cy="109728"/>
          </a:xfrm>
          <a:prstGeom prst="roundRect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3795" y="2286000"/>
            <a:ext cx="109728" cy="109728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6675" y="2286000"/>
            <a:ext cx="109728" cy="109728"/>
          </a:xfrm>
          <a:prstGeom prst="roundRect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" y="2468879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0E0E0"/>
                </a:solidFill>
                <a:latin typeface="Consolas"/>
              </a:rPr>
              <a:t>[==========] Running 140 tests from 12 test suites.
</a:t>
            </a:r>
          </a:p>
          <a:p>
            <a:r>
              <a:rPr sz="1100">
                <a:solidFill>
                  <a:srgbClr val="81C784"/>
                </a:solidFill>
                <a:latin typeface="Consolas"/>
              </a:rPr>
              <a:t>[  PASSED  ] </a:t>
            </a:r>
            <a:r>
              <a:rPr sz="1100">
                <a:solidFill>
                  <a:srgbClr val="E0E0E0"/>
                </a:solidFill>
                <a:latin typeface="Consolas"/>
              </a:rPr>
              <a:t>140 tests.
</a:t>
            </a:r>
          </a:p>
          <a:p>
            <a:r>
              <a:rPr sz="1100">
                <a:solidFill>
                  <a:srgbClr val="E0E0E0"/>
                </a:solidFill>
                <a:latin typeface="Consolas"/>
              </a:rPr>
              <a:t>Coverage: 100% (Branch)
</a:t>
            </a:r>
          </a:p>
          <a:p>
            <a:r>
              <a:rPr sz="1100">
                <a:solidFill>
                  <a:srgbClr val="E0E0E0"/>
                </a:solidFill>
                <a:latin typeface="Consolas"/>
              </a:rPr>
              <a:t>Cyclomatic Complexity Average: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5" y="4114800"/>
            <a:ext cx="5303520" cy="18288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" y="42062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AAAAA"/>
                </a:solidFill>
                <a:latin typeface="Consolas"/>
              </a:rPr>
              <a:t>=== Simulation System Log ===
</a:t>
            </a:r>
          </a:p>
          <a:p>
            <a:r>
              <a:rPr sz="1000">
                <a:solidFill>
                  <a:srgbClr val="64B5F6"/>
                </a:solidFill>
                <a:latin typeface="Consolas"/>
              </a:rPr>
              <a:t>[VehicleSpeed: 0km/h] </a:t>
            </a:r>
            <a:r>
              <a:rPr sz="1000">
                <a:solidFill>
                  <a:srgbClr val="E0E0E0"/>
                </a:solidFill>
                <a:latin typeface="Consolas"/>
              </a:rPr>
              <a:t>UserRequest -&gt; ManualLock</a:t>
            </a:r>
          </a:p>
          <a:p>
            <a:r>
              <a:rPr sz="1000">
                <a:solidFill>
                  <a:srgbClr val="64B5F6"/>
                </a:solidFill>
                <a:latin typeface="Consolas"/>
              </a:rPr>
              <a:t>[VehicleSpeed: 16km/h] </a:t>
            </a:r>
            <a:r>
              <a:rPr sz="1000">
                <a:solidFill>
                  <a:srgbClr val="E0E0E0"/>
                </a:solidFill>
                <a:latin typeface="Consolas"/>
              </a:rPr>
              <a:t>-&gt; AUTO_LOCKED</a:t>
            </a:r>
          </a:p>
          <a:p>
            <a:r>
              <a:rPr sz="1000">
                <a:solidFill>
                  <a:srgbClr val="64B5F6"/>
                </a:solidFill>
                <a:latin typeface="Consolas"/>
              </a:rPr>
              <a:t>[CollisionDetec: TRUE] </a:t>
            </a:r>
            <a:r>
              <a:rPr sz="1000">
                <a:solidFill>
                  <a:srgbClr val="E0E0E0"/>
                </a:solidFill>
                <a:latin typeface="Consolas"/>
              </a:rPr>
              <a:t>-&gt; EMERGENCY_RELEASED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3076" y="1097280"/>
            <a:ext cx="566928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3076" y="1234439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1F54"/>
                </a:solidFill>
                <a:latin typeface="Malgun Gothic"/>
              </a:rPr>
              <a:t>CI/CD 및 형상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5956" y="1600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Malgun Gothic"/>
              </a:rPr>
              <a:t>• GitHub Actions 기반 빌드 ∙ 테스트 ∙ 정적 분석(Cppcheck) 자동화
• 기능 개발(feat) 및 버그 수정(fix) 후 main 브랜치로 병합하는 워크플로우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05956" y="2194560"/>
            <a:ext cx="5303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7396" y="228600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529"/>
                </a:solidFill>
                <a:latin typeface="Malgun Gothic"/>
              </a:rPr>
              <a:t>GitHub Actions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7396" y="251460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Malgun Gothic"/>
              </a:rPr>
              <a:t>Commit: a1b2c3d  |  Duration: 1m 32s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3116" y="2697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53"/>
                </a:solidFill>
                <a:latin typeface="Segoe UI Symbol"/>
              </a:rPr>
              <a:t>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1716" y="272491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529"/>
                </a:solidFill>
                <a:latin typeface="Malgun Gothic"/>
              </a:rPr>
              <a:t>Build (Ubuntu)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91956" y="2816351"/>
            <a:ext cx="1371600" cy="73152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791956" y="2816351"/>
            <a:ext cx="1371600" cy="73152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3116" y="2971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53"/>
                </a:solidFill>
                <a:latin typeface="Segoe UI Symbol"/>
              </a:rPr>
              <a:t>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1716" y="29992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529"/>
                </a:solidFill>
                <a:latin typeface="Malgun Gothic"/>
              </a:rPr>
              <a:t>Unit Tests (GTest)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91956" y="3090671"/>
            <a:ext cx="1371600" cy="73152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791956" y="3090671"/>
            <a:ext cx="1371600" cy="73152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3116" y="3246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53"/>
                </a:solidFill>
                <a:latin typeface="Segoe UI Symbol"/>
              </a:rPr>
              <a:t>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1716" y="3273551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529"/>
                </a:solidFill>
                <a:latin typeface="Malgun Gothic"/>
              </a:rPr>
              <a:t>Static Analysis (Cppcheck)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91956" y="3364991"/>
            <a:ext cx="1371600" cy="73152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791956" y="3364991"/>
            <a:ext cx="1371600" cy="73152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43116" y="35204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53"/>
                </a:solidFill>
                <a:latin typeface="Segoe UI Symbol"/>
              </a:rPr>
              <a:t>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1716" y="3547871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529"/>
                </a:solidFill>
                <a:latin typeface="Malgun Gothic"/>
              </a:rPr>
              <a:t>Code Complexity (Lizard)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91956" y="3639311"/>
            <a:ext cx="1371600" cy="73152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791956" y="3639311"/>
            <a:ext cx="1371600" cy="73152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505956" y="4206240"/>
            <a:ext cx="53035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7396" y="429768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529"/>
                </a:solidFill>
                <a:latin typeface="Malgun Gothic"/>
              </a:rPr>
              <a:t>Branch Network Graph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0276" y="5120640"/>
            <a:ext cx="4572000" cy="4572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80276" y="48463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1F54"/>
                </a:solidFill>
                <a:latin typeface="Malgun Gothic"/>
              </a:rPr>
              <a:t>main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37476" y="4663440"/>
            <a:ext cx="155448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91956" y="4663440"/>
            <a:ext cx="36576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7476" y="44348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00"/>
                </a:solidFill>
                <a:latin typeface="Malgun Gothic"/>
              </a:rPr>
              <a:t>feat/rear-radar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77556" y="5577840"/>
            <a:ext cx="13716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49156" y="5120640"/>
            <a:ext cx="36576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77556" y="56235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BCD4"/>
                </a:solidFill>
                <a:latin typeface="Malgun Gothic"/>
              </a:rPr>
              <a:t>fix/crash-logic</a:t>
            </a:r>
          </a:p>
        </p:txBody>
      </p:sp>
      <p:sp>
        <p:nvSpPr>
          <p:cNvPr id="48" name="Oval 47"/>
          <p:cNvSpPr/>
          <p:nvPr/>
        </p:nvSpPr>
        <p:spPr>
          <a:xfrm>
            <a:off x="7164324" y="507034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1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804404" y="507034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1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718804" y="507034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1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700516" y="5052060"/>
            <a:ext cx="182880" cy="1828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176004" y="507034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1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157716" y="5052060"/>
            <a:ext cx="182880" cy="18288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907524" y="507034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1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47604" y="507034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1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0300716" y="4800600"/>
            <a:ext cx="640080" cy="201168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00716" y="481888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Merge PR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ED4DA"/>
                </a:solidFill>
                <a:latin typeface="Malgun Gothic"/>
              </a:rPr>
              <a:t>HYUNDAI MOBIS</a:t>
            </a:r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2400" b="1">
                <a:solidFill>
                  <a:srgbClr val="ffffff"/>
                </a:solidFill>
              </a:defRPr>
            </a:pPr>
            <a:r>
              <a:rPr lang="ko-KR" altLang="en-US"/>
              <a:t>06. 테스트 &amp; 검증</a:t>
            </a:r>
            <a:endParaRPr lang="ko-KR" altLang="en-US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7132320" cy="502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676656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1600" b="1">
                <a:solidFill>
                  <a:srgbClr val="003366"/>
                </a:solidFill>
              </a:defRPr>
            </a:pPr>
            <a:r>
              <a:rPr lang="ko-KR" altLang="en-US"/>
              <a:t>   테스트 케이스 및 결과</a:t>
            </a:r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2286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1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맑은 고딕"/>
              </a:rPr>
              <a:t>Test ID / 기법</a:t>
            </a:r>
            <a:endParaRPr sz="9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926080" y="1737360"/>
            <a:ext cx="164592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926080" y="1783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1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맑은 고딕"/>
              </a:rPr>
              <a:t>UC</a:t>
            </a:r>
            <a:endParaRPr sz="9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0" y="1737360"/>
            <a:ext cx="164592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109728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217920" y="1783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1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맑은 고딕"/>
              </a:rPr>
              <a:t>PASS/FAIL</a:t>
            </a:r>
            <a:endParaRPr sz="9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2103120"/>
            <a:ext cx="228600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64008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850" b="1">
                <a:solidFill>
                  <a:srgbClr val="d44500"/>
                </a:solidFill>
                <a:latin typeface="맑은 고딕"/>
              </a:rPr>
              <a:t>TC-004 / BVA</a:t>
            </a:r>
            <a:endParaRPr sz="850" b="1">
              <a:solidFill>
                <a:srgbClr val="d44500"/>
              </a:solidFill>
              <a:latin typeface="맑은 고딕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926080" y="210312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292608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900" b="0">
                <a:solidFill>
                  <a:srgbClr val="1a1a2e"/>
                </a:solidFill>
                <a:latin typeface="맑은 고딕"/>
              </a:rPr>
              <a:t>UC-1</a:t>
            </a:r>
            <a:endParaRPr sz="900" b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0" y="210312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457200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850" b="0">
                <a:solidFill>
                  <a:srgbClr val="1a1a2e"/>
                </a:solidFill>
                <a:latin typeface="맑은 고딕"/>
              </a:rPr>
              <a:t>주행 중 해제 차단 (3.0 km/h)  [ASIL B]</a:t>
            </a:r>
            <a:endParaRPr sz="850" b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17920" y="2103120"/>
            <a:ext cx="109728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217920" y="2148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1000" b="1">
                <a:solidFill>
                  <a:srgbClr val="007048"/>
                </a:solidFill>
                <a:latin typeface="맑은 고딕"/>
              </a:rPr>
              <a:t>PASS</a:t>
            </a:r>
            <a:endParaRPr sz="1000" b="1">
              <a:solidFill>
                <a:srgbClr val="007048"/>
              </a:solidFill>
              <a:latin typeface="맑은 고딕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0080" y="265176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64008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850" b="1">
                <a:solidFill>
                  <a:srgbClr val="d44500"/>
                </a:solidFill>
                <a:latin typeface="맑은 고딕"/>
              </a:rPr>
              <a:t>TC-005 / BVA</a:t>
            </a:r>
            <a:endParaRPr sz="850" b="1">
              <a:solidFill>
                <a:srgbClr val="d44500"/>
              </a:solidFill>
              <a:latin typeface="맑은 고딕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926080" y="265176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292608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900" b="0">
                <a:solidFill>
                  <a:srgbClr val="1a1a2e"/>
                </a:solidFill>
                <a:latin typeface="맑은 고딕"/>
              </a:rPr>
              <a:t>UC-1</a:t>
            </a:r>
            <a:endParaRPr sz="900" b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572000" y="265176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457200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850" b="0">
                <a:solidFill>
                  <a:srgbClr val="1a1a2e"/>
                </a:solidFill>
                <a:latin typeface="맑은 고딕"/>
              </a:rPr>
              <a:t>주행 중 해제 허용 (2.9 km/h)  [ASIL B]</a:t>
            </a:r>
            <a:endParaRPr sz="850" b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217920" y="265176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6217920" y="2697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1000" b="1">
                <a:solidFill>
                  <a:srgbClr val="007048"/>
                </a:solidFill>
                <a:latin typeface="맑은 고딕"/>
              </a:rPr>
              <a:t>PASS</a:t>
            </a:r>
            <a:endParaRPr sz="1000" b="1">
              <a:solidFill>
                <a:srgbClr val="007048"/>
              </a:solidFill>
              <a:latin typeface="맑은 고딕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40080" y="3200400"/>
            <a:ext cx="228600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64008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850" b="0">
                <a:solidFill>
                  <a:srgbClr val="1a1a2e"/>
                </a:solidFill>
                <a:latin typeface="맑은 고딕"/>
              </a:rPr>
              <a:t>TC-008 / BVA</a:t>
            </a:r>
            <a:endParaRPr sz="850" b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926080" y="320040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292608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900" b="0">
                <a:solidFill>
                  <a:srgbClr val="1a1a2e"/>
                </a:solidFill>
                <a:latin typeface="맑은 고딕"/>
              </a:rPr>
              <a:t>UC-2</a:t>
            </a:r>
            <a:endParaRPr sz="900" b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572000" y="320040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457200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850" b="0">
                <a:solidFill>
                  <a:srgbClr val="1a1a2e"/>
                </a:solidFill>
                <a:latin typeface="맑은 고딕"/>
              </a:rPr>
              <a:t>속도 초과 자동잠금 동작 (15.0 km/h)</a:t>
            </a:r>
            <a:endParaRPr sz="850" b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217920" y="3200400"/>
            <a:ext cx="109728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6217920" y="3246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1000" b="1">
                <a:solidFill>
                  <a:srgbClr val="007048"/>
                </a:solidFill>
                <a:latin typeface="맑은 고딕"/>
              </a:rPr>
              <a:t>PASS</a:t>
            </a:r>
            <a:endParaRPr sz="1000" b="1">
              <a:solidFill>
                <a:srgbClr val="007048"/>
              </a:solidFill>
              <a:latin typeface="맑은 고딕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40080" y="3749039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64008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850" b="1">
                <a:solidFill>
                  <a:srgbClr val="d44500"/>
                </a:solidFill>
                <a:latin typeface="맑은 고딕"/>
              </a:rPr>
              <a:t>TC-009 / DT</a:t>
            </a:r>
            <a:endParaRPr sz="850" b="1">
              <a:solidFill>
                <a:srgbClr val="d44500"/>
              </a:solidFill>
              <a:latin typeface="맑은 고딕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926080" y="3749039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2926080" y="3794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900" b="0">
                <a:solidFill>
                  <a:srgbClr val="1a1a2e"/>
                </a:solidFill>
                <a:latin typeface="맑은 고딕"/>
              </a:rPr>
              <a:t>UC-3</a:t>
            </a:r>
            <a:endParaRPr sz="900" b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572000" y="3749039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4572000" y="3794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850" b="0">
                <a:solidFill>
                  <a:srgbClr val="1a1a2e"/>
                </a:solidFill>
                <a:latin typeface="맑은 고딕"/>
              </a:rPr>
              <a:t>충돌 시 비상 해제 — 복합조건  [ASIL B]</a:t>
            </a:r>
            <a:endParaRPr sz="850" b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217920" y="3749039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6217920" y="3794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1000" b="1">
                <a:solidFill>
                  <a:srgbClr val="007048"/>
                </a:solidFill>
                <a:latin typeface="맑은 고딕"/>
              </a:rPr>
              <a:t>PASS</a:t>
            </a:r>
            <a:endParaRPr sz="1000" b="1">
              <a:solidFill>
                <a:srgbClr val="007048"/>
              </a:solidFill>
              <a:latin typeface="맑은 고딕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40080" y="4297679"/>
            <a:ext cx="228600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64008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850" b="1">
                <a:solidFill>
                  <a:srgbClr val="d44500"/>
                </a:solidFill>
                <a:latin typeface="맑은 고딕"/>
              </a:rPr>
              <a:t>TC-010 / DT</a:t>
            </a:r>
            <a:endParaRPr sz="850" b="1">
              <a:solidFill>
                <a:srgbClr val="d44500"/>
              </a:solidFill>
              <a:latin typeface="맑은 고딕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926080" y="4297679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2926080" y="4343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900" b="0">
                <a:solidFill>
                  <a:srgbClr val="1a1a2e"/>
                </a:solidFill>
                <a:latin typeface="맑은 고딕"/>
              </a:rPr>
              <a:t>UC-3</a:t>
            </a:r>
            <a:endParaRPr sz="900" b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572000" y="4297679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4572000" y="4343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850" b="0">
                <a:solidFill>
                  <a:srgbClr val="1a1a2e"/>
                </a:solidFill>
                <a:latin typeface="맑은 고딕"/>
              </a:rPr>
              <a:t>충돌 단일조건 무시 (오동작 방지)  [ASIL B]</a:t>
            </a:r>
            <a:endParaRPr sz="850" b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217920" y="4297679"/>
            <a:ext cx="109728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6217920" y="4343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1000" b="1">
                <a:solidFill>
                  <a:srgbClr val="007048"/>
                </a:solidFill>
                <a:latin typeface="맑은 고딕"/>
              </a:rPr>
              <a:t>PASS</a:t>
            </a:r>
            <a:endParaRPr sz="1000" b="1">
              <a:solidFill>
                <a:srgbClr val="007048"/>
              </a:solidFill>
              <a:latin typeface="맑은 고딕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7772400" y="1188720"/>
            <a:ext cx="4114800" cy="5029200"/>
          </a:xfrm>
          <a:prstGeom prst="roundRect">
            <a:avLst>
              <a:gd name="adj" fmla="val 16667"/>
            </a:avLst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7955279" y="18288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1100" b="0">
                <a:solidFill>
                  <a:srgbClr val="333333"/>
                </a:solidFill>
              </a:defRPr>
            </a:pPr>
            <a:r>
              <a:rPr sz="1000" b="0">
                <a:solidFill>
                  <a:srgbClr val="00357e"/>
                </a:solidFill>
                <a:latin typeface="맑은 고딕"/>
              </a:rPr>
              <a:t>단위 테스트</a:t>
            </a:r>
            <a:endParaRPr sz="1000" b="0">
              <a:solidFill>
                <a:srgbClr val="00357e"/>
              </a:solidFill>
              <a:latin typeface="맑은 고딕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955279" y="21031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2800" b="1">
                <a:solidFill>
                  <a:srgbClr val="003366"/>
                </a:solidFill>
              </a:defRPr>
            </a:pPr>
            <a:r>
              <a:rPr sz="2200" b="1">
                <a:solidFill>
                  <a:srgbClr val="00357e"/>
                </a:solidFill>
                <a:latin typeface="맑은 고딕"/>
              </a:rPr>
              <a:t>140 건</a:t>
            </a:r>
            <a:endParaRPr sz="2200" b="1">
              <a:solidFill>
                <a:srgbClr val="00357e"/>
              </a:solidFill>
              <a:latin typeface="맑은 고딕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955279" y="283464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1100" b="0">
                <a:solidFill>
                  <a:srgbClr val="333333"/>
                </a:solidFill>
              </a:defRPr>
            </a:pPr>
            <a:r>
              <a:rPr sz="1000" b="0">
                <a:solidFill>
                  <a:srgbClr val="00357e"/>
                </a:solidFill>
                <a:latin typeface="맑은 고딕"/>
              </a:rPr>
              <a:t>통과율</a:t>
            </a:r>
            <a:endParaRPr sz="1000" b="0">
              <a:solidFill>
                <a:srgbClr val="00357e"/>
              </a:solidFill>
              <a:latin typeface="맑은 고딕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955279" y="31089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2800" b="1">
                <a:solidFill>
                  <a:srgbClr val="003366"/>
                </a:solidFill>
              </a:defRPr>
            </a:pPr>
            <a:r>
              <a:rPr sz="1800" b="1">
                <a:solidFill>
                  <a:srgbClr val="007048"/>
                </a:solidFill>
                <a:latin typeface="맑은 고딕"/>
              </a:rPr>
              <a:t>100%</a:t>
            </a:r>
            <a:endParaRPr sz="1800" b="1">
              <a:solidFill>
                <a:srgbClr val="007048"/>
              </a:solidFill>
              <a:latin typeface="맑은 고딕"/>
            </a:endParaRPr>
          </a:p>
          <a:p>
            <a:pPr lvl="0" algn="l">
              <a:defRPr sz="2800" b="1">
                <a:solidFill>
                  <a:srgbClr val="003366"/>
                </a:solidFill>
              </a:defRPr>
            </a:pPr>
            <a:r>
              <a:rPr sz="1800" b="1">
                <a:solidFill>
                  <a:srgbClr val="007048"/>
                </a:solidFill>
                <a:latin typeface="맑은 고딕"/>
              </a:rPr>
              <a:t>(0 Fail)</a:t>
            </a:r>
            <a:endParaRPr sz="1800" b="1">
              <a:solidFill>
                <a:srgbClr val="007048"/>
              </a:solidFill>
              <a:latin typeface="맑은 고딕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955279" y="38404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1100" b="0">
                <a:solidFill>
                  <a:srgbClr val="333333"/>
                </a:solidFill>
              </a:defRPr>
            </a:pPr>
            <a:r>
              <a:rPr sz="1000" b="0">
                <a:solidFill>
                  <a:srgbClr val="00357e"/>
                </a:solidFill>
                <a:latin typeface="맑은 고딕"/>
              </a:rPr>
              <a:t>시스템 TC</a:t>
            </a:r>
            <a:endParaRPr sz="1000" b="0">
              <a:solidFill>
                <a:srgbClr val="00357e"/>
              </a:solidFill>
              <a:latin typeface="맑은 고딕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955279" y="41148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2800" b="1">
                <a:solidFill>
                  <a:srgbClr val="003366"/>
                </a:solidFill>
              </a:defRPr>
            </a:pPr>
            <a:r>
              <a:rPr sz="2200" b="1">
                <a:solidFill>
                  <a:srgbClr val="d44500"/>
                </a:solidFill>
                <a:latin typeface="맑은 고딕"/>
              </a:rPr>
              <a:t>15 건</a:t>
            </a:r>
            <a:endParaRPr sz="2200" b="1">
              <a:solidFill>
                <a:srgbClr val="d44500"/>
              </a:solidFill>
              <a:latin typeface="맑은 고딕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955279" y="51206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2800" b="1">
                <a:solidFill>
                  <a:srgbClr val="003366"/>
                </a:solidFill>
              </a:defRPr>
            </a:pPr>
            <a:r>
              <a:rPr lang="ko-KR" altLang="en-US"/>
              <a:t>100%</a:t>
            </a:r>
            <a:endParaRPr lang="ko-KR" altLang="en-US"/>
          </a:p>
        </p:txBody>
      </p:sp>
      <p:sp>
        <p:nvSpPr>
          <p:cNvPr id="65" name="Rectangle 64"/>
          <p:cNvSpPr/>
          <p:nvPr/>
        </p:nvSpPr>
        <p:spPr>
          <a:xfrm>
            <a:off x="3035808" y="1207008"/>
            <a:ext cx="868680" cy="329184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063240" y="1271016"/>
            <a:ext cx="8138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Test ID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04488" y="1207008"/>
            <a:ext cx="384048" cy="329184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931920" y="1271016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UC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88536" y="1207008"/>
            <a:ext cx="3703320" cy="329184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15968" y="1271016"/>
            <a:ext cx="3648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테스트 항목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91856" y="1207008"/>
            <a:ext cx="502920" cy="329184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19288" y="1271016"/>
            <a:ext cx="448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기법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94776" y="1207008"/>
            <a:ext cx="658368" cy="329184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22208" y="1271016"/>
            <a:ext cx="603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ASIL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035808" y="1536192"/>
            <a:ext cx="86868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063240" y="1572768"/>
            <a:ext cx="813815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TC-CHL-001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04488" y="1536192"/>
            <a:ext cx="38404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931920" y="1572768"/>
            <a:ext cx="329184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UC-1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288536" y="1536192"/>
            <a:ext cx="37033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315968" y="1572768"/>
            <a:ext cx="36484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정차 중 수동 스위치 제어 정상 동작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991856" y="1536192"/>
            <a:ext cx="5029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019288" y="1572768"/>
            <a:ext cx="4480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EP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494776" y="1536192"/>
            <a:ext cx="65836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522208" y="1572768"/>
            <a:ext cx="603503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QM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35808" y="1796796"/>
            <a:ext cx="86868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63240" y="1833372"/>
            <a:ext cx="813815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TC-CHL-002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904488" y="1796796"/>
            <a:ext cx="38404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931920" y="1833372"/>
            <a:ext cx="329184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UC-1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288536" y="1796796"/>
            <a:ext cx="3703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315968" y="1833372"/>
            <a:ext cx="36484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스위치 채터링 디바운싱 - 49ms (Off-limit)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991856" y="1796796"/>
            <a:ext cx="5029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019288" y="1833372"/>
            <a:ext cx="4480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BVA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494776" y="1796796"/>
            <a:ext cx="65836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522208" y="1833372"/>
            <a:ext cx="603503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QM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035808" y="2057400"/>
            <a:ext cx="86868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063240" y="2093976"/>
            <a:ext cx="813815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TC-CHL-003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904488" y="2057400"/>
            <a:ext cx="38404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931920" y="2093976"/>
            <a:ext cx="329184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UC-1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288536" y="2057400"/>
            <a:ext cx="37033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315968" y="2093976"/>
            <a:ext cx="36484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스위치 채터링 디바운싱 - 50ms (On-limit)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991856" y="2057400"/>
            <a:ext cx="5029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019288" y="2093976"/>
            <a:ext cx="4480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BVA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494776" y="2057400"/>
            <a:ext cx="65836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522208" y="2093976"/>
            <a:ext cx="603503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QM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035808" y="2318004"/>
            <a:ext cx="86868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063240" y="2354580"/>
            <a:ext cx="813815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TC-CHL-004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904488" y="2318004"/>
            <a:ext cx="38404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931920" y="2354580"/>
            <a:ext cx="329184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UC-1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288536" y="2318004"/>
            <a:ext cx="3703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315968" y="2354580"/>
            <a:ext cx="36484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주행 중 해제 차단 - 3.0km/h (On-limit)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991856" y="2318004"/>
            <a:ext cx="5029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019288" y="2354580"/>
            <a:ext cx="4480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BVA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494776" y="2318004"/>
            <a:ext cx="658368" cy="260603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522208" y="2354580"/>
            <a:ext cx="603503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ASIL B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035808" y="2578608"/>
            <a:ext cx="86868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063240" y="2615184"/>
            <a:ext cx="813815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TC-CHL-005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904488" y="2578608"/>
            <a:ext cx="38404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931920" y="2615184"/>
            <a:ext cx="329184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UC-1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88536" y="2578608"/>
            <a:ext cx="37033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315968" y="2615184"/>
            <a:ext cx="36484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주행 중 해제 허용 - 2.9km/h (Off-limit)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991856" y="2578608"/>
            <a:ext cx="5029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019288" y="2615184"/>
            <a:ext cx="4480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BVA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494776" y="2578608"/>
            <a:ext cx="658368" cy="260603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522208" y="2615184"/>
            <a:ext cx="603503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ASIL B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035808" y="2839212"/>
            <a:ext cx="86868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063240" y="2875788"/>
            <a:ext cx="813815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TC-CHL-006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904488" y="2839212"/>
            <a:ext cx="38404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931920" y="2875788"/>
            <a:ext cx="329184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UC-1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288536" y="2839212"/>
            <a:ext cx="3703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315968" y="2875788"/>
            <a:ext cx="36484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ECU 통신 단절 재전송 및 Fail-Safe 안전상태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991856" y="2839212"/>
            <a:ext cx="5029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019288" y="2875788"/>
            <a:ext cx="4480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FI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494776" y="2839212"/>
            <a:ext cx="65836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522208" y="2875788"/>
            <a:ext cx="603503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QM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035808" y="3099816"/>
            <a:ext cx="86868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063240" y="3136392"/>
            <a:ext cx="813815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TC-CHL-007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904488" y="3099816"/>
            <a:ext cx="38404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931920" y="3136392"/>
            <a:ext cx="329184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UC-2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288536" y="3099816"/>
            <a:ext cx="37033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315968" y="3136392"/>
            <a:ext cx="36484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속도 초과 자동잠금 미동작 - 14.9km/h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991856" y="3099816"/>
            <a:ext cx="5029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019288" y="3136392"/>
            <a:ext cx="4480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BVA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494776" y="3099816"/>
            <a:ext cx="65836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522208" y="3136392"/>
            <a:ext cx="603503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QM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035808" y="3360420"/>
            <a:ext cx="86868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063240" y="3396996"/>
            <a:ext cx="813815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TC-CHL-008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904488" y="3360420"/>
            <a:ext cx="38404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931920" y="3396996"/>
            <a:ext cx="329184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UC-2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288536" y="3360420"/>
            <a:ext cx="3703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315968" y="3396996"/>
            <a:ext cx="36484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속도 초과 자동잠금 동작 - 15.0km/h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991856" y="3360420"/>
            <a:ext cx="5029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019288" y="3396996"/>
            <a:ext cx="4480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BVA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494776" y="3360420"/>
            <a:ext cx="65836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522208" y="3396996"/>
            <a:ext cx="603503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QM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035808" y="3621024"/>
            <a:ext cx="86868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063240" y="3657600"/>
            <a:ext cx="813815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TC-CHL-009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904488" y="3621024"/>
            <a:ext cx="38404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931920" y="3657600"/>
            <a:ext cx="329184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UC-3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288536" y="3621024"/>
            <a:ext cx="37033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315968" y="3657600"/>
            <a:ext cx="36484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충돌 시 비상 해제 (복합조건 = True)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991856" y="3621024"/>
            <a:ext cx="5029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019288" y="3657600"/>
            <a:ext cx="4480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DT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494776" y="3621024"/>
            <a:ext cx="658368" cy="260603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522208" y="3657600"/>
            <a:ext cx="603503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ASIL B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035808" y="3881628"/>
            <a:ext cx="86868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063240" y="3918204"/>
            <a:ext cx="813815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TC-CHL-010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904488" y="3881628"/>
            <a:ext cx="38404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3931920" y="3918204"/>
            <a:ext cx="329184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UC-3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288536" y="3881628"/>
            <a:ext cx="3703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315968" y="3918204"/>
            <a:ext cx="36484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충돌 단일조건 무시 (오동작 방지)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7991856" y="3881628"/>
            <a:ext cx="5029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019288" y="3918204"/>
            <a:ext cx="4480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DT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494776" y="3881628"/>
            <a:ext cx="658368" cy="260603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522208" y="3918204"/>
            <a:ext cx="603503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ASIL B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3035808" y="4142231"/>
            <a:ext cx="86868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3063240" y="4178807"/>
            <a:ext cx="813815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TC-CHL-011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904488" y="4142231"/>
            <a:ext cx="38404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931920" y="4178807"/>
            <a:ext cx="329184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UC-4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288536" y="4142231"/>
            <a:ext cx="37033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315968" y="4178807"/>
            <a:ext cx="36484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ECU 상태 전이(Init→Normal→Lock) 핸들 차단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991856" y="4142231"/>
            <a:ext cx="5029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8019288" y="4178807"/>
            <a:ext cx="4480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ST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8494776" y="4142231"/>
            <a:ext cx="65836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8522208" y="4178807"/>
            <a:ext cx="603503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QM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3035808" y="4402836"/>
            <a:ext cx="86868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3063240" y="4439412"/>
            <a:ext cx="813815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TC-CHL-012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3904488" y="4402836"/>
            <a:ext cx="38404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3931920" y="4439412"/>
            <a:ext cx="329184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UC-5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4288536" y="4402836"/>
            <a:ext cx="3703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4315968" y="4439412"/>
            <a:ext cx="36484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후방 객체(거리/속도/시간) 복합 감지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7991856" y="4402836"/>
            <a:ext cx="5029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8019288" y="4439412"/>
            <a:ext cx="4480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PW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8494776" y="4402836"/>
            <a:ext cx="65836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8522208" y="4439412"/>
            <a:ext cx="603503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QM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3035808" y="4663440"/>
            <a:ext cx="86868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3063240" y="4700016"/>
            <a:ext cx="813815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TC-CHL-013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3904488" y="4663440"/>
            <a:ext cx="38404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3931920" y="4700016"/>
            <a:ext cx="329184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UC-5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4288536" y="4663440"/>
            <a:ext cx="37033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4315968" y="4700016"/>
            <a:ext cx="36484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후방 센서 노이즈/반복 경고 히스테리시스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7991856" y="4663440"/>
            <a:ext cx="5029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8019288" y="4700016"/>
            <a:ext cx="4480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EP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8494776" y="4663440"/>
            <a:ext cx="65836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8522208" y="4700016"/>
            <a:ext cx="603503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QM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3035808" y="4924044"/>
            <a:ext cx="86868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3063240" y="4960620"/>
            <a:ext cx="813815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TC-CHL-014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3904488" y="4924044"/>
            <a:ext cx="38404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3931920" y="4960620"/>
            <a:ext cx="329184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UC-6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4288536" y="4924044"/>
            <a:ext cx="3703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4315968" y="4960620"/>
            <a:ext cx="36484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승객 점유 및 잠금 OFF 출발 시 알림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7991856" y="4924044"/>
            <a:ext cx="5029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8019288" y="4960620"/>
            <a:ext cx="4480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DT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8494776" y="4924044"/>
            <a:ext cx="658368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522208" y="4960620"/>
            <a:ext cx="603503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QM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3035808" y="5184648"/>
            <a:ext cx="86868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3063240" y="5221224"/>
            <a:ext cx="813815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TC-CHL-015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3904488" y="5184648"/>
            <a:ext cx="38404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3931920" y="5221224"/>
            <a:ext cx="329184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UC-6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4288536" y="5184648"/>
            <a:ext cx="37033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4315968" y="5221224"/>
            <a:ext cx="36484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점유 센서 에러 발생 시 보호 로직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7991856" y="5184648"/>
            <a:ext cx="502920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8019288" y="5221224"/>
            <a:ext cx="448056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FI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8494776" y="5184648"/>
            <a:ext cx="658368" cy="2606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8522208" y="5221224"/>
            <a:ext cx="603503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  <a:latin typeface="Malgun Gothic"/>
              </a:rPr>
              <a:t>QM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05155" y="5554980"/>
            <a:ext cx="1920240" cy="256032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41731" y="5591556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단위 테스트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105155" y="5811012"/>
            <a:ext cx="1920240" cy="493775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41731" y="5829300"/>
            <a:ext cx="184708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357E"/>
                </a:solidFill>
                <a:latin typeface="Malgun Gothic"/>
              </a:rPr>
              <a:t>140 건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2116835" y="5554980"/>
            <a:ext cx="1920240" cy="256032"/>
          </a:xfrm>
          <a:prstGeom prst="rect">
            <a:avLst/>
          </a:prstGeom>
          <a:solidFill>
            <a:srgbClr val="009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2153411" y="5591556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통과율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2116835" y="5811012"/>
            <a:ext cx="1920240" cy="493775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2153411" y="5829300"/>
            <a:ext cx="184708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9660"/>
                </a:solidFill>
                <a:latin typeface="Malgun Gothic"/>
              </a:rPr>
              <a:t>100%  (0 Fail)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4128515" y="5554980"/>
            <a:ext cx="1920240" cy="256032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4165091" y="5591556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커버리지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4128515" y="5811012"/>
            <a:ext cx="1920240" cy="493775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4165091" y="5829300"/>
            <a:ext cx="184708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5BB5"/>
                </a:solidFill>
                <a:latin typeface="Malgun Gothic"/>
              </a:rPr>
              <a:t>100%  Branch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6140196" y="5554980"/>
            <a:ext cx="1920240" cy="25603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6176772" y="5591556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처리 속도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6140196" y="5811012"/>
            <a:ext cx="1920240" cy="493775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6176772" y="5829300"/>
            <a:ext cx="184708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A8E8"/>
                </a:solidFill>
                <a:latin typeface="Malgun Gothic"/>
              </a:rPr>
              <a:t>&lt; 1 ms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151875" y="5554980"/>
            <a:ext cx="1920240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8188451" y="5591556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시스템 TC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8151875" y="5811012"/>
            <a:ext cx="1920240" cy="493775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8188451" y="5829300"/>
            <a:ext cx="184708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6B35"/>
                </a:solidFill>
                <a:latin typeface="Malgun Gothic"/>
              </a:rPr>
              <a:t>15 건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10163555" y="5554980"/>
            <a:ext cx="1920240" cy="256032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10200131" y="5591556"/>
            <a:ext cx="18470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프레임워크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10163555" y="5811012"/>
            <a:ext cx="1920240" cy="493775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10200131" y="5829300"/>
            <a:ext cx="184708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357E"/>
                </a:solidFill>
                <a:latin typeface="Malgun Gothic"/>
              </a:rPr>
              <a:t>GTest v1.17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0" y="6236208"/>
            <a:ext cx="12188952" cy="292608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91440" y="6263640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MOBIUS BOOTCAMP 1기 | PBL 결과발표 |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669280" cy="246888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기술적 학습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669280" cy="2468880"/>
          </a:xfrm>
          <a:prstGeom prst="roundRect">
            <a:avLst/>
          </a:prstGeom>
          <a:solidFill>
            <a:srgbClr val="FFF8F0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A00"/>
                </a:solidFill>
              </a:defRPr>
            </a:pPr>
            <a:r>
              <a:t>협업 &amp; 프로세스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11338560" cy="2468880"/>
          </a:xfrm>
          <a:prstGeom prst="roundRect">
            <a:avLst/>
          </a:prstGeom>
          <a:solidFill>
            <a:srgbClr val="FFFAF5"/>
          </a:solidFill>
          <a:ln>
            <a:solidFill>
              <a:srgbClr val="C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783C"/>
                </a:solidFill>
              </a:defRPr>
            </a:pPr>
            <a:r>
              <a:t>도전 과제 &amp; 해결 과정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도전 과제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  <a:latin typeface="Malgun Gothic"/>
              </a:rPr>
              <a:t>▸ 과제 1: 복합 센서 예외 조건 (속도 오류+충돌+핸들 동시 입력) 처리 시 상태 충돌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▸ 과제 2: 단위 테스트로 검증 어려운 시스템 수준 통합 시나리오 구축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▸ 과제 3: Door ECU ACK 미수신 상황의 재전송/Fail-Safe 로직 복잡성 증가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389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해결 방법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6634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  <a:latin typeface="Malgun Gothic"/>
              </a:rPr>
              <a:t>▸ 해결 1: CrashSignal &gt; SensorFault &gt; DriverInput &gt; AutoLock 우선순위 Decision Table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▸ 해결 2: GTest Mock으로 ECU 미응답/센서 고장 시나리오 Fault Injection 자동화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▸ 해결 3: 상태 전이 다이어그램(State Diagram)을 코드 구조에 1:1 대응시켜 가독성 확보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1645920"/>
            <a:ext cx="5120640" cy="457200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1737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🔷 TDD 기반 검증 및 커버리지 확보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103120"/>
            <a:ext cx="5120640" cy="3200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28600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algun Gothic"/>
              </a:rPr>
              <a:t>• GTest 프레임워크를 활용하여 각 컴포넌트 단위 TDD 환경 구축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Malgun Gothic"/>
              </a:rPr>
              <a:t>• 극단적인 엣지 케이스 및 경계값 등 다양한 예외 상황 커버리지 증가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Malgun Gothic"/>
              </a:rPr>
              <a:t>• 결함 주입(Fault Injection) 테스트를 통해 방어적 프로그래밍 정착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Malgun Gothic"/>
              </a:rPr>
              <a:t>• 140건의 단위 테스트 통과 및 Branch/Statement 커버리지 100% 모의 달성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645920"/>
            <a:ext cx="5120640" cy="4572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737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🔷 자동화 기반 품질 검증 및 MISRA 준수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103120"/>
            <a:ext cx="5120640" cy="3200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2860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algun Gothic"/>
              </a:rPr>
              <a:t>• GitHub Actions 기반 CI (지속적 통합) 파이프라인 구축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Malgun Gothic"/>
              </a:rPr>
              <a:t>• PR 생성 단계에서 빌드, 테스트, 커버리지, 정적 분석을 자동 수행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329184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57E"/>
                </a:solidFill>
                <a:latin typeface="Malgun Gothic"/>
              </a:rPr>
              <a:t>[Static Analysis]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Malgun Gothic"/>
              </a:rPr>
              <a:t>Cppcheck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57E"/>
                </a:solidFill>
                <a:latin typeface="Malgun Gothic"/>
              </a:rPr>
              <a:t>[Complexity]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Malgun Gothic"/>
              </a:rPr>
              <a:t>Lizard (≤10)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57E"/>
                </a:solidFill>
                <a:latin typeface="Malgun Gothic"/>
              </a:rPr>
              <a:t>[Coverage]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Malgun Gothic"/>
              </a:rPr>
              <a:t>lcov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57E"/>
                </a:solidFill>
                <a:latin typeface="Malgun Gothic"/>
              </a:rPr>
              <a:t>[Code Metrics]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Malgun Gothic"/>
              </a:rPr>
              <a:t>cloc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236208"/>
            <a:ext cx="12188952" cy="292608"/>
          </a:xfrm>
          <a:prstGeom prst="rect">
            <a:avLst/>
          </a:prstGeom>
          <a:solidFill>
            <a:srgbClr val="003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" y="6263640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MOBIUS BOOTCAMP 1기 | PBL 결과발표 | 8/10</a:t>
            </a:r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08. 향후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3385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0515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2423160"/>
            <a:ext cx="320040" cy="32004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1단계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000">
                <a:latin typeface="Malgun Gothic"/>
              </a:rPr>
              <a:t>CAN / CAN-FD 기반 도어 ECU 실시간 제어
다중 제어기 통합 시그널 최적화 연동
★ 차량 네트워크 통신 스택 통합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다중 제어기 통합 시그널 최적화 연동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0" y="2423160"/>
            <a:ext cx="320040" cy="32004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2단계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000">
                <a:latin typeface="Malgun Gothic"/>
              </a:rPr>
              <a:t>LiDAR / Radar 복합 센서 데이터 퓨전
TTC(Time-to-Collision) 기반 위험도 고도화
★ 오탐률 최소화 히스테리시스 알고리즘 고도화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결합 시나리오 확장 및 판단 신뢰성 증대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0" y="2423160"/>
            <a:ext cx="320040" cy="32004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3단계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000">
                <a:latin typeface="Malgun Gothic"/>
              </a:rPr>
              <a:t>도어 제어 ECU 타겟 하드웨어 포팅 (AUTOSAR RTE)
HIL(Hardware-in-the-Loop) 환경 검증
★ ISO 26262 ASIL B 인증 준비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제어기 로직 고도화 적용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14800"/>
            <a:ext cx="5486400" cy="2194560"/>
          </a:xfrm>
          <a:prstGeom prst="roundRect">
            <a:avLst/>
          </a:prstGeom>
          <a:solidFill>
            <a:srgbClr val="F0FFF0"/>
          </a:solidFill>
          <a:ln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C8C3C"/>
                </a:solidFill>
              </a:defRPr>
            </a:pPr>
            <a:r>
              <a:t>실무 적용 가능성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634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57E"/>
                </a:solidFill>
                <a:latin typeface="Malgun Gothic"/>
              </a:rPr>
              <a:t>🚗 현대모비스 차세대 통합 하차 안전 제어기 모듈 적용 가능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• 기존 기계식 차일드 락 대체 → 비용 절감 + 안전성 향상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• ASIL B 인증으로 글로벌 완성차 OEM 납품 가능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• V2X 연동 확장 시 원격 잠금/해제 상업화 가능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114800"/>
            <a:ext cx="5669280" cy="2194560"/>
          </a:xfrm>
          <a:prstGeom prst="roundRect">
            <a:avLst/>
          </a:prstGeom>
          <a:solidFill>
            <a:srgbClr val="F8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추가 개발 아이디어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6634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5BB5"/>
                </a:solidFill>
                <a:latin typeface="Malgun Gothic"/>
              </a:rPr>
              <a:t>💡 아이디어 1: BLE 스마트폰 앱 연동 강제 오버라이드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 • 부모 앱에서 원격 잠금/해제 + 긴급 해제 알림</a:t>
            </a:r>
          </a:p>
          <a:p>
            <a:r>
              <a:rPr sz="1100" b="1">
                <a:solidFill>
                  <a:srgbClr val="005BB5"/>
                </a:solidFill>
                <a:latin typeface="Malgun Gothic"/>
              </a:rPr>
              <a:t>💡 아이디어 2: AI 기반 영유아 방치 감지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 • 좌석 점유 + 온도 + 시간 복합 분석 → 방치 사고 예방</a:t>
            </a:r>
          </a:p>
          <a:p>
            <a:r>
              <a:rPr sz="1100" b="1">
                <a:solidFill>
                  <a:srgbClr val="005BB5"/>
                </a:solidFill>
                <a:latin typeface="Malgun Gothic"/>
              </a:rPr>
              <a:t>💡 아이디어 3: OTA 업데이트로 임계값 동적 조정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 • Safety Goal 변경 없이 파라미터($UNLOCK_INHIBIT_SPEED 등) 업데이트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747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4C8DC"/>
                </a:solidFill>
              </a:defRPr>
            </a:pPr>
            <a:r>
              <a:t>질문과 답변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전차 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48640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C8DC"/>
                </a:solidFill>
              </a:defRPr>
            </a:pPr>
            <a:r>
              <a:t>감사합니다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6AABE"/>
                </a:solidFill>
              </a:defRPr>
            </a:pPr>
            <a:r>
              <a:t>MOBIUS BOOTCAMP 1기 | 현대모비스 x LIKELION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916</ep:Words>
  <ep:PresentationFormat>On-screen Show (4:3)</ep:PresentationFormat>
  <ep:Paragraphs>251</ep:Paragraphs>
  <ep:Slides>10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ep:HeadingPairs>
  <ep:TitlesOfParts>
    <vt:vector size="11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fish0</cp:lastModifiedBy>
  <dcterms:modified xsi:type="dcterms:W3CDTF">2026-03-22T16:09:27.362</dcterms:modified>
  <cp:revision>13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