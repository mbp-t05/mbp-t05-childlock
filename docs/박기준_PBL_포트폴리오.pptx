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274320"/>
            <a:ext cx="3657600" cy="3657600"/>
          </a:xfrm>
          <a:prstGeom prst="ellipse">
            <a:avLst/>
          </a:prstGeom>
          <a:solidFill>
            <a:srgbClr val="1A2B4A"/>
          </a:solidFill>
          <a:ln w="19050">
            <a:solidFill>
              <a:srgbClr val="25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4114800"/>
            <a:ext cx="2743200" cy="2743200"/>
          </a:xfrm>
          <a:prstGeom prst="ellipse">
            <a:avLst/>
          </a:prstGeom>
          <a:solidFill>
            <a:srgbClr val="1A2B4A"/>
          </a:solidFill>
          <a:ln w="19050">
            <a:solidFill>
              <a:srgbClr val="25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926080" cy="36576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64208"/>
            <a:ext cx="29260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38BDF8"/>
                </a:solidFill>
                <a:latin typeface="맑은 고딕"/>
              </a:defRPr>
            </a:pPr>
            <a:r>
              <a:t>MOBIUS BOOTCAMP 1기  |  PBL 프로젝트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731520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ISO 26262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3600" b="1">
                <a:solidFill>
                  <a:srgbClr val="38BDF8"/>
                </a:solidFill>
                <a:latin typeface="맑은 고딕"/>
              </a:defRPr>
            </a:pPr>
            <a:r>
              <a:t>Child Lock SW 시뮬레이션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2800" b="0">
                <a:solidFill>
                  <a:srgbClr val="94A3B8"/>
                </a:solidFill>
                <a:latin typeface="맑은 고딕"/>
              </a:defRPr>
            </a:pPr>
            <a:r>
              <a:t>PBL 포트폴리오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48056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709160"/>
            <a:ext cx="5486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박기준  (팀장)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PM &amp; Safety Module Developer  |  F-07 · F-08 개발  |  @PKJthecreator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4572000"/>
            <a:ext cx="3291840" cy="137160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5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4663440"/>
            <a:ext cx="292608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팀명: 전차 (전자식 차일드락)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프로젝트 기간: 2026.02 ~ 2026.03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현대모비스 x LIKELION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38BDF8"/>
                </a:solidFill>
                <a:latin typeface="맑은 고딕"/>
              </a:defRPr>
            </a:pPr>
            <a:r>
              <a:t>Tech: C11/C++17 · GTest · GitHub Actions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E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2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01. 프로젝트 개요 및 나의 역할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5120640" cy="475488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5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4663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38BDF8"/>
                </a:solidFill>
                <a:latin typeface="맑은 고딕"/>
              </a:defRPr>
            </a:pPr>
            <a:r>
              <a:t>🎯 프로젝트 목표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627632"/>
            <a:ext cx="13716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466344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ISO 26262 기능 안전을 준수하면서, 승객의 편의성과 하차 안전을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모두 충족하는 지능형 차일드 락 제어 시스템을 설계·구현·검증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600" b="0">
                <a:solidFill>
                  <a:srgbClr val="94A3B8"/>
                </a:solidFill>
                <a:latin typeface="맑은 고딕"/>
              </a:defRPr>
            </a:pPr>
          </a:p>
          <a:p>
            <a:pPr algn="l"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▪ FG-01: 도어 잠금/해제 (속도·충돌 기반 자동 제어)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▪ FG-02: 하차 안전 보조 (후방 위험 연동 + 점유 알림)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▪ V-모델 | SRS ↔ SDD ↔ Code ↔ Test 양방향 추적성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657600"/>
            <a:ext cx="4663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38BDF8"/>
                </a:solidFill>
                <a:latin typeface="맑은 고딕"/>
              </a:defRPr>
            </a:pPr>
            <a:r>
              <a:t>👤 나의 역할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4050791"/>
            <a:ext cx="137160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206240"/>
            <a:ext cx="466344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✦  PM (프로젝트 매니저) 총괄 — 일정·이슈·PR 관리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✦  F-07 RearRiskEvaluation 모듈 설계 및 구현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✦  F-08 RearRiskProtectionController 모듈 설계 및 구현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✦  ASIL B 등급 안전 요구사항 기반 핵심 로직 개발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1097280"/>
            <a:ext cx="4846320" cy="132588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60720" y="1097280"/>
            <a:ext cx="63500" cy="13258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9320" y="1188720"/>
            <a:ext cx="448056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500"/>
              </a:spcAft>
              <a:defRPr sz="1400" b="1">
                <a:solidFill>
                  <a:srgbClr val="8B5CF6"/>
                </a:solidFill>
                <a:latin typeface="맑은 고딕"/>
              </a:defRPr>
            </a:pPr>
            <a:r>
              <a:t>PM / 프로젝트 총괄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• 전체 Issues 생성 및 관리 (Issue #4 ~ #13)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• PR Review &amp; 브랜치 전략 통합 관리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• 팀원 역할 분배 및 A-SPICE 프로세스 총괄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0" y="2606040"/>
            <a:ext cx="4846320" cy="150876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60720" y="2606040"/>
            <a:ext cx="63500" cy="1508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89320" y="2697480"/>
            <a:ext cx="448056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500"/>
              </a:spcAft>
              <a:defRPr sz="1400" b="1">
                <a:solidFill>
                  <a:srgbClr val="38BDF8"/>
                </a:solidFill>
                <a:latin typeface="맑은 고딕"/>
              </a:defRPr>
            </a:pPr>
            <a:r>
              <a:t>F-07 RearRiskEvaluation  (PR #15)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• 후방 접근 객체 거리·속도·신뢰도 기반 위험 판단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• 히스테리시스(Hysteresis) 로직 — 경계값 떨림 방지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• 센서 고장 Fail-Safe: FAULT_FLAG 출력 → F-08 연동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10B981"/>
                </a:solidFill>
                <a:latin typeface="맑은 고딕"/>
              </a:defRPr>
            </a:pPr>
            <a:r>
              <a:t>• ASIL B 등급 | MISRA C:2012 준수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60720" y="4297680"/>
            <a:ext cx="4846320" cy="150876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60720" y="4297680"/>
            <a:ext cx="63500" cy="1508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89320" y="4389120"/>
            <a:ext cx="448056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500"/>
              </a:spcAft>
              <a:defRPr sz="1400" b="1">
                <a:solidFill>
                  <a:srgbClr val="10B981"/>
                </a:solidFill>
                <a:latin typeface="맑은 고딕"/>
              </a:defRPr>
            </a:pPr>
            <a:r>
              <a:t>F-08 RearRiskProtectionController  (PR #16)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• F-07 평가 결과 기반 보호 액션 실행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• 위험 HIGH → CL 강제 ON + 경고음 + 이벤트 로그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• 센서 고장 → SAFE_LOCKED 정책 적용 (SDD 5.2.3)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10B981"/>
                </a:solidFill>
                <a:latin typeface="맑은 고딕"/>
              </a:defRPr>
            </a:pPr>
            <a:r>
              <a:t>• ASIL B 등급 | Defensive Programming 적용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080760"/>
            <a:ext cx="10241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MOBIUS BOOTCAMP 1기 | PBL 포트폴리오 | 박기준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E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2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02. 핵심 설계 — F-07 / F-08 아키텍처 흐름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51560"/>
            <a:ext cx="5303520" cy="484632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5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4937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38BDF8"/>
                </a:solidFill>
                <a:latin typeface="맑은 고딕"/>
              </a:defRPr>
            </a:pPr>
            <a:r>
              <a:t>데이터 흐름 및 판단 로직 (F-07 → F-08)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81328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691640"/>
            <a:ext cx="1371600" cy="548640"/>
          </a:xfrm>
          <a:prstGeom prst="roundRect">
            <a:avLst/>
          </a:prstGeom>
          <a:solidFill>
            <a:srgbClr val="1E3A5F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19072"/>
            <a:ext cx="12801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400"/>
              </a:spcAft>
              <a:defRPr sz="900" b="1">
                <a:solidFill>
                  <a:srgbClr val="38BDF8"/>
                </a:solidFill>
                <a:latin typeface="맑은 고딕"/>
              </a:defRPr>
            </a:pPr>
            <a:r>
              <a:t>[인지] 센서 입력</a:t>
            </a:r>
          </a:p>
          <a:p>
            <a:pPr algn="ctr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거리 · 속도 · 신뢰도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920240" y="1828800"/>
            <a:ext cx="320040" cy="22860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331720" y="1691640"/>
            <a:ext cx="1463040" cy="548640"/>
          </a:xfrm>
          <a:prstGeom prst="roundRect">
            <a:avLst/>
          </a:prstGeom>
          <a:solidFill>
            <a:srgbClr val="1E3A5F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1719072"/>
            <a:ext cx="1371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400"/>
              </a:spcAft>
              <a:defRPr sz="900" b="1">
                <a:solidFill>
                  <a:srgbClr val="38BDF8"/>
                </a:solidFill>
                <a:latin typeface="맑은 고딕"/>
              </a:defRPr>
            </a:pPr>
            <a:r>
              <a:t>[판단] F-07</a:t>
            </a:r>
          </a:p>
          <a:p>
            <a:pPr algn="ctr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위험 평가 + Hysteresis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886200" y="1828800"/>
            <a:ext cx="320040" cy="22860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97680" y="1691640"/>
            <a:ext cx="1188720" cy="548640"/>
          </a:xfrm>
          <a:prstGeom prst="roundRect">
            <a:avLst/>
          </a:prstGeom>
          <a:solidFill>
            <a:srgbClr val="1E3A5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1719072"/>
            <a:ext cx="10972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400"/>
              </a:spcAft>
              <a:defRPr sz="900" b="1">
                <a:solidFill>
                  <a:srgbClr val="10B981"/>
                </a:solidFill>
                <a:latin typeface="맑은 고딕"/>
              </a:defRPr>
            </a:pPr>
            <a:r>
              <a:t>[제어] F-08</a:t>
            </a:r>
          </a:p>
          <a:p>
            <a:pPr algn="ctr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Child Lock Motor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2560320"/>
            <a:ext cx="2011680" cy="502920"/>
          </a:xfrm>
          <a:prstGeom prst="roundRect">
            <a:avLst/>
          </a:prstGeom>
          <a:solidFill>
            <a:srgbClr val="2D1B4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2578608"/>
            <a:ext cx="19202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8B5CF6"/>
                </a:solidFill>
                <a:latin typeface="맑은 고딕"/>
              </a:defRPr>
            </a:pPr>
            <a:r>
              <a:t>⬦ 센서 정상? (riskValid)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072384"/>
            <a:ext cx="457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1">
                <a:solidFill>
                  <a:srgbClr val="22C55E"/>
                </a:solidFill>
                <a:latin typeface="맑은 고딕"/>
              </a:defRPr>
            </a:pPr>
            <a:r>
              <a:t>Yes 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2624328"/>
            <a:ext cx="3200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1">
                <a:solidFill>
                  <a:srgbClr val="EF4444"/>
                </a:solidFill>
                <a:latin typeface="맑은 고딕"/>
              </a:defRPr>
            </a:pPr>
            <a:r>
              <a:t>No 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11880" y="2514600"/>
            <a:ext cx="1737360" cy="594360"/>
          </a:xfrm>
          <a:prstGeom prst="roundRect">
            <a:avLst/>
          </a:prstGeom>
          <a:solidFill>
            <a:srgbClr val="4A1515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2542032"/>
            <a:ext cx="16459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EF4444"/>
                </a:solidFill>
                <a:latin typeface="맑은 고딕"/>
              </a:defRPr>
            </a:pPr>
            <a:r>
              <a:t>SAFE_LOCKED</a:t>
            </a:r>
          </a:p>
          <a:p>
            <a:pPr algn="ctr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CBD5E1"/>
                </a:solidFill>
                <a:latin typeface="맑은 고딕"/>
              </a:defRPr>
            </a:pPr>
            <a:r>
              <a:t>강제 잠금 + 경고음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383280"/>
            <a:ext cx="2743200" cy="731520"/>
          </a:xfrm>
          <a:prstGeom prst="roundRect">
            <a:avLst/>
          </a:prstGeom>
          <a:solidFill>
            <a:srgbClr val="2D1B4E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401568"/>
            <a:ext cx="265176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F5A623"/>
                </a:solidFill>
                <a:latin typeface="맑은 고딕"/>
              </a:defRPr>
            </a:pPr>
            <a:r>
              <a:t>⬦ 위험 감지?</a:t>
            </a:r>
          </a:p>
          <a:p>
            <a:pPr algn="ctr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Dist ≤ THRESH  &amp;&amp;  Spd ≥ THRESH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3429000"/>
            <a:ext cx="3657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1">
                <a:solidFill>
                  <a:srgbClr val="EF4444"/>
                </a:solidFill>
                <a:latin typeface="맑은 고딕"/>
              </a:defRPr>
            </a:pPr>
            <a:r>
              <a:t>Yes 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31920" y="3383280"/>
            <a:ext cx="1417320" cy="502920"/>
          </a:xfrm>
          <a:prstGeom prst="roundRect">
            <a:avLst/>
          </a:prstGeom>
          <a:solidFill>
            <a:srgbClr val="4A3005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77639" y="3401568"/>
            <a:ext cx="13258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F5A623"/>
                </a:solidFill>
                <a:latin typeface="맑은 고딕"/>
              </a:defRPr>
            </a:pPr>
            <a:r>
              <a:t>위험 (Risk HIGH)</a:t>
            </a:r>
          </a:p>
          <a:p>
            <a:pPr algn="ctr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CBD5E1"/>
                </a:solidFill>
                <a:latin typeface="맑은 고딕"/>
              </a:defRPr>
            </a:pPr>
            <a:r>
              <a:t>잠금 유지 + 경고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4114800"/>
            <a:ext cx="3657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1">
                <a:solidFill>
                  <a:srgbClr val="22C55E"/>
                </a:solidFill>
                <a:latin typeface="맑은 고딕"/>
              </a:defRPr>
            </a:pPr>
            <a:r>
              <a:t>No 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5840" y="4434840"/>
            <a:ext cx="2194560" cy="640080"/>
          </a:xfrm>
          <a:prstGeom prst="roundRect">
            <a:avLst/>
          </a:prstGeom>
          <a:solidFill>
            <a:srgbClr val="053A2E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4462272"/>
            <a:ext cx="210312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22C55E"/>
                </a:solidFill>
                <a:latin typeface="맑은 고딕"/>
              </a:defRPr>
            </a:pPr>
            <a:r>
              <a:t>✔ 안전 (Safe)</a:t>
            </a:r>
          </a:p>
          <a:p>
            <a:pPr algn="ctr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CBD5E1"/>
                </a:solidFill>
                <a:latin typeface="맑은 고딕"/>
              </a:defRPr>
            </a:pPr>
            <a:r>
              <a:t>잠금 해제 허용 (하차 가능)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212080"/>
            <a:ext cx="4937760" cy="594360"/>
          </a:xfrm>
          <a:prstGeom prst="roundRect">
            <a:avLst/>
          </a:prstGeom>
          <a:solidFill>
            <a:srgbClr val="1A253E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239512"/>
            <a:ext cx="46634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CBD5E1"/>
                </a:solidFill>
                <a:latin typeface="맑은 고딕"/>
              </a:defRPr>
            </a:pPr>
            <a:r>
              <a:t>💡 Hysteresis 로직: 위험 확정 200ms 이상 지속 / 해제 확정 500ms 이상 안전 유지 → 경계값 떨림 방지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06440" y="1051560"/>
            <a:ext cx="5029200" cy="484632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5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89320" y="1143000"/>
            <a:ext cx="4663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38BDF8"/>
                </a:solidFill>
                <a:latin typeface="맑은 고딕"/>
              </a:defRPr>
            </a:pPr>
            <a:r>
              <a:t>핵심 ASIL B 로직 (F-07 / F-08 C 코드)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89320" y="1481328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897880" y="1645920"/>
            <a:ext cx="4846320" cy="4160520"/>
          </a:xfrm>
          <a:prstGeom prst="roundRect">
            <a:avLst/>
          </a:prstGeom>
          <a:solidFill>
            <a:srgbClr val="0D111E"/>
          </a:solidFill>
          <a:ln w="9525">
            <a:solidFill>
              <a:srgbClr val="2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35040" y="1737360"/>
            <a:ext cx="4572000" cy="3931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A0E8A0"/>
                </a:solidFill>
                <a:latin typeface="Consolas"/>
              </a:defRPr>
            </a:pPr>
            <a:r>
              <a:t>/* F-07: Rear Risk Evaluation */</a:t>
            </a:r>
            <a:br/>
            <a:r>
              <a:t>static bool isRawThreatActive(</a:t>
            </a:r>
            <a:br/>
            <a:r>
              <a:t>    const RearRiskInput_t *input)</a:t>
            </a:r>
            <a:br/>
            <a:r>
              <a:t>{</a:t>
            </a:r>
            <a:br/>
            <a:r>
              <a:t>  const bool isClose =</a:t>
            </a:r>
            <a:br/>
            <a:r>
              <a:t>    (input-&gt;distanceM &lt;= THRESH);</a:t>
            </a:r>
            <a:br/>
            <a:r>
              <a:t>  const bool isFast =</a:t>
            </a:r>
            <a:br/>
            <a:r>
              <a:t>    (input-&gt;relSpeedMps &gt;= THRESH);</a:t>
            </a:r>
            <a:br/>
            <a:r>
              <a:t>  return (isClose &amp;&amp; isFast);</a:t>
            </a:r>
            <a:br/>
            <a:r>
              <a:t>}</a:t>
            </a:r>
            <a:br/>
            <a:br/>
            <a:r>
              <a:t>/* F-07: Hysteresis Logic */</a:t>
            </a:r>
            <a:br/>
            <a:r>
              <a:t>static void updateHysteresis(ctx, raw, ms)</a:t>
            </a:r>
            <a:br/>
            <a:r>
              <a:t>{</a:t>
            </a:r>
            <a:br/>
            <a:r>
              <a:t>  if (raw) {  // 위험 지속</a:t>
            </a:r>
            <a:br/>
            <a:r>
              <a:t>    if (elapsed &gt;= CONFIRM_MS)</a:t>
            </a:r>
            <a:br/>
            <a:r>
              <a:t>      ctx-&gt;isRiskHighActive = true;</a:t>
            </a:r>
            <a:br/>
            <a:r>
              <a:t>  } else {    // 안전 지속</a:t>
            </a:r>
            <a:br/>
            <a:r>
              <a:t>    if (elapsed &gt;= CLEAR_MS)</a:t>
            </a:r>
            <a:br/>
            <a:r>
              <a:t>      ctx-&gt;isRiskHighActive = false;</a:t>
            </a:r>
            <a:br/>
            <a:r>
              <a:t>  }</a:t>
            </a:r>
            <a:br/>
            <a:r>
              <a:t>}</a:t>
            </a:r>
            <a:br/>
            <a:br/>
            <a:r>
              <a:t>/* F-08: Protection Controller */</a:t>
            </a:r>
            <a:br/>
            <a:r>
              <a:t>void F08_Run(const Input_t *in,</a:t>
            </a:r>
            <a:br/>
            <a:r>
              <a:t>             Output_t *out)</a:t>
            </a:r>
            <a:br/>
            <a:r>
              <a:t>{</a:t>
            </a:r>
            <a:br/>
            <a:r>
              <a:t>  if (!in-&gt;riskValid) { // 센서 오류</a:t>
            </a:r>
            <a:br/>
            <a:r>
              <a:t>    out-&gt;targetCLState = CL_STATE_ON;</a:t>
            </a:r>
            <a:br/>
            <a:r>
              <a:t>    out-&gt;warningSound  = true;</a:t>
            </a:r>
            <a:br/>
            <a:r>
              <a:t>    out-&gt;eventLog      = true;</a:t>
            </a:r>
            <a:br/>
            <a:r>
              <a:t>  }</a:t>
            </a:r>
            <a:br/>
            <a:r>
              <a:t>  else if (in-&gt;riskHigh) { // 위험 HIGH</a:t>
            </a:r>
            <a:br/>
            <a:r>
              <a:t>    out-&gt;targetCLState = CL_STATE_ON;</a:t>
            </a:r>
            <a:br/>
            <a:r>
              <a:t>    out-&gt;warningSound  = true;</a:t>
            </a:r>
            <a:br/>
            <a:r>
              <a:t>    out-&gt;eventLog      = true;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080760"/>
            <a:ext cx="10241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MOBIUS BOOTCAMP 1기 | PBL 포트폴리오 | 박기준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E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2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03. 테스트 · 검증 및 품질 성과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97280"/>
            <a:ext cx="1965960" cy="123444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196596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178308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38BDF8"/>
                </a:solidFill>
                <a:latin typeface="맑은 고딕"/>
              </a:defRPr>
            </a:pPr>
            <a:r>
              <a:t>140건</a:t>
            </a:r>
          </a:p>
          <a:p>
            <a:pPr algn="ctr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단위 테스트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1097280"/>
            <a:ext cx="1965960" cy="123444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377440" y="1097280"/>
            <a:ext cx="196596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1234440"/>
            <a:ext cx="178308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10B981"/>
                </a:solidFill>
                <a:latin typeface="맑은 고딕"/>
              </a:defRPr>
            </a:pPr>
            <a:r>
              <a:t>100%</a:t>
            </a:r>
          </a:p>
          <a:p>
            <a:pPr algn="ctr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테스트 통과율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097280"/>
            <a:ext cx="1965960" cy="123444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1097280"/>
            <a:ext cx="196596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234440"/>
            <a:ext cx="178308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8B5CF6"/>
                </a:solidFill>
                <a:latin typeface="맑은 고딕"/>
              </a:defRPr>
            </a:pPr>
            <a:r>
              <a:t>100%</a:t>
            </a:r>
          </a:p>
          <a:p>
            <a:pPr algn="ctr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Branch Coverage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1097280"/>
            <a:ext cx="1965960" cy="123444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0" y="1097280"/>
            <a:ext cx="1965960" cy="50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1234440"/>
            <a:ext cx="178308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F5A623"/>
                </a:solidFill>
                <a:latin typeface="맑은 고딕"/>
              </a:defRPr>
            </a:pPr>
            <a:r>
              <a:t>&lt; 1 ms</a:t>
            </a:r>
          </a:p>
          <a:p>
            <a:pPr algn="ctr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처리 속도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0" y="1097280"/>
            <a:ext cx="1965960" cy="123444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0" y="1097280"/>
            <a:ext cx="1965960" cy="508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0" y="1234440"/>
            <a:ext cx="178308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EC4899"/>
                </a:solidFill>
                <a:latin typeface="맑은 고딕"/>
              </a:defRPr>
            </a:pPr>
            <a:r>
              <a:t>≤ 10</a:t>
            </a:r>
          </a:p>
          <a:p>
            <a:pPr algn="ctr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Cyclomatic Complexity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560320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38BDF8"/>
                </a:solidFill>
                <a:latin typeface="맑은 고딕"/>
              </a:defRPr>
            </a:pPr>
            <a:r>
              <a:t>📋 F-07 / F-08 관련 주요 테스트 케이스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926080"/>
            <a:ext cx="914400" cy="320040"/>
          </a:xfrm>
          <a:prstGeom prst="rect">
            <a:avLst/>
          </a:prstGeom>
          <a:solidFill>
            <a:srgbClr val="1E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2926080"/>
            <a:ext cx="9144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Test ID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80160" y="2926080"/>
            <a:ext cx="3840480" cy="320040"/>
          </a:xfrm>
          <a:prstGeom prst="rect">
            <a:avLst/>
          </a:prstGeom>
          <a:solidFill>
            <a:srgbClr val="1E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80160" y="2926080"/>
            <a:ext cx="384048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테스트 항목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0" y="2926080"/>
            <a:ext cx="548640" cy="320040"/>
          </a:xfrm>
          <a:prstGeom prst="rect">
            <a:avLst/>
          </a:prstGeom>
          <a:solidFill>
            <a:srgbClr val="1E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0" y="2926080"/>
            <a:ext cx="54864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기법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0" y="2926080"/>
            <a:ext cx="731520" cy="320040"/>
          </a:xfrm>
          <a:prstGeom prst="rect">
            <a:avLst/>
          </a:prstGeom>
          <a:solidFill>
            <a:srgbClr val="1E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0" y="2926080"/>
            <a:ext cx="731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ASIL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255264"/>
            <a:ext cx="914400" cy="27432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3255264"/>
            <a:ext cx="914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800" b="0">
                <a:solidFill>
                  <a:srgbClr val="38BDF8"/>
                </a:solidFill>
                <a:latin typeface="Consolas"/>
              </a:defRPr>
            </a:pPr>
            <a:r>
              <a:t>TC-004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280160" y="3255264"/>
            <a:ext cx="3840480" cy="27432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71600" y="3255264"/>
            <a:ext cx="36576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800" b="0">
                <a:solidFill>
                  <a:srgbClr val="CBD5E1"/>
                </a:solidFill>
                <a:latin typeface="맑은 고딕"/>
              </a:defRPr>
            </a:pPr>
            <a:r>
              <a:t>주행 중 해제 차단 — 3.0km/h (On-limit)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20640" y="3255264"/>
            <a:ext cx="548640" cy="27432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20640" y="3255264"/>
            <a:ext cx="5486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BVA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0" y="3255264"/>
            <a:ext cx="731520" cy="27432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0" y="3255264"/>
            <a:ext cx="7315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800" b="1">
                <a:solidFill>
                  <a:srgbClr val="EF4444"/>
                </a:solidFill>
                <a:latin typeface="맑은 고딕"/>
              </a:defRPr>
            </a:pPr>
            <a:r>
              <a:t>ASIL 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547872"/>
            <a:ext cx="914400" cy="274320"/>
          </a:xfrm>
          <a:prstGeom prst="rect">
            <a:avLst/>
          </a:prstGeom>
          <a:solidFill>
            <a:srgbClr val="1C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3547872"/>
            <a:ext cx="914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800" b="0">
                <a:solidFill>
                  <a:srgbClr val="38BDF8"/>
                </a:solidFill>
                <a:latin typeface="Consolas"/>
              </a:defRPr>
            </a:pPr>
            <a:r>
              <a:t>TC-005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80160" y="3547872"/>
            <a:ext cx="3840480" cy="274320"/>
          </a:xfrm>
          <a:prstGeom prst="rect">
            <a:avLst/>
          </a:prstGeom>
          <a:solidFill>
            <a:srgbClr val="1C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371600" y="3547872"/>
            <a:ext cx="36576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800" b="0">
                <a:solidFill>
                  <a:srgbClr val="CBD5E1"/>
                </a:solidFill>
                <a:latin typeface="맑은 고딕"/>
              </a:defRPr>
            </a:pPr>
            <a:r>
              <a:t>주행 중 해제 허용 — 2.9km/h (Off-limit)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20640" y="3547872"/>
            <a:ext cx="548640" cy="274320"/>
          </a:xfrm>
          <a:prstGeom prst="rect">
            <a:avLst/>
          </a:prstGeom>
          <a:solidFill>
            <a:srgbClr val="1C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20640" y="3547872"/>
            <a:ext cx="5486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BVA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0" y="3547872"/>
            <a:ext cx="731520" cy="274320"/>
          </a:xfrm>
          <a:prstGeom prst="rect">
            <a:avLst/>
          </a:prstGeom>
          <a:solidFill>
            <a:srgbClr val="1C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69280" y="3547872"/>
            <a:ext cx="7315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800" b="1">
                <a:solidFill>
                  <a:srgbClr val="EF4444"/>
                </a:solidFill>
                <a:latin typeface="맑은 고딕"/>
              </a:defRPr>
            </a:pPr>
            <a:r>
              <a:t>ASIL B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840480"/>
            <a:ext cx="914400" cy="27432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3840480"/>
            <a:ext cx="914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800" b="0">
                <a:solidFill>
                  <a:srgbClr val="38BDF8"/>
                </a:solidFill>
                <a:latin typeface="Consolas"/>
              </a:defRPr>
            </a:pPr>
            <a:r>
              <a:t>TC-009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280160" y="3840480"/>
            <a:ext cx="3840480" cy="27432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371600" y="3840480"/>
            <a:ext cx="36576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800" b="0">
                <a:solidFill>
                  <a:srgbClr val="CBD5E1"/>
                </a:solidFill>
                <a:latin typeface="맑은 고딕"/>
              </a:defRPr>
            </a:pPr>
            <a:r>
              <a:t>충돌 시 비상 해제 (복합조건 = True)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20640" y="3840480"/>
            <a:ext cx="548640" cy="27432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120640" y="3840480"/>
            <a:ext cx="5486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DT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0" y="3840480"/>
            <a:ext cx="731520" cy="27432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69280" y="3840480"/>
            <a:ext cx="7315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800" b="1">
                <a:solidFill>
                  <a:srgbClr val="EF4444"/>
                </a:solidFill>
                <a:latin typeface="맑은 고딕"/>
              </a:defRPr>
            </a:pPr>
            <a:r>
              <a:t>ASIL B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4133088"/>
            <a:ext cx="914400" cy="274320"/>
          </a:xfrm>
          <a:prstGeom prst="rect">
            <a:avLst/>
          </a:prstGeom>
          <a:solidFill>
            <a:srgbClr val="1C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4133088"/>
            <a:ext cx="914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800" b="0">
                <a:solidFill>
                  <a:srgbClr val="38BDF8"/>
                </a:solidFill>
                <a:latin typeface="Consolas"/>
              </a:defRPr>
            </a:pPr>
            <a:r>
              <a:t>TC-010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280160" y="4133088"/>
            <a:ext cx="3840480" cy="274320"/>
          </a:xfrm>
          <a:prstGeom prst="rect">
            <a:avLst/>
          </a:prstGeom>
          <a:solidFill>
            <a:srgbClr val="1C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371600" y="4133088"/>
            <a:ext cx="36576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800" b="0">
                <a:solidFill>
                  <a:srgbClr val="CBD5E1"/>
                </a:solidFill>
                <a:latin typeface="맑은 고딕"/>
              </a:defRPr>
            </a:pPr>
            <a:r>
              <a:t>충돌 단일조건 무시 (오동작 방지)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120640" y="4133088"/>
            <a:ext cx="548640" cy="274320"/>
          </a:xfrm>
          <a:prstGeom prst="rect">
            <a:avLst/>
          </a:prstGeom>
          <a:solidFill>
            <a:srgbClr val="1C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120640" y="4133088"/>
            <a:ext cx="5486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DT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69280" y="4133088"/>
            <a:ext cx="731520" cy="274320"/>
          </a:xfrm>
          <a:prstGeom prst="rect">
            <a:avLst/>
          </a:prstGeom>
          <a:solidFill>
            <a:srgbClr val="1C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669280" y="4133088"/>
            <a:ext cx="7315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800" b="1">
                <a:solidFill>
                  <a:srgbClr val="EF4444"/>
                </a:solidFill>
                <a:latin typeface="맑은 고딕"/>
              </a:defRPr>
            </a:pPr>
            <a:r>
              <a:t>ASIL B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425696"/>
            <a:ext cx="914400" cy="27432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425696"/>
            <a:ext cx="914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800" b="0">
                <a:solidFill>
                  <a:srgbClr val="38BDF8"/>
                </a:solidFill>
                <a:latin typeface="Consolas"/>
              </a:defRPr>
            </a:pPr>
            <a:r>
              <a:t>TC-012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280160" y="4425696"/>
            <a:ext cx="3840480" cy="27432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371600" y="4425696"/>
            <a:ext cx="36576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800" b="0">
                <a:solidFill>
                  <a:srgbClr val="CBD5E1"/>
                </a:solidFill>
                <a:latin typeface="맑은 고딕"/>
              </a:defRPr>
            </a:pPr>
            <a:r>
              <a:t>후방 객체(거리/속도/시간) 복합 감지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120640" y="4425696"/>
            <a:ext cx="548640" cy="27432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120640" y="4425696"/>
            <a:ext cx="5486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PW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669280" y="4425696"/>
            <a:ext cx="731520" cy="27432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669280" y="4425696"/>
            <a:ext cx="7315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800" b="1">
                <a:solidFill>
                  <a:srgbClr val="94A3B8"/>
                </a:solidFill>
                <a:latin typeface="맑은 고딕"/>
              </a:defRPr>
            </a:pPr>
            <a:r>
              <a:t>QM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65760" y="4718304"/>
            <a:ext cx="914400" cy="274320"/>
          </a:xfrm>
          <a:prstGeom prst="rect">
            <a:avLst/>
          </a:prstGeom>
          <a:solidFill>
            <a:srgbClr val="1C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5760" y="4718304"/>
            <a:ext cx="914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800" b="0">
                <a:solidFill>
                  <a:srgbClr val="38BDF8"/>
                </a:solidFill>
                <a:latin typeface="Consolas"/>
              </a:defRPr>
            </a:pPr>
            <a:r>
              <a:t>TC-013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280160" y="4718304"/>
            <a:ext cx="3840480" cy="274320"/>
          </a:xfrm>
          <a:prstGeom prst="rect">
            <a:avLst/>
          </a:prstGeom>
          <a:solidFill>
            <a:srgbClr val="1C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371600" y="4718304"/>
            <a:ext cx="36576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800" b="0">
                <a:solidFill>
                  <a:srgbClr val="CBD5E1"/>
                </a:solidFill>
                <a:latin typeface="맑은 고딕"/>
              </a:defRPr>
            </a:pPr>
            <a:r>
              <a:t>후방 센서 노이즈/반복 경고 히스테리시스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120640" y="4718304"/>
            <a:ext cx="548640" cy="274320"/>
          </a:xfrm>
          <a:prstGeom prst="rect">
            <a:avLst/>
          </a:prstGeom>
          <a:solidFill>
            <a:srgbClr val="1C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120640" y="4718304"/>
            <a:ext cx="5486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EP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669280" y="4718304"/>
            <a:ext cx="731520" cy="274320"/>
          </a:xfrm>
          <a:prstGeom prst="rect">
            <a:avLst/>
          </a:prstGeom>
          <a:solidFill>
            <a:srgbClr val="1C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669280" y="4718304"/>
            <a:ext cx="7315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800" b="1">
                <a:solidFill>
                  <a:srgbClr val="94A3B8"/>
                </a:solidFill>
                <a:latin typeface="맑은 고딕"/>
              </a:defRPr>
            </a:pPr>
            <a:r>
              <a:t>QM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65760" y="5010912"/>
            <a:ext cx="914400" cy="27432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65760" y="5010912"/>
            <a:ext cx="914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800" b="0">
                <a:solidFill>
                  <a:srgbClr val="38BDF8"/>
                </a:solidFill>
                <a:latin typeface="Consolas"/>
              </a:defRPr>
            </a:pPr>
            <a:r>
              <a:t>TC-015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280160" y="5010912"/>
            <a:ext cx="3840480" cy="27432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371600" y="5010912"/>
            <a:ext cx="36576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800" b="0">
                <a:solidFill>
                  <a:srgbClr val="CBD5E1"/>
                </a:solidFill>
                <a:latin typeface="맑은 고딕"/>
              </a:defRPr>
            </a:pPr>
            <a:r>
              <a:t>점유 센서 에러 발생 시 보호 로직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120640" y="5010912"/>
            <a:ext cx="548640" cy="27432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120640" y="5010912"/>
            <a:ext cx="5486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FI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669280" y="5010912"/>
            <a:ext cx="731520" cy="27432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669280" y="5010912"/>
            <a:ext cx="7315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800" b="1">
                <a:solidFill>
                  <a:srgbClr val="94A3B8"/>
                </a:solidFill>
                <a:latin typeface="맑은 고딕"/>
              </a:defRPr>
            </a:pPr>
            <a:r>
              <a:t>QM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675120" y="2560320"/>
            <a:ext cx="4160520" cy="329184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5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858000" y="2651760"/>
            <a:ext cx="3794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38BDF8"/>
                </a:solidFill>
                <a:latin typeface="맑은 고딕"/>
              </a:defRPr>
            </a:pPr>
            <a:r>
              <a:t>🔄 CI/CD 파이프라인 (GitHub Actions)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858000" y="2990088"/>
            <a:ext cx="164592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6858000" y="3154680"/>
            <a:ext cx="3794760" cy="256032"/>
          </a:xfrm>
          <a:prstGeom prst="roundRect">
            <a:avLst/>
          </a:prstGeom>
          <a:solidFill>
            <a:srgbClr val="0D111E"/>
          </a:solidFill>
          <a:ln w="6350">
            <a:solidFill>
              <a:srgbClr val="2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949440" y="3154680"/>
            <a:ext cx="36118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900" b="0">
                <a:solidFill>
                  <a:srgbClr val="22C55E"/>
                </a:solidFill>
                <a:latin typeface="Consolas"/>
              </a:defRPr>
            </a:pPr>
            <a:r>
              <a:t>✔ Build (Ubuntu)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6858000" y="3447288"/>
            <a:ext cx="3794760" cy="256032"/>
          </a:xfrm>
          <a:prstGeom prst="roundRect">
            <a:avLst/>
          </a:prstGeom>
          <a:solidFill>
            <a:srgbClr val="0D111E"/>
          </a:solidFill>
          <a:ln w="6350">
            <a:solidFill>
              <a:srgbClr val="2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949440" y="3447288"/>
            <a:ext cx="36118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900" b="0">
                <a:solidFill>
                  <a:srgbClr val="22C55E"/>
                </a:solidFill>
                <a:latin typeface="Consolas"/>
              </a:defRPr>
            </a:pPr>
            <a:r>
              <a:t>✔ Unit Tests (GTest)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858000" y="3739896"/>
            <a:ext cx="3794760" cy="256032"/>
          </a:xfrm>
          <a:prstGeom prst="roundRect">
            <a:avLst/>
          </a:prstGeom>
          <a:solidFill>
            <a:srgbClr val="0D111E"/>
          </a:solidFill>
          <a:ln w="6350">
            <a:solidFill>
              <a:srgbClr val="2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949440" y="3739896"/>
            <a:ext cx="36118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900" b="0">
                <a:solidFill>
                  <a:srgbClr val="22C55E"/>
                </a:solidFill>
                <a:latin typeface="Consolas"/>
              </a:defRPr>
            </a:pPr>
            <a:r>
              <a:t>✔ Static Analysis (Cppcheck)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6858000" y="4032504"/>
            <a:ext cx="3794760" cy="256032"/>
          </a:xfrm>
          <a:prstGeom prst="roundRect">
            <a:avLst/>
          </a:prstGeom>
          <a:solidFill>
            <a:srgbClr val="0D111E"/>
          </a:solidFill>
          <a:ln w="6350">
            <a:solidFill>
              <a:srgbClr val="2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949440" y="4032504"/>
            <a:ext cx="36118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900" b="0">
                <a:solidFill>
                  <a:srgbClr val="22C55E"/>
                </a:solidFill>
                <a:latin typeface="Consolas"/>
              </a:defRPr>
            </a:pPr>
            <a:r>
              <a:t>✔ Code Complexity (Lizard ≤10)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858000" y="4325112"/>
            <a:ext cx="3794760" cy="256032"/>
          </a:xfrm>
          <a:prstGeom prst="roundRect">
            <a:avLst/>
          </a:prstGeom>
          <a:solidFill>
            <a:srgbClr val="0D111E"/>
          </a:solidFill>
          <a:ln w="6350">
            <a:solidFill>
              <a:srgbClr val="2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949440" y="4325112"/>
            <a:ext cx="36118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900" b="0">
                <a:solidFill>
                  <a:srgbClr val="22C55E"/>
                </a:solidFill>
                <a:latin typeface="Consolas"/>
              </a:defRPr>
            </a:pPr>
            <a:r>
              <a:t>✔ Coverage (lcov — 100%)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858000" y="4663440"/>
            <a:ext cx="379476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  <a:defRPr sz="400" b="0">
                <a:solidFill>
                  <a:srgbClr val="94A3B8"/>
                </a:solidFill>
                <a:latin typeface="맑은 고딕"/>
              </a:defRPr>
            </a:pPr>
          </a:p>
          <a:p>
            <a:pPr algn="l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F5A623"/>
                </a:solidFill>
                <a:latin typeface="맑은 고딕"/>
              </a:defRPr>
            </a:pPr>
            <a:r>
              <a:t>📌 품질 기준 준수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CBD5E1"/>
                </a:solidFill>
                <a:latin typeface="맑은 고딕"/>
              </a:defRPr>
            </a:pPr>
            <a:r>
              <a:t>• 함수 길이 ≤ 80 lines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CBD5E1"/>
                </a:solidFill>
                <a:latin typeface="맑은 고딕"/>
              </a:defRPr>
            </a:pPr>
            <a:r>
              <a:t>• Dynamic Memory 사용 금지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CBD5E1"/>
                </a:solidFill>
                <a:latin typeface="맑은 고딕"/>
              </a:defRPr>
            </a:pPr>
            <a:r>
              <a:t>• Defensive Programming 적용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CBD5E1"/>
                </a:solidFill>
                <a:latin typeface="맑은 고딕"/>
              </a:defRPr>
            </a:pPr>
            <a:r>
              <a:t>• MISRA C:2012 준수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65760" y="6080760"/>
            <a:ext cx="10241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MOBIUS BOOTCAMP 1기 | PBL 포트폴리오 | 박기준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E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2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04. 학습 내용 · 핵심 교훈 · 기여 요약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51560"/>
            <a:ext cx="5120640" cy="219456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512064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4663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1">
                <a:solidFill>
                  <a:srgbClr val="38BDF8"/>
                </a:solidFill>
                <a:latin typeface="맑은 고딕"/>
              </a:defRPr>
            </a:pPr>
            <a:r>
              <a:t>📘 기술적 학습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466344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5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1. ISO 26262 기능 안전 분석 (HAZOP/FMEA) 및 ASIL B 안전 목표 도출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2. SRS → SwDD → Code → Test 양방향 추적성 확보 (SWE.1~6)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3. 히스테리시스(Hysteresis) 로직 설계 — 센서 노이즈 환경 안정성 확보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4. Fail-Safe 상태 (SAFE_LOCKED/EMERGENCY_RELEASED) 설계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051560"/>
            <a:ext cx="5120640" cy="219456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577840" y="1051560"/>
            <a:ext cx="512064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06440" y="1188720"/>
            <a:ext cx="4663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1">
                <a:solidFill>
                  <a:srgbClr val="10B981"/>
                </a:solidFill>
                <a:latin typeface="맑은 고딕"/>
              </a:defRPr>
            </a:pPr>
            <a:r>
              <a:t>🤝 협업 &amp; 프로세스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1554480"/>
            <a:ext cx="466344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5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1. GitHub Actions CI/CD: 빌드 → GTest → Cppcheck → lcov 자동화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2. PM으로서 Issue 기반 역할 분배 및 PR Review 프로세스 정립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3. GoogleTest Mock 기반 Fault Injection 시나리오 검증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4. Branch / MC/DC Coverage 100% 달성 — 140개 TC 모두 PASS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474720"/>
            <a:ext cx="10424160" cy="2377440"/>
          </a:xfrm>
          <a:prstGeom prst="roundRect">
            <a:avLst/>
          </a:prstGeom>
          <a:solidFill>
            <a:srgbClr val="16203A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474720"/>
            <a:ext cx="10424160" cy="50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611880"/>
            <a:ext cx="9966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1">
                <a:solidFill>
                  <a:srgbClr val="F5A623"/>
                </a:solidFill>
                <a:latin typeface="맑은 고딕"/>
              </a:defRPr>
            </a:pPr>
            <a:r>
              <a:t>⚡ 도전 과제 &amp; 해결 방법 (내가 직면한 문제)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023360"/>
            <a:ext cx="4846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도전 과제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343400"/>
            <a:ext cx="484632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5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후방 센서 노이즈로 인한 경계값 떨림 (chattering) 문제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센서 고장 시 F-07 → F-08 연동 Fail-Safe 정책 복잡성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ASIL B 요구사항 수준의 방어적 코딩 + 100% Coverage 달성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2120" y="4023360"/>
            <a:ext cx="4846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해결 방법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2120" y="4343400"/>
            <a:ext cx="484632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5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Hysteresis 로직 (확정 200ms / 해제 500ms) 적용 → 안정화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F-07 faultFlag → F-08 SAFE_LOCKED 자동 연쇄 정책 설계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Defensive Programming + GTest Mock Fault Injection 자동화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080760"/>
            <a:ext cx="10241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MOBIUS BOOTCAMP 1기 | PBL 포트폴리오 | 박기준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4203A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3200400"/>
            <a:ext cx="4572000" cy="4572000"/>
          </a:xfrm>
          <a:prstGeom prst="ellipse">
            <a:avLst/>
          </a:prstGeom>
          <a:solidFill>
            <a:srgbClr val="14203A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2011680"/>
            <a:ext cx="27432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286000"/>
            <a:ext cx="121920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1000"/>
              </a:spcAft>
              <a:defRPr sz="4200" b="1">
                <a:solidFill>
                  <a:srgbClr val="FFFFFF"/>
                </a:solidFill>
                <a:latin typeface="맑은 고딕"/>
              </a:defRPr>
            </a:pPr>
            <a:r>
              <a:t>Thank You</a:t>
            </a:r>
          </a:p>
          <a:p>
            <a:pPr algn="ctr">
              <a:spcBef>
                <a:spcPts val="0"/>
              </a:spcBef>
              <a:spcAft>
                <a:spcPts val="400"/>
              </a:spcAft>
              <a:defRPr sz="2000" b="0">
                <a:solidFill>
                  <a:srgbClr val="94A3B8"/>
                </a:solidFill>
                <a:latin typeface="맑은 고딕"/>
              </a:defRPr>
            </a:pPr>
            <a:r>
              <a:t>감사합니다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931920"/>
            <a:ext cx="27432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4206240"/>
            <a:ext cx="121920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CBD5E1"/>
                </a:solidFill>
                <a:latin typeface="맑은 고딕"/>
              </a:defRPr>
            </a:pPr>
            <a:r>
              <a:t>박기준  |  PM &amp; Safety Module Developer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94A3B8"/>
                </a:solidFill>
                <a:latin typeface="맑은 고딕"/>
              </a:defRPr>
            </a:pPr>
            <a:r>
              <a:t>ISO 26262 Child Lock SW 시뮬레이션 프로젝트  |  팀 전차</a:t>
            </a:r>
          </a:p>
          <a:p>
            <a:pPr algn="ctr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38BDF8"/>
                </a:solidFill>
                <a:latin typeface="맑은 고딕"/>
              </a:defRPr>
            </a:pPr>
            <a:r>
              <a:t>MOBIUS BOOTCAMP 1기  |  현대모비스 × LIKELION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5303520"/>
            <a:ext cx="4023360" cy="36576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25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5321808"/>
            <a:ext cx="40233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🔗  github.com/PKJthecreator  |  @PKJthecreator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