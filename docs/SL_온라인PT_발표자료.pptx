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47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06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601200" y="274320"/>
            <a:ext cx="2286000" cy="731520"/>
          </a:xfrm>
          <a:prstGeom prst="rect">
            <a:avLst/>
          </a:prstGeom>
          <a:solidFill>
            <a:srgbClr val="0047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058400" y="1188720"/>
            <a:ext cx="1828800" cy="457200"/>
          </a:xfrm>
          <a:prstGeom prst="rect">
            <a:avLst/>
          </a:prstGeom>
          <a:solidFill>
            <a:srgbClr val="006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97280" y="1645920"/>
            <a:ext cx="914400" cy="274320"/>
          </a:xfrm>
          <a:prstGeom prst="roundRect">
            <a:avLst/>
          </a:prstGeom>
          <a:solidFill>
            <a:srgbClr val="006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900" b="1">
                <a:solidFill>
                  <a:srgbClr val="FFFFFF"/>
                </a:solidFill>
                <a:latin typeface="맑은 고딕"/>
              </a:defRPr>
            </a:pPr>
            <a:r>
              <a:t>ASIL-B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194560" y="1645920"/>
            <a:ext cx="1188720" cy="274320"/>
          </a:xfrm>
          <a:prstGeom prst="roundRect">
            <a:avLst/>
          </a:prstGeom>
          <a:solidFill>
            <a:srgbClr val="006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900" b="1">
                <a:solidFill>
                  <a:srgbClr val="FFFFFF"/>
                </a:solidFill>
                <a:latin typeface="맑은 고딕"/>
              </a:defRPr>
            </a:pPr>
            <a:r>
              <a:t>ISO 26262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66160" y="1645920"/>
            <a:ext cx="1371600" cy="274320"/>
          </a:xfrm>
          <a:prstGeom prst="roundRect">
            <a:avLst/>
          </a:prstGeom>
          <a:solidFill>
            <a:srgbClr val="006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900" b="1">
                <a:solidFill>
                  <a:srgbClr val="FFFFFF"/>
                </a:solidFill>
                <a:latin typeface="맑은 고딕"/>
              </a:defRPr>
            </a:pPr>
            <a:r>
              <a:t>MISRA C:2012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286000"/>
            <a:ext cx="9144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defRPr sz="2000" b="0">
                <a:solidFill>
                  <a:srgbClr val="CCE5FF"/>
                </a:solidFill>
                <a:latin typeface="맑은 고딕"/>
              </a:defRPr>
            </a:pPr>
            <a:r>
              <a:t>기계공학의 메커니즘 위에</a:t>
            </a:r>
          </a:p>
          <a:p>
            <a:pPr algn="l">
              <a:spcBef>
                <a:spcPts val="0"/>
              </a:spcBef>
              <a:spcAft>
                <a:spcPts val="1600"/>
              </a:spcAft>
              <a:defRPr sz="3600" b="1">
                <a:solidFill>
                  <a:srgbClr val="FFFFFF"/>
                </a:solidFill>
                <a:latin typeface="맑은 고딕"/>
              </a:defRPr>
            </a:pPr>
            <a:r>
              <a:t>ASIL-B 수준의 안전 목표를 가정한 SW를 설계하다.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97280" y="4206240"/>
            <a:ext cx="3657600" cy="2743"/>
          </a:xfrm>
          <a:prstGeom prst="rect">
            <a:avLst/>
          </a:prstGeom>
          <a:solidFill>
            <a:srgbClr val="006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438912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defRPr sz="1600" b="0">
                <a:solidFill>
                  <a:srgbClr val="CCE5FF"/>
                </a:solidFill>
                <a:latin typeface="맑은 고딕"/>
              </a:defRPr>
            </a:pPr>
            <a:r>
              <a:t>하드웨어와 소프트웨어의 경계를 허무는 융합형 문제 해결사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300" b="0">
                <a:solidFill>
                  <a:srgbClr val="666677"/>
                </a:solidFill>
                <a:latin typeface="맑은 고딕"/>
              </a:defRPr>
            </a:pPr>
            <a:r>
              <a:t>차량 도어 기구학 + 센서 물리 모델 + Fail-Safe SW 설계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126480"/>
            <a:ext cx="12191695" cy="731520"/>
          </a:xfrm>
          <a:prstGeom prst="rect">
            <a:avLst/>
          </a:prstGeom>
          <a:solidFill>
            <a:srgbClr val="001F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62179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100" b="0">
                <a:solidFill>
                  <a:srgbClr val="666677"/>
                </a:solidFill>
                <a:latin typeface="맑은 고딕"/>
              </a:defRPr>
            </a:pPr>
            <a:r>
              <a:t>지원 직무: 연구개발(R&amp;D)  ·  차량 SW 제어 로직 개발  ·  전장 부품 안전 설계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66677"/>
                </a:solidFill>
                <a:latin typeface="맑은 고딕"/>
              </a:defRPr>
            </a:pPr>
            <a:r>
              <a:t>1 / 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47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8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365760"/>
            <a:ext cx="1371600" cy="274320"/>
          </a:xfrm>
          <a:prstGeom prst="roundRect">
            <a:avLst/>
          </a:prstGeom>
          <a:solidFill>
            <a:srgbClr val="0047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900" b="1">
                <a:solidFill>
                  <a:srgbClr val="FFFFFF"/>
                </a:solidFill>
                <a:latin typeface="맑은 고딕"/>
              </a:defRPr>
            </a:pPr>
            <a:r>
              <a:t>Q1. 문제 인식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2296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defRPr sz="1400" b="0">
                <a:solidFill>
                  <a:srgbClr val="666677"/>
                </a:solidFill>
                <a:latin typeface="맑은 고딕"/>
              </a:defRPr>
            </a:pPr>
            <a:r>
              <a:t>차량 안전 시스템의 핵심,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2600" b="1">
                <a:solidFill>
                  <a:srgbClr val="002B5C"/>
                </a:solidFill>
                <a:latin typeface="맑은 고딕"/>
              </a:defRPr>
            </a:pPr>
            <a:r>
              <a:t>센서의 불확실성이 액추에이터를 위협하는 구조를 '문제'로 정의하다.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920240"/>
            <a:ext cx="2743200" cy="2743"/>
          </a:xfrm>
          <a:prstGeom prst="rect">
            <a:avLst/>
          </a:prstGeom>
          <a:solidFill>
            <a:srgbClr val="0047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1031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500" b="1">
                <a:solidFill>
                  <a:srgbClr val="002B5C"/>
                </a:solidFill>
                <a:latin typeface="맑은 고딕"/>
              </a:defRPr>
            </a:pPr>
            <a:r>
              <a:t>▎ 위험 인지 센서의 한계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560320"/>
            <a:ext cx="5029200" cy="1097280"/>
          </a:xfrm>
          <a:prstGeom prst="roundRect">
            <a:avLst/>
          </a:prstGeom>
          <a:solidFill>
            <a:srgbClr val="FFF8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606040"/>
            <a:ext cx="45720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300" b="1">
                <a:solidFill>
                  <a:srgbClr val="FF6B35"/>
                </a:solidFill>
                <a:latin typeface="맑은 고딕"/>
              </a:defRPr>
            </a:pPr>
            <a:r>
              <a:t>📡  후방 접근 감지 센서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100" b="0">
                <a:solidFill>
                  <a:srgbClr val="333344"/>
                </a:solidFill>
                <a:latin typeface="맑은 고딕"/>
              </a:defRPr>
            </a:pPr>
            <a:r>
              <a:t>• 노이즈 / 경계값 흔들림: 실제 접근 없이도 위험 판정이 토글됨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100" b="0">
                <a:solidFill>
                  <a:srgbClr val="333344"/>
                </a:solidFill>
                <a:latin typeface="맑은 고딕"/>
              </a:defRPr>
            </a:pPr>
            <a:r>
              <a:t>• 온도 드리프트: 극저온/고온 환경에서 센서 출력값 변동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100" b="0">
                <a:solidFill>
                  <a:srgbClr val="333344"/>
                </a:solidFill>
                <a:latin typeface="맑은 고딕"/>
              </a:defRPr>
            </a:pPr>
            <a:r>
              <a:t>• 센서 고장 시 신뢰도 저하: 고장 인지 불가 상태 발생 가능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7947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500" b="1">
                <a:solidFill>
                  <a:srgbClr val="002B5C"/>
                </a:solidFill>
                <a:latin typeface="맑은 고딕"/>
              </a:defRPr>
            </a:pPr>
            <a:r>
              <a:t>▎ 차일드 락 액추에이터의 한계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206240"/>
            <a:ext cx="5029200" cy="1234440"/>
          </a:xfrm>
          <a:prstGeom prst="roundRect">
            <a:avLst/>
          </a:prstGeom>
          <a:solidFill>
            <a:srgbClr val="E8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251960"/>
            <a:ext cx="45720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300" b="1">
                <a:solidFill>
                  <a:srgbClr val="0047AB"/>
                </a:solidFill>
                <a:latin typeface="맑은 고딕"/>
              </a:defRPr>
            </a:pPr>
            <a:r>
              <a:t>🔧  소형 DC 모터 + 기어 + 링크 구조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100" b="0">
                <a:solidFill>
                  <a:srgbClr val="333344"/>
                </a:solidFill>
                <a:latin typeface="맑은 고딕"/>
              </a:defRPr>
            </a:pPr>
            <a:r>
              <a:t>• 응답 지연 (수십 ms 수준): 모터 구동 → 래치 체결까지의 물리적 시간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100" b="0">
                <a:solidFill>
                  <a:srgbClr val="333344"/>
                </a:solidFill>
                <a:latin typeface="맑은 고딕"/>
              </a:defRPr>
            </a:pPr>
            <a:r>
              <a:t>• 기어 백래시(Backlash): 기어 치합 유격으로 인한 위치 불확정 구간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100" b="0">
                <a:solidFill>
                  <a:srgbClr val="333344"/>
                </a:solidFill>
                <a:latin typeface="맑은 고딕"/>
              </a:defRPr>
            </a:pPr>
            <a:r>
              <a:t>• 정착 시간(Settling Time): 모터 정지 명령 후 잔류 응답이 사라지기까지의 시간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100" b="0">
                <a:solidFill>
                  <a:srgbClr val="333344"/>
                </a:solidFill>
                <a:latin typeface="맑은 고딕"/>
              </a:defRPr>
            </a:pPr>
            <a:r>
              <a:t>• 반복 구동 내구: 잦은 ON/OFF는 모터 발열·전류 피크 누적·기어 피로를 유발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5577840"/>
            <a:ext cx="5029200" cy="502920"/>
          </a:xfrm>
          <a:prstGeom prst="roundRect">
            <a:avLst/>
          </a:prstGeom>
          <a:solidFill>
            <a:srgbClr val="0047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56235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200" b="1">
                <a:solidFill>
                  <a:srgbClr val="FFFFFF"/>
                </a:solidFill>
                <a:latin typeface="맑은 고딕"/>
              </a:defRPr>
            </a:pPr>
            <a:r>
              <a:t>✅  결론: HW의 물리적 한계를 이해한 SW 설계가 필수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1031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500" b="1">
                <a:solidFill>
                  <a:srgbClr val="002B5C"/>
                </a:solidFill>
                <a:latin typeface="맑은 고딕"/>
              </a:defRPr>
            </a:pPr>
            <a:r>
              <a:t>▎ 핵심 문제 정의 → 해결 모듈 매핑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0" y="2560320"/>
            <a:ext cx="5029200" cy="548640"/>
          </a:xfrm>
          <a:prstGeom prst="round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2587752"/>
            <a:ext cx="4663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defRPr sz="1100" b="1">
                <a:solidFill>
                  <a:srgbClr val="FFFFFF"/>
                </a:solidFill>
                <a:latin typeface="맑은 고딕"/>
              </a:defRPr>
            </a:pPr>
            <a:r>
              <a:t>⚡ 핵심 문제: 센서의 불확실한 입력을 액추에이터에 그대로 전달하면,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100" b="1">
                <a:solidFill>
                  <a:srgbClr val="CCE5FF"/>
                </a:solidFill>
                <a:latin typeface="맑은 고딕"/>
              </a:defRPr>
            </a:pPr>
            <a:r>
              <a:t>   안전성과 내구성을 동시에 해칠 수 있다.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0" y="3246120"/>
            <a:ext cx="5029200" cy="1097280"/>
          </a:xfrm>
          <a:prstGeom prst="roundRect">
            <a:avLst/>
          </a:prstGeom>
          <a:solidFill>
            <a:srgbClr val="FFF8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0332720" y="3291840"/>
            <a:ext cx="822960" cy="274320"/>
          </a:xfrm>
          <a:prstGeom prst="roundRect">
            <a:avLst/>
          </a:prstGeom>
          <a:solidFill>
            <a:srgbClr val="006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900" b="1">
                <a:solidFill>
                  <a:srgbClr val="FFFFFF"/>
                </a:solidFill>
                <a:latin typeface="맑은 고딕"/>
              </a:defRPr>
            </a:pPr>
            <a:r>
              <a:t>→ F-07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20" y="3291840"/>
            <a:ext cx="3657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300" b="1">
                <a:solidFill>
                  <a:srgbClr val="FF6B35"/>
                </a:solidFill>
                <a:latin typeface="맑은 고딕"/>
              </a:defRPr>
            </a:pPr>
            <a:r>
              <a:t>증상 ①  경계값 떨림 → 모터 내구 리스크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000" b="0">
                <a:solidFill>
                  <a:srgbClr val="333344"/>
                </a:solidFill>
                <a:latin typeface="맑은 고딕"/>
              </a:defRPr>
            </a:pPr>
            <a:r>
              <a:t>반복 명령 토글은 모터 발열과 기계 피로를 유발할 수 있음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000" b="1">
                <a:solidFill>
                  <a:srgbClr val="FF6B35"/>
                </a:solidFill>
                <a:latin typeface="맑은 고딕"/>
              </a:defRPr>
            </a:pPr>
            <a:r>
              <a:t>→ 해결: 시간 기반 히스테리시스 밴드 (500ms/1000ms)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0" y="4480560"/>
            <a:ext cx="5029200" cy="1097280"/>
          </a:xfrm>
          <a:prstGeom prst="roundRect">
            <a:avLst/>
          </a:prstGeom>
          <a:solidFill>
            <a:srgbClr val="FF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0332720" y="4526280"/>
            <a:ext cx="822960" cy="274320"/>
          </a:xfrm>
          <a:prstGeom prst="roundRect">
            <a:avLst/>
          </a:prstGeom>
          <a:solidFill>
            <a:srgbClr val="006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900" b="1">
                <a:solidFill>
                  <a:srgbClr val="FFFFFF"/>
                </a:solidFill>
                <a:latin typeface="맑은 고딕"/>
              </a:defRPr>
            </a:pPr>
            <a:r>
              <a:t>→ F-08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0" y="4526280"/>
            <a:ext cx="3657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300" b="1">
                <a:solidFill>
                  <a:srgbClr val="E53335"/>
                </a:solidFill>
                <a:latin typeface="맑은 고딕"/>
              </a:defRPr>
            </a:pPr>
            <a:r>
              <a:t>증상 ②  센서 고장 시 안전 상태 미정의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000" b="0">
                <a:solidFill>
                  <a:srgbClr val="333344"/>
                </a:solidFill>
                <a:latin typeface="맑은 고딕"/>
              </a:defRPr>
            </a:pPr>
            <a:r>
              <a:t>고장 인지 불가 → 차일드 락 풀림 방치 → 치명적 사고 위험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000" b="1">
                <a:solidFill>
                  <a:srgbClr val="E53335"/>
                </a:solidFill>
                <a:latin typeface="맑은 고딕"/>
              </a:defRPr>
            </a:pPr>
            <a:r>
              <a:t>→ 해결: SAFE_LOCKED 강제 잠금 정책 (SDD 5.2.3)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0" y="5715000"/>
            <a:ext cx="5029200" cy="502920"/>
          </a:xfrm>
          <a:prstGeom prst="roundRect">
            <a:avLst/>
          </a:prstGeom>
          <a:solidFill>
            <a:srgbClr val="E8F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75120" y="5742432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100" b="1">
                <a:solidFill>
                  <a:srgbClr val="2E7D32"/>
                </a:solidFill>
                <a:latin typeface="맑은 고딕"/>
              </a:defRPr>
            </a:pPr>
            <a:r>
              <a:t>💡 인사이트: HW 물리 특성과 SW 상태 로직을 함께 설계해야 한다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66677"/>
                </a:solidFill>
                <a:latin typeface="맑은 고딕"/>
              </a:defRPr>
            </a:pPr>
            <a:r>
              <a:t>2 / 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47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8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365760"/>
            <a:ext cx="1645920" cy="274320"/>
          </a:xfrm>
          <a:prstGeom prst="roundRect">
            <a:avLst/>
          </a:prstGeom>
          <a:solidFill>
            <a:srgbClr val="0047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900" b="1">
                <a:solidFill>
                  <a:srgbClr val="FFFFFF"/>
                </a:solidFill>
                <a:latin typeface="맑은 고딕"/>
              </a:defRPr>
            </a:pPr>
            <a:r>
              <a:t>Q2. 해결 과정 ①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560320" y="365760"/>
            <a:ext cx="640080" cy="274320"/>
          </a:xfrm>
          <a:prstGeom prst="roundRect">
            <a:avLst/>
          </a:prstGeom>
          <a:solidFill>
            <a:srgbClr val="006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900" b="1">
                <a:solidFill>
                  <a:srgbClr val="FFFFFF"/>
                </a:solidFill>
                <a:latin typeface="맑은 고딕"/>
              </a:defRPr>
            </a:pPr>
            <a:r>
              <a:t>F-07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2296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defRPr sz="1400" b="0">
                <a:solidFill>
                  <a:srgbClr val="666677"/>
                </a:solidFill>
                <a:latin typeface="맑은 고딕"/>
              </a:defRPr>
            </a:pPr>
            <a:r>
              <a:t>기계공학도의 시각으로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2600" b="1">
                <a:solidFill>
                  <a:srgbClr val="002B5C"/>
                </a:solidFill>
                <a:latin typeface="맑은 고딕"/>
              </a:defRPr>
            </a:pPr>
            <a:r>
              <a:t>센서의 물리적 한계를 SW로 극복하다.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920240"/>
            <a:ext cx="2743200" cy="2743"/>
          </a:xfrm>
          <a:prstGeom prst="rect">
            <a:avLst/>
          </a:prstGeom>
          <a:solidFill>
            <a:srgbClr val="0047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10312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400" b="1">
                <a:solidFill>
                  <a:srgbClr val="002B5C"/>
                </a:solidFill>
                <a:latin typeface="맑은 고딕"/>
              </a:defRPr>
            </a:pPr>
            <a:r>
              <a:t>▎ 후방 접근 위험 판단 로직 플로우</a:t>
            </a:r>
          </a:p>
        </p:txBody>
      </p:sp>
      <p:pic>
        <p:nvPicPr>
          <p:cNvPr id="9" name="Picture 8" descr="f07_flowchart_177556469708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651760"/>
            <a:ext cx="5303520" cy="36576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00800" y="21031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400" b="1">
                <a:solidFill>
                  <a:srgbClr val="002B5C"/>
                </a:solidFill>
                <a:latin typeface="맑은 고딕"/>
              </a:defRPr>
            </a:pPr>
            <a:r>
              <a:t>▎ 핵심: 시간 기반 히스테리시스 밴드 — 왜 필요한가?</a:t>
            </a:r>
          </a:p>
        </p:txBody>
      </p:sp>
      <p:pic>
        <p:nvPicPr>
          <p:cNvPr id="11" name="Picture 10" descr="hysteresis_graph_177556373472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2606040"/>
            <a:ext cx="5029200" cy="182880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6400800" y="4572000"/>
            <a:ext cx="5029200" cy="1828800"/>
          </a:xfrm>
          <a:prstGeom prst="roundRect">
            <a:avLst/>
          </a:prstGeom>
          <a:solidFill>
            <a:srgbClr val="E8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75120" y="4617720"/>
            <a:ext cx="45720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300" b="1">
                <a:solidFill>
                  <a:srgbClr val="0047AB"/>
                </a:solidFill>
                <a:latin typeface="맑은 고딕"/>
              </a:defRPr>
            </a:pPr>
            <a:r>
              <a:t>🔧  HW 보호 관점의 시간 기반 히스테리시스 설계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100" b="1">
                <a:solidFill>
                  <a:srgbClr val="002B5C"/>
                </a:solidFill>
                <a:latin typeface="맑은 고딕"/>
              </a:defRPr>
            </a:pPr>
            <a:r>
              <a:t>확정 타이머 (500ms) — 3가지 설계 근거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defRPr sz="1000" b="0">
                <a:solidFill>
                  <a:srgbClr val="333344"/>
                </a:solidFill>
                <a:latin typeface="맑은 고딕"/>
              </a:defRPr>
            </a:pPr>
            <a:r>
              <a:t>① 센서 노이즈 억제: 짧은 스파이크성 오판 제거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defRPr sz="1000" b="0">
                <a:solidFill>
                  <a:srgbClr val="333344"/>
                </a:solidFill>
                <a:latin typeface="맑은 고딕"/>
              </a:defRPr>
            </a:pPr>
            <a:r>
              <a:t>② 액추에이터 보호: 불필요한 반복 구동 명령 방지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defRPr sz="1000" b="0">
                <a:solidFill>
                  <a:srgbClr val="333344"/>
                </a:solidFill>
                <a:latin typeface="맑은 고딕"/>
              </a:defRPr>
            </a:pPr>
            <a:r>
              <a:t>③ 안전 반응 여유: 위험 판단→잠금 완료까지 최소 시간 확보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100" b="1">
                <a:solidFill>
                  <a:srgbClr val="002B5C"/>
                </a:solidFill>
                <a:latin typeface="맑은 고딕"/>
              </a:defRPr>
            </a:pPr>
            <a:r>
              <a:t>해제 타이머 (1000ms) — 확정 대비 2배 비대칭 설계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defRPr sz="1000" b="0">
                <a:solidFill>
                  <a:srgbClr val="333344"/>
                </a:solidFill>
                <a:latin typeface="맑은 고딕"/>
              </a:defRPr>
            </a:pPr>
            <a:r>
              <a:t>안전 해제는 더 보수적으로: 1초 이상 안전 지속 확인 후 해제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defRPr sz="1000" b="1">
                <a:solidFill>
                  <a:srgbClr val="0047AB"/>
                </a:solidFill>
                <a:latin typeface="맑은 고딕"/>
              </a:defRPr>
            </a:pPr>
            <a:r>
              <a:t>→ 모터 반복 구동 방지 + 기어 마모 위험을 크게 저감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defRPr sz="900" b="0">
                <a:solidFill>
                  <a:srgbClr val="666677"/>
                </a:solidFill>
                <a:latin typeface="맑은 고딕"/>
              </a:defRPr>
            </a:pPr>
            <a:r>
              <a:t>💡 BLDC 히스테리시스 비교기와 원리는 유사하나,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900" b="0">
                <a:solidFill>
                  <a:srgbClr val="666677"/>
                </a:solidFill>
                <a:latin typeface="맑은 고딕"/>
              </a:defRPr>
            </a:pPr>
            <a:r>
              <a:t>   본 설계는 애플리케이션 SW 레벨에서 시간을 이용해 구현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66677"/>
                </a:solidFill>
                <a:latin typeface="맑은 고딕"/>
              </a:defRPr>
            </a:pPr>
            <a:r>
              <a:t>3 / 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47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8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365760"/>
            <a:ext cx="1645920" cy="274320"/>
          </a:xfrm>
          <a:prstGeom prst="roundRect">
            <a:avLst/>
          </a:prstGeom>
          <a:solidFill>
            <a:srgbClr val="0047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900" b="1">
                <a:solidFill>
                  <a:srgbClr val="FFFFFF"/>
                </a:solidFill>
                <a:latin typeface="맑은 고딕"/>
              </a:defRPr>
            </a:pPr>
            <a:r>
              <a:t>Q2. 해결 과정 ②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560320" y="365760"/>
            <a:ext cx="640080" cy="274320"/>
          </a:xfrm>
          <a:prstGeom prst="roundRect">
            <a:avLst/>
          </a:prstGeom>
          <a:solidFill>
            <a:srgbClr val="006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900" b="1">
                <a:solidFill>
                  <a:srgbClr val="FFFFFF"/>
                </a:solidFill>
                <a:latin typeface="맑은 고딕"/>
              </a:defRPr>
            </a:pPr>
            <a:r>
              <a:t>F-08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2296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defRPr sz="1400" b="0">
                <a:solidFill>
                  <a:srgbClr val="666677"/>
                </a:solidFill>
                <a:latin typeface="맑은 고딕"/>
              </a:defRPr>
            </a:pPr>
            <a:r>
              <a:t>ASIL-B 수준의 안전 목표를 가정한 Fail-Safe를 설계해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2600" b="1">
                <a:solidFill>
                  <a:srgbClr val="002B5C"/>
                </a:solidFill>
                <a:latin typeface="맑은 고딕"/>
              </a:defRPr>
            </a:pPr>
            <a:r>
              <a:t>안전측 중심의 Fail-Safe를 구현하다.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920240"/>
            <a:ext cx="2743200" cy="2743"/>
          </a:xfrm>
          <a:prstGeom prst="rect">
            <a:avLst/>
          </a:prstGeom>
          <a:solidFill>
            <a:srgbClr val="0047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10312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400" b="1">
                <a:solidFill>
                  <a:srgbClr val="002B5C"/>
                </a:solidFill>
                <a:latin typeface="맑은 고딕"/>
              </a:defRPr>
            </a:pPr>
            <a:r>
              <a:t>▎ 보호 액션 판단 플로우 (ProtectionController)</a:t>
            </a:r>
          </a:p>
        </p:txBody>
      </p:sp>
      <p:pic>
        <p:nvPicPr>
          <p:cNvPr id="9" name="Picture 8" descr="f08_flowchart_v2_17755667156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651760"/>
            <a:ext cx="5303520" cy="36576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00800" y="21031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400" b="1">
                <a:solidFill>
                  <a:srgbClr val="002B5C"/>
                </a:solidFill>
                <a:latin typeface="맑은 고딕"/>
              </a:defRPr>
            </a:pPr>
            <a:r>
              <a:t>▎ SAFE_LOCKED 정책 — 본 기능의 Safe State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2651760"/>
            <a:ext cx="5029200" cy="1371600"/>
          </a:xfrm>
          <a:prstGeom prst="roundRect">
            <a:avLst/>
          </a:prstGeom>
          <a:solidFill>
            <a:srgbClr val="FF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0" y="2743200"/>
            <a:ext cx="45720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  <a:defRPr sz="1400" b="1">
                <a:solidFill>
                  <a:srgbClr val="E53335"/>
                </a:solidFill>
                <a:latin typeface="맑은 고딕"/>
              </a:defRPr>
            </a:pPr>
            <a:r>
              <a:t>⚠  센서 고장 시 차일드 락이 풀려버리면?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200" b="0">
                <a:solidFill>
                  <a:srgbClr val="333344"/>
                </a:solidFill>
                <a:latin typeface="맑은 고딕"/>
              </a:defRPr>
            </a:pPr>
            <a:r>
              <a:t>아이가 후방 차량 접근을 모른 채 문을 열고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defRPr sz="1200" b="1">
                <a:solidFill>
                  <a:srgbClr val="E53335"/>
                </a:solidFill>
                <a:latin typeface="맑은 고딕"/>
              </a:defRPr>
            </a:pPr>
            <a:r>
              <a:t>도로로 떨어질 수 있는 치명적 사고 발생 가능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200" b="1">
                <a:solidFill>
                  <a:srgbClr val="002B5C"/>
                </a:solidFill>
                <a:latin typeface="맑은 고딕"/>
              </a:defRPr>
            </a:pPr>
            <a:r>
              <a:t>→ 본 기능 관점의 safe state는 잠금 유지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000" b="0">
                <a:solidFill>
                  <a:srgbClr val="666677"/>
                </a:solidFill>
                <a:latin typeface="맑은 고딕"/>
              </a:defRPr>
            </a:pPr>
            <a:r>
              <a:t>   (crash unlock 등 상위 안전 로직은 별도 고려)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0" y="4206240"/>
            <a:ext cx="5029200" cy="1645920"/>
          </a:xfrm>
          <a:prstGeom prst="roundRect">
            <a:avLst/>
          </a:prstGeom>
          <a:solidFill>
            <a:srgbClr val="E8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0" y="4297680"/>
            <a:ext cx="45720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defRPr sz="1300" b="1">
                <a:solidFill>
                  <a:srgbClr val="0047AB"/>
                </a:solidFill>
                <a:latin typeface="맑은 고딕"/>
              </a:defRPr>
            </a:pPr>
            <a:r>
              <a:t>🛡  Defensive Programming 방어 로직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100" b="0">
                <a:solidFill>
                  <a:srgbClr val="333344"/>
                </a:solidFill>
                <a:latin typeface="맑은 고딕"/>
              </a:defRPr>
            </a:pPr>
            <a:r>
              <a:t>① FAULT 플래그 감지 → 즉시 CL ON 강제 유지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100" b="0">
                <a:solidFill>
                  <a:srgbClr val="333344"/>
                </a:solidFill>
                <a:latin typeface="맑은 고딕"/>
              </a:defRPr>
            </a:pPr>
            <a:r>
              <a:t>② 잠금 방향 1회 구동 후 상태 래치 (무한 구동 방지)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100" b="0">
                <a:solidFill>
                  <a:srgbClr val="333344"/>
                </a:solidFill>
                <a:latin typeface="맑은 고딕"/>
              </a:defRPr>
            </a:pPr>
            <a:r>
              <a:t>③ 위치/전류/타임아웃으로 구동 완료 여부 확인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100" b="0">
                <a:solidFill>
                  <a:srgbClr val="333344"/>
                </a:solidFill>
                <a:latin typeface="맑은 고딕"/>
              </a:defRPr>
            </a:pPr>
            <a:r>
              <a:t>④ HMI 경고음 + 메시지로 운전자 즉시 인지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100" b="0">
                <a:solidFill>
                  <a:srgbClr val="333344"/>
                </a:solidFill>
                <a:latin typeface="맑은 고딕"/>
              </a:defRPr>
            </a:pPr>
            <a:r>
              <a:t>⑤ 이벤트 로그/DTC 저장 → 사후 분석 대비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100" b="1">
                <a:solidFill>
                  <a:srgbClr val="0047AB"/>
                </a:solidFill>
                <a:latin typeface="맑은 고딕"/>
              </a:defRPr>
            </a:pPr>
            <a:r>
              <a:t>→ 정의된 고장 시나리오에서 위험을 안전측으로 저감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0" y="6035040"/>
            <a:ext cx="155448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CE5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6053328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  <a:defRPr sz="1000" b="1">
                <a:solidFill>
                  <a:srgbClr val="0047AB"/>
                </a:solidFill>
                <a:latin typeface="맑은 고딕"/>
              </a:defRPr>
            </a:pPr>
            <a:r>
              <a:t>MISRA C:2012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800" b="0">
                <a:solidFill>
                  <a:srgbClr val="666677"/>
                </a:solidFill>
                <a:latin typeface="맑은 고딕"/>
              </a:defRPr>
            </a:pPr>
            <a:r>
              <a:t>동적 메모리 금지</a:t>
            </a:r>
            <a:br/>
            <a:r>
              <a:t>Defensive 코딩 규칙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6035040"/>
            <a:ext cx="155448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CE5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6053328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  <a:defRPr sz="1000" b="1">
                <a:solidFill>
                  <a:srgbClr val="0047AB"/>
                </a:solidFill>
                <a:latin typeface="맑은 고딕"/>
              </a:defRPr>
            </a:pPr>
            <a:r>
              <a:t>ISO 26262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800" b="0">
                <a:solidFill>
                  <a:srgbClr val="666677"/>
                </a:solidFill>
                <a:latin typeface="맑은 고딕"/>
              </a:defRPr>
            </a:pPr>
            <a:r>
              <a:t>ASIL-B 수준</a:t>
            </a:r>
            <a:br/>
            <a:r>
              <a:t>Fail-Safe 설계 원칙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875520" y="6035040"/>
            <a:ext cx="155448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CE5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66960" y="6053328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  <a:defRPr sz="1000" b="1">
                <a:solidFill>
                  <a:srgbClr val="0047AB"/>
                </a:solidFill>
                <a:latin typeface="맑은 고딕"/>
              </a:defRPr>
            </a:pPr>
            <a:r>
              <a:t>A-SPICE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800" b="0">
                <a:solidFill>
                  <a:srgbClr val="666677"/>
                </a:solidFill>
                <a:latin typeface="맑은 고딕"/>
              </a:defRPr>
            </a:pPr>
            <a:r>
              <a:t>요구사항↔코드 추적</a:t>
            </a:r>
            <a:br/>
            <a:r>
              <a:t>DD-CL-F08 트레이서빌리티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66677"/>
                </a:solidFill>
                <a:latin typeface="맑은 고딕"/>
              </a:defRPr>
            </a:pPr>
            <a:r>
              <a:t>4 / 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47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8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365760"/>
            <a:ext cx="2103120" cy="274320"/>
          </a:xfrm>
          <a:prstGeom prst="roundRect">
            <a:avLst/>
          </a:prstGeom>
          <a:solidFill>
            <a:srgbClr val="0047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900" b="1">
                <a:solidFill>
                  <a:srgbClr val="FFFFFF"/>
                </a:solidFill>
                <a:latin typeface="맑은 고딕"/>
              </a:defRPr>
            </a:pPr>
            <a:r>
              <a:t>Q3. 에스엘 적용 방안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2296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defRPr sz="1400" b="0">
                <a:solidFill>
                  <a:srgbClr val="666677"/>
                </a:solidFill>
                <a:latin typeface="맑은 고딕"/>
              </a:defRPr>
            </a:pPr>
            <a:r>
              <a:t>에스엘의 전장 부품에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2600" b="1">
                <a:solidFill>
                  <a:srgbClr val="002B5C"/>
                </a:solidFill>
                <a:latin typeface="맑은 고딕"/>
              </a:defRPr>
            </a:pPr>
            <a:r>
              <a:t>ASIL-B 수준의 '안전 기반 통합 제어 역량'을 이식하다.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920240"/>
            <a:ext cx="2743200" cy="2743"/>
          </a:xfrm>
          <a:prstGeom prst="rect">
            <a:avLst/>
          </a:prstGeom>
          <a:solidFill>
            <a:srgbClr val="0047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2103120"/>
            <a:ext cx="10698480" cy="548640"/>
          </a:xfrm>
          <a:prstGeom prst="roundRect">
            <a:avLst/>
          </a:prstGeom>
          <a:solidFill>
            <a:srgbClr val="0047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14884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  <a:defRPr sz="1200" b="1">
                <a:solidFill>
                  <a:srgbClr val="FFFFFF"/>
                </a:solidFill>
                <a:latin typeface="맑은 고딕"/>
              </a:defRPr>
            </a:pPr>
            <a:r>
              <a:t>모든 에스엘 전장품의 공통점:  정밀한 '모터 제어(HW)'  +  '상황 판단 로직(SW)'의 결합  →  차일드 락과 동일한 설계 패러다임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926080"/>
            <a:ext cx="3474720" cy="3566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CE5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2926080"/>
            <a:ext cx="3474720" cy="45720"/>
          </a:xfrm>
          <a:prstGeom prst="rect">
            <a:avLst/>
          </a:prstGeom>
          <a:solidFill>
            <a:srgbClr val="0047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063240"/>
            <a:ext cx="31089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defRPr sz="1500" b="1">
                <a:solidFill>
                  <a:srgbClr val="0047AB"/>
                </a:solidFill>
                <a:latin typeface="맑은 고딕"/>
              </a:defRPr>
            </a:pPr>
            <a:r>
              <a:t>💡  ADB 헤드램프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defRPr sz="900" b="0">
                <a:solidFill>
                  <a:srgbClr val="666677"/>
                </a:solidFill>
                <a:latin typeface="맑은 고딕"/>
              </a:defRPr>
            </a:pPr>
            <a:r>
              <a:t>Adaptive Driving Beam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000" b="1">
                <a:solidFill>
                  <a:srgbClr val="002B5C"/>
                </a:solidFill>
                <a:latin typeface="맑은 고딕"/>
              </a:defRPr>
            </a:pPr>
            <a:r>
              <a:t>🔧 HW 구성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defRPr sz="1000" b="0">
                <a:solidFill>
                  <a:srgbClr val="333344"/>
                </a:solidFill>
                <a:latin typeface="맑은 고딕"/>
              </a:defRPr>
            </a:pPr>
            <a:r>
              <a:t>LED 매트릭스 구동 모터</a:t>
            </a:r>
            <a:br/>
            <a:r>
              <a:t>+ 빔 각도 조절 액추에이터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000" b="1">
                <a:solidFill>
                  <a:srgbClr val="0047AB"/>
                </a:solidFill>
                <a:latin typeface="맑은 고딕"/>
              </a:defRPr>
            </a:pPr>
            <a:r>
              <a:t>📐 시간 기반 히스테리시스 적용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defRPr sz="1000" b="0">
                <a:solidFill>
                  <a:srgbClr val="333344"/>
                </a:solidFill>
                <a:latin typeface="맑은 고딕"/>
              </a:defRPr>
            </a:pPr>
            <a:r>
              <a:t>히스테리시스 → 빔 패턴</a:t>
            </a:r>
            <a:br/>
            <a:r>
              <a:t>경계값 안정화 (깜빡임 방지)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000" b="1">
                <a:solidFill>
                  <a:srgbClr val="FF6B35"/>
                </a:solidFill>
                <a:latin typeface="맑은 고딕"/>
              </a:defRPr>
            </a:pPr>
            <a:r>
              <a:t>🛡 Fail-Safe 적용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000" b="0">
                <a:solidFill>
                  <a:srgbClr val="333344"/>
                </a:solidFill>
                <a:latin typeface="맑은 고딕"/>
              </a:defRPr>
            </a:pPr>
            <a:r>
              <a:t>Fail-Safe → 센서 고장 시</a:t>
            </a:r>
            <a:br/>
            <a:r>
              <a:t>기본 빔(Low Beam) 유지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80559" y="2926080"/>
            <a:ext cx="3474720" cy="3566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CE5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80559" y="2926080"/>
            <a:ext cx="3474720" cy="45720"/>
          </a:xfrm>
          <a:prstGeom prst="rect">
            <a:avLst/>
          </a:prstGeom>
          <a:solidFill>
            <a:srgbClr val="006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63439" y="3063240"/>
            <a:ext cx="31089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defRPr sz="1500" b="1">
                <a:solidFill>
                  <a:srgbClr val="006ED6"/>
                </a:solidFill>
                <a:latin typeface="맑은 고딕"/>
              </a:defRPr>
            </a:pPr>
            <a:r>
              <a:t>⚙️  E-Shifter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defRPr sz="900" b="0">
                <a:solidFill>
                  <a:srgbClr val="666677"/>
                </a:solidFill>
                <a:latin typeface="맑은 고딕"/>
              </a:defRPr>
            </a:pPr>
            <a:r>
              <a:t>Electronic Gear Shifter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000" b="1">
                <a:solidFill>
                  <a:srgbClr val="002B5C"/>
                </a:solidFill>
                <a:latin typeface="맑은 고딕"/>
              </a:defRPr>
            </a:pPr>
            <a:r>
              <a:t>🔧 HW 구성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defRPr sz="1000" b="0">
                <a:solidFill>
                  <a:srgbClr val="333344"/>
                </a:solidFill>
                <a:latin typeface="맑은 고딕"/>
              </a:defRPr>
            </a:pPr>
            <a:r>
              <a:t>전자식 변속 모터</a:t>
            </a:r>
            <a:br/>
            <a:r>
              <a:t>+ 포지션 감지 센서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000" b="1">
                <a:solidFill>
                  <a:srgbClr val="0047AB"/>
                </a:solidFill>
                <a:latin typeface="맑은 고딕"/>
              </a:defRPr>
            </a:pPr>
            <a:r>
              <a:t>📐 시간 기반 히스테리시스 적용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defRPr sz="1000" b="0">
                <a:solidFill>
                  <a:srgbClr val="333344"/>
                </a:solidFill>
                <a:latin typeface="맑은 고딕"/>
              </a:defRPr>
            </a:pPr>
            <a:r>
              <a:t>히스테리시스 → 변속 위치</a:t>
            </a:r>
            <a:br/>
            <a:r>
              <a:t>판단 안정성 (오변속 방지)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000" b="1">
                <a:solidFill>
                  <a:srgbClr val="FF6B35"/>
                </a:solidFill>
                <a:latin typeface="맑은 고딕"/>
              </a:defRPr>
            </a:pPr>
            <a:r>
              <a:t>🛡 Fail-Safe 적용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000" b="0">
                <a:solidFill>
                  <a:srgbClr val="333344"/>
                </a:solidFill>
                <a:latin typeface="맑은 고딕"/>
              </a:defRPr>
            </a:pPr>
            <a:r>
              <a:t>Fail-Safe → 센서 이상 시</a:t>
            </a:r>
            <a:br/>
            <a:r>
              <a:t>변속 금지 및 안전 상태 유지</a:t>
            </a:r>
            <a:br/>
            <a:r>
              <a:t>(정차 조건 충족 시에만 P단 허용)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0" y="2926080"/>
            <a:ext cx="3474720" cy="3566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CE5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0" y="2926080"/>
            <a:ext cx="3474720" cy="45720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0" y="3063240"/>
            <a:ext cx="31089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defRPr sz="1500" b="1">
                <a:solidFill>
                  <a:srgbClr val="002B5C"/>
                </a:solidFill>
                <a:latin typeface="맑은 고딕"/>
              </a:defRPr>
            </a:pPr>
            <a:r>
              <a:t>🪞  전동 폴딩 미러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defRPr sz="900" b="0">
                <a:solidFill>
                  <a:srgbClr val="666677"/>
                </a:solidFill>
                <a:latin typeface="맑은 고딕"/>
              </a:defRPr>
            </a:pPr>
            <a:r>
              <a:t>Power Folding Mirror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000" b="1">
                <a:solidFill>
                  <a:srgbClr val="002B5C"/>
                </a:solidFill>
                <a:latin typeface="맑은 고딕"/>
              </a:defRPr>
            </a:pPr>
            <a:r>
              <a:t>🔧 HW 구성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defRPr sz="1000" b="0">
                <a:solidFill>
                  <a:srgbClr val="333344"/>
                </a:solidFill>
                <a:latin typeface="맑은 고딕"/>
              </a:defRPr>
            </a:pPr>
            <a:r>
              <a:t>접힘/펼침 구동 모터</a:t>
            </a:r>
            <a:br/>
            <a:r>
              <a:t>+ 위치 센서 + 전류 감지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000" b="1">
                <a:solidFill>
                  <a:srgbClr val="0047AB"/>
                </a:solidFill>
                <a:latin typeface="맑은 고딕"/>
              </a:defRPr>
            </a:pPr>
            <a:r>
              <a:t>📐 시간 기반 히스테리시스 적용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defRPr sz="1000" b="0">
                <a:solidFill>
                  <a:srgbClr val="333344"/>
                </a:solidFill>
                <a:latin typeface="맑은 고딕"/>
              </a:defRPr>
            </a:pPr>
            <a:r>
              <a:t>히스테리시스 → 장애물 감지</a:t>
            </a:r>
            <a:br/>
            <a:r>
              <a:t>임계값 안정화 (오판 방지)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000" b="1">
                <a:solidFill>
                  <a:srgbClr val="FF6B35"/>
                </a:solidFill>
                <a:latin typeface="맑은 고딕"/>
              </a:defRPr>
            </a:pPr>
            <a:r>
              <a:t>🛡 Fail-Safe 적용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000" b="0">
                <a:solidFill>
                  <a:srgbClr val="333344"/>
                </a:solidFill>
                <a:latin typeface="맑은 고딕"/>
              </a:defRPr>
            </a:pPr>
            <a:r>
              <a:t>Fail-Safe → 과부하/장애물 시</a:t>
            </a:r>
            <a:br/>
            <a:r>
              <a:t>모터 즉시 정지 보호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66677"/>
                </a:solidFill>
                <a:latin typeface="맑은 고딕"/>
              </a:defRPr>
            </a:pPr>
            <a:r>
              <a:t>5 /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06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47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0" y="5029200"/>
            <a:ext cx="2743200" cy="914400"/>
          </a:xfrm>
          <a:prstGeom prst="rect">
            <a:avLst/>
          </a:prstGeom>
          <a:solidFill>
            <a:srgbClr val="0047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601200" y="6126480"/>
            <a:ext cx="2286000" cy="548640"/>
          </a:xfrm>
          <a:prstGeom prst="rect">
            <a:avLst/>
          </a:prstGeom>
          <a:solidFill>
            <a:srgbClr val="006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1371600"/>
            <a:ext cx="9144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800" b="0">
                <a:solidFill>
                  <a:srgbClr val="CCE5FF"/>
                </a:solidFill>
                <a:latin typeface="맑은 고딕"/>
              </a:defRPr>
            </a:pPr>
            <a:r>
              <a:t>기계공학의 뼈대 위에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defRPr sz="1800" b="0">
                <a:solidFill>
                  <a:srgbClr val="CCE5FF"/>
                </a:solidFill>
                <a:latin typeface="맑은 고딕"/>
              </a:defRPr>
            </a:pPr>
            <a:r>
              <a:t>똑똑한 SW의 두뇌를 탑재하는</a:t>
            </a:r>
          </a:p>
          <a:p>
            <a:pPr algn="l">
              <a:spcBef>
                <a:spcPts val="0"/>
              </a:spcBef>
              <a:spcAft>
                <a:spcPts val="2000"/>
              </a:spcAft>
              <a:defRPr sz="3600" b="1">
                <a:solidFill>
                  <a:srgbClr val="FFFFFF"/>
                </a:solidFill>
                <a:latin typeface="맑은 고딕"/>
              </a:defRPr>
            </a:pPr>
            <a:r>
              <a:t>에스엘의 미래 파트너.</a:t>
            </a:r>
          </a:p>
        </p:txBody>
      </p:sp>
      <p:sp>
        <p:nvSpPr>
          <p:cNvPr id="8" name="Rectangle 7"/>
          <p:cNvSpPr/>
          <p:nvPr/>
        </p:nvSpPr>
        <p:spPr>
          <a:xfrm>
            <a:off x="1371600" y="3383280"/>
            <a:ext cx="3200400" cy="2743"/>
          </a:xfrm>
          <a:prstGeom prst="rect">
            <a:avLst/>
          </a:prstGeom>
          <a:solidFill>
            <a:srgbClr val="006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520440"/>
            <a:ext cx="91440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defRPr sz="1300" b="1">
                <a:solidFill>
                  <a:srgbClr val="CCE5FF"/>
                </a:solidFill>
                <a:latin typeface="맑은 고딕"/>
              </a:defRPr>
            </a:pPr>
            <a:r>
              <a:t>▎ 이 프로젝트에서 얻은 핵심 인사이트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100" b="0">
                <a:solidFill>
                  <a:srgbClr val="FFFFFF"/>
                </a:solidFill>
                <a:latin typeface="맑은 고딕"/>
              </a:defRPr>
            </a:pPr>
            <a:r>
              <a:t>"센서를 믿는 것이 아니라, 센서의 한계를 전제로 상태기계를 설계하는 법을 배웠습니다."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100" b="0">
                <a:solidFill>
                  <a:srgbClr val="FFFFFF"/>
                </a:solidFill>
                <a:latin typeface="맑은 고딕"/>
              </a:defRPr>
            </a:pPr>
            <a:r>
              <a:t>"기계 응답 시간과 마모 메커니즘을 이해해야 SW 타이머도 의미 있게 설계할 수 있다는 점을 배웠습니다."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100" b="0">
                <a:solidFill>
                  <a:srgbClr val="FFFFFF"/>
                </a:solidFill>
                <a:latin typeface="맑은 고딕"/>
              </a:defRPr>
            </a:pPr>
            <a:r>
              <a:t>"Fail-Safe는 오류를 없애는 것이 아니라, 오류가 나도 안전측으로 전이시키는 설계라는 점을 체득했습니다."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0" y="5120640"/>
            <a:ext cx="1828800" cy="274320"/>
          </a:xfrm>
          <a:prstGeom prst="roundRect">
            <a:avLst/>
          </a:prstGeom>
          <a:solidFill>
            <a:srgbClr val="0047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900" b="1">
                <a:solidFill>
                  <a:srgbClr val="FFFFFF"/>
                </a:solidFill>
                <a:latin typeface="맑은 고딕"/>
              </a:defRPr>
            </a:pPr>
            <a:r>
              <a:t>Hysteresis Logic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83280" y="5120640"/>
            <a:ext cx="1828800" cy="274320"/>
          </a:xfrm>
          <a:prstGeom prst="roundRect">
            <a:avLst/>
          </a:prstGeom>
          <a:solidFill>
            <a:srgbClr val="0047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900" b="1">
                <a:solidFill>
                  <a:srgbClr val="FFFFFF"/>
                </a:solidFill>
                <a:latin typeface="맑은 고딕"/>
              </a:defRPr>
            </a:pPr>
            <a:r>
              <a:t>ASIL-B Fail-Safe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94960" y="5120640"/>
            <a:ext cx="1828800" cy="274320"/>
          </a:xfrm>
          <a:prstGeom prst="roundRect">
            <a:avLst/>
          </a:prstGeom>
          <a:solidFill>
            <a:srgbClr val="0047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900" b="1">
                <a:solidFill>
                  <a:srgbClr val="FFFFFF"/>
                </a:solidFill>
                <a:latin typeface="맑은 고딕"/>
              </a:defRPr>
            </a:pPr>
            <a:r>
              <a:t>MISRA C:2012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06640" y="5120640"/>
            <a:ext cx="1828800" cy="274320"/>
          </a:xfrm>
          <a:prstGeom prst="roundRect">
            <a:avLst/>
          </a:prstGeom>
          <a:solidFill>
            <a:srgbClr val="0047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900" b="1">
                <a:solidFill>
                  <a:srgbClr val="FFFFFF"/>
                </a:solidFill>
                <a:latin typeface="맑은 고딕"/>
              </a:defRPr>
            </a:pPr>
            <a:r>
              <a:t>Defensive Programming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418320" y="5120640"/>
            <a:ext cx="1828800" cy="274320"/>
          </a:xfrm>
          <a:prstGeom prst="roundRect">
            <a:avLst/>
          </a:prstGeom>
          <a:solidFill>
            <a:srgbClr val="0047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900" b="1">
                <a:solidFill>
                  <a:srgbClr val="FFFFFF"/>
                </a:solidFill>
                <a:latin typeface="맑은 고딕"/>
              </a:defRPr>
            </a:pPr>
            <a:r>
              <a:t>HW-SW 융합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562356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2000" b="0">
                <a:solidFill>
                  <a:srgbClr val="CCE5FF"/>
                </a:solidFill>
                <a:latin typeface="맑은 고딕"/>
              </a:defRPr>
            </a:pPr>
            <a:r>
              <a:t>경청해 주셔서 감사합니다.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66677"/>
                </a:solidFill>
                <a:latin typeface="맑은 고딕"/>
              </a:defRPr>
            </a:pPr>
            <a:r>
              <a:t>6 /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