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6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274320"/>
            <a:ext cx="2286000" cy="73152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0" y="1188720"/>
            <a:ext cx="1828800" cy="457200"/>
          </a:xfrm>
          <a:prstGeom prst="rect">
            <a:avLst/>
          </a:prstGeom>
          <a:solidFill>
            <a:srgbClr val="006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1645920"/>
            <a:ext cx="914400" cy="274320"/>
          </a:xfrm>
          <a:prstGeom prst="roundRect">
            <a:avLst/>
          </a:prstGeom>
          <a:solidFill>
            <a:srgbClr val="006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ASIL-B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1645920"/>
            <a:ext cx="1188720" cy="274320"/>
          </a:xfrm>
          <a:prstGeom prst="roundRect">
            <a:avLst/>
          </a:prstGeom>
          <a:solidFill>
            <a:srgbClr val="006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ISO 26262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645920"/>
            <a:ext cx="1371600" cy="274320"/>
          </a:xfrm>
          <a:prstGeom prst="roundRect">
            <a:avLst/>
          </a:prstGeom>
          <a:solidFill>
            <a:srgbClr val="006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MISRA C:2012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CCE5FF"/>
                </a:solidFill>
                <a:latin typeface="맑은 고딕"/>
              </a:defRPr>
            </a:pPr>
            <a:r>
              <a:t>기계공학의 메커니즘 위에</a:t>
            </a:r>
          </a:p>
          <a:p>
            <a:pPr algn="l">
              <a:spcBef>
                <a:spcPts val="0"/>
              </a:spcBef>
              <a:spcAft>
                <a:spcPts val="1600"/>
              </a:spcAft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ASIL-B 등급의 SW 안전을 설계하다.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4206240"/>
            <a:ext cx="3657600" cy="2743"/>
          </a:xfrm>
          <a:prstGeom prst="rect">
            <a:avLst/>
          </a:prstGeom>
          <a:solidFill>
            <a:srgbClr val="006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3891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600" b="0">
                <a:solidFill>
                  <a:srgbClr val="CCE5FF"/>
                </a:solidFill>
                <a:latin typeface="맑은 고딕"/>
              </a:defRPr>
            </a:pPr>
            <a:r>
              <a:t>하드웨어와 소프트웨어의 경계를 허무는 융합형 문제 해결사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66677"/>
                </a:solidFill>
                <a:latin typeface="맑은 고딕"/>
              </a:defRPr>
            </a:pPr>
            <a:r>
              <a:t>차량 도어 기구학 + 센서 물리 모델 + Fail-Safe SW 설계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0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6217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66677"/>
                </a:solidFill>
                <a:latin typeface="맑은 고딕"/>
              </a:defRPr>
            </a:pPr>
            <a:r>
              <a:t>지원 직무: 연구개발(R&amp;D)  ·  차량 SW 제어 로직 개발  ·  전장 부품 안전 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77"/>
                </a:solidFill>
                <a:latin typeface="맑은 고딕"/>
              </a:defRPr>
            </a:pPr>
            <a: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371600" cy="274320"/>
          </a:xfrm>
          <a:prstGeom prst="round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Q1. 문제 인식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  <a:latin typeface="맑은 고딕"/>
              </a:defRPr>
            </a:pPr>
            <a:r>
              <a:t>차량 안전 시스템의 핵심,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2600" b="1">
                <a:solidFill>
                  <a:srgbClr val="002B5C"/>
                </a:solidFill>
                <a:latin typeface="맑은 고딕"/>
              </a:defRPr>
            </a:pPr>
            <a:r>
              <a:t>HW와 SW의 유기적 통합의 괴리를 '문제'로 정의하다.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2743200" cy="2743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단순히 SW 코딩 공부가 아닙니다.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44"/>
                </a:solidFill>
                <a:latin typeface="맑은 고딕"/>
              </a:defRPr>
            </a:pPr>
            <a:r>
              <a:t>차량 도어(HW)의 물리적 거동을 이해하지 못한 SW 제어는</a:t>
            </a:r>
          </a:p>
          <a:p>
            <a:pPr algn="l">
              <a:spcBef>
                <a:spcPts val="0"/>
              </a:spcBef>
              <a:spcAft>
                <a:spcPts val="2000"/>
              </a:spcAft>
              <a:defRPr sz="1300" b="1">
                <a:solidFill>
                  <a:srgbClr val="E53335"/>
                </a:solidFill>
                <a:latin typeface="맑은 고딕"/>
              </a:defRPr>
            </a:pPr>
            <a:r>
              <a:t>치명적인 오작동으로 이어집니다.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44"/>
                </a:solidFill>
                <a:latin typeface="맑은 고딕"/>
              </a:defRPr>
            </a:pPr>
            <a:r>
              <a:t>⚠  센서 노이즈에 의한 모터 떨림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100" b="0">
                <a:solidFill>
                  <a:srgbClr val="666677"/>
                </a:solidFill>
                <a:latin typeface="맑은 고딕"/>
              </a:defRPr>
            </a:pPr>
            <a:r>
              <a:t>    → 도어 락 모터의 불필요한 반복 작동 → HW 수명 저하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44"/>
                </a:solidFill>
                <a:latin typeface="맑은 고딕"/>
              </a:defRPr>
            </a:pPr>
            <a:r>
              <a:t>⚠  고장 시 방치 (No Fail-Safe)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100" b="0">
                <a:solidFill>
                  <a:srgbClr val="666677"/>
                </a:solidFill>
                <a:latin typeface="맑은 고딕"/>
              </a:defRPr>
            </a:pPr>
            <a:r>
              <a:t>    → 센서 고장 인지 불가 → 안전 기능 무력화 → 승객 위험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44"/>
                </a:solidFill>
                <a:latin typeface="맑은 고딕"/>
              </a:defRPr>
            </a:pPr>
            <a:r>
              <a:t>⚠  경계값 떨림에 의한 오판단</a:t>
            </a:r>
          </a:p>
          <a:p>
            <a:pPr algn="l">
              <a:spcBef>
                <a:spcPts val="0"/>
              </a:spcBef>
              <a:spcAft>
                <a:spcPts val="2000"/>
              </a:spcAft>
              <a:defRPr sz="1100" b="0">
                <a:solidFill>
                  <a:srgbClr val="666677"/>
                </a:solidFill>
                <a:latin typeface="맑은 고딕"/>
              </a:defRPr>
            </a:pPr>
            <a:r>
              <a:t>    → ON/OFF 반복 토글 → 운전자 혼란 + 시스템 불신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94560"/>
            <a:ext cx="5029200" cy="1280160"/>
          </a:xfrm>
          <a:prstGeom prst="roundRect">
            <a:avLst/>
          </a:prstGeom>
          <a:solidFill>
            <a:srgbClr val="E8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2860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047AB"/>
                </a:solidFill>
                <a:latin typeface="맑은 고딕"/>
              </a:defRPr>
            </a:pPr>
            <a:r>
              <a:t>🔧  HW 관점 문제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3344"/>
                </a:solidFill>
                <a:latin typeface="맑은 고딕"/>
              </a:defRPr>
            </a:pPr>
            <a:r>
              <a:t>도어 래치/모터의 기계적 마모, 관성 지연,</a:t>
            </a:r>
            <a:br/>
            <a:r>
              <a:t>온도에 의한 센서 출력 드리프트를 SW가 보상해야 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749039"/>
            <a:ext cx="5029200" cy="1280160"/>
          </a:xfrm>
          <a:prstGeom prst="roundRect">
            <a:avLst/>
          </a:prstGeom>
          <a:solidFill>
            <a:srgbClr val="E8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38404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047AB"/>
                </a:solidFill>
                <a:latin typeface="맑은 고딕"/>
              </a:defRPr>
            </a:pPr>
            <a:r>
              <a:t>💻  SW 관점 문제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3344"/>
                </a:solidFill>
                <a:latin typeface="맑은 고딕"/>
              </a:defRPr>
            </a:pPr>
            <a:r>
              <a:t>단순 if-else 로직으로는 경계값 떨림/센서 오류에</a:t>
            </a:r>
            <a:br/>
            <a:r>
              <a:t>대응 불가 → Hysteresis + Fail-Safe 설계 필수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5303520"/>
            <a:ext cx="5029200" cy="1005840"/>
          </a:xfrm>
          <a:prstGeom prst="round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53949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✅  해결 접근: 기계공학 + SW 융합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CE5FF"/>
                </a:solidFill>
                <a:latin typeface="맑은 고딕"/>
              </a:defRPr>
            </a:pPr>
            <a:r>
              <a:t>물리적 거동 이해 → 히스테리시스 설계 → ASIL-B Fail-Safe 구현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77"/>
                </a:solidFill>
                <a:latin typeface="맑은 고딕"/>
              </a:defRPr>
            </a:pPr>
            <a: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645920" cy="274320"/>
          </a:xfrm>
          <a:prstGeom prst="round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Q2. 해결 과정 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365760"/>
            <a:ext cx="640080" cy="274320"/>
          </a:xfrm>
          <a:prstGeom prst="roundRect">
            <a:avLst/>
          </a:prstGeom>
          <a:solidFill>
            <a:srgbClr val="006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F-07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  <a:latin typeface="맑은 고딕"/>
              </a:defRPr>
            </a:pPr>
            <a:r>
              <a:t>기계공학도의 시각으로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2600" b="1">
                <a:solidFill>
                  <a:srgbClr val="002B5C"/>
                </a:solidFill>
                <a:latin typeface="맑은 고딕"/>
              </a:defRPr>
            </a:pPr>
            <a:r>
              <a:t>센서의 물리적 한계를 SW로 극복하다.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2743200" cy="2743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▎ 후방 접근 위험 판단 로직 (RearRiskEvaluation)</a:t>
            </a:r>
          </a:p>
        </p:txBody>
      </p:sp>
      <p:pic>
        <p:nvPicPr>
          <p:cNvPr id="9" name="Picture 8" descr="architecture_flow_17755636989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51760"/>
            <a:ext cx="5303520" cy="20116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4846320"/>
            <a:ext cx="1645920" cy="822960"/>
          </a:xfrm>
          <a:prstGeom prst="roundRect">
            <a:avLst/>
          </a:prstGeom>
          <a:solidFill>
            <a:srgbClr val="E8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8920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0047AB"/>
                </a:solidFill>
                <a:latin typeface="맑은 고딕"/>
              </a:defRPr>
            </a:pPr>
            <a:r>
              <a:t>📏 거리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≤ 3.0m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666677"/>
                </a:solidFill>
                <a:latin typeface="맑은 고딕"/>
              </a:defRPr>
            </a:pPr>
            <a:r>
              <a:t>근접 판단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4846320"/>
            <a:ext cx="1645920" cy="822960"/>
          </a:xfrm>
          <a:prstGeom prst="roundRect">
            <a:avLst/>
          </a:prstGeom>
          <a:solidFill>
            <a:srgbClr val="E8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48920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0047AB"/>
                </a:solidFill>
                <a:latin typeface="맑은 고딕"/>
              </a:defRPr>
            </a:pPr>
            <a:r>
              <a:t>🏎 속도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≥ 2.0m/s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666677"/>
                </a:solidFill>
                <a:latin typeface="맑은 고딕"/>
              </a:defRPr>
            </a:pPr>
            <a:r>
              <a:t>접근 속도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4846320"/>
            <a:ext cx="1645920" cy="822960"/>
          </a:xfrm>
          <a:prstGeom prst="roundRect">
            <a:avLst/>
          </a:prstGeom>
          <a:solidFill>
            <a:srgbClr val="E8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48920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0047AB"/>
                </a:solidFill>
                <a:latin typeface="맑은 고딕"/>
              </a:defRPr>
            </a:pPr>
            <a:r>
              <a:t>📡 신뢰도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≥ 70%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666677"/>
                </a:solidFill>
                <a:latin typeface="맑은 고딕"/>
              </a:defRPr>
            </a:pPr>
            <a:r>
              <a:t>센서 품질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521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66677"/>
                </a:solidFill>
                <a:latin typeface="맑은 고딕"/>
              </a:defRPr>
            </a:pPr>
            <a:r>
              <a:t>세 조건 동시 충족 + 500ms 지속 → Risk HIGH 확정  |  1000ms 안전 지속 → Risk 해제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▎ 핵심: 히스테리시스(Hysteresis) 로직</a:t>
            </a:r>
          </a:p>
        </p:txBody>
      </p:sp>
      <p:pic>
        <p:nvPicPr>
          <p:cNvPr id="18" name="Picture 17" descr="hysteresis_graph_17755637347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606040"/>
            <a:ext cx="5029200" cy="237744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400800" y="5074920"/>
            <a:ext cx="5029200" cy="137160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51663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569CD6"/>
                </a:solidFill>
                <a:latin typeface="Consolas"/>
              </a:defRPr>
            </a:pPr>
            <a:r>
              <a:t>static void updateHysteresis(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569CD6"/>
                </a:solidFill>
                <a:latin typeface="Consolas"/>
              </a:defRPr>
            </a:pPr>
            <a:r>
              <a:t>    F07_Context_t *ctx, bool rawThreat, uint32_t nowMs)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D4D4D4"/>
                </a:solidFill>
                <a:latin typeface="Consolas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569CD6"/>
                </a:solidFill>
                <a:latin typeface="Consolas"/>
              </a:defRPr>
            </a:pPr>
            <a:r>
              <a:t>    if (rawThreat)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D4D4D4"/>
                </a:solidFill>
                <a:latin typeface="Consolas"/>
              </a:defRPr>
            </a:pPr>
            <a:r>
              <a:t>        ctx-&gt;riskClearTimestampMs = nowMs;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569CD6"/>
                </a:solidFill>
                <a:latin typeface="Consolas"/>
              </a:defRPr>
            </a:pPr>
            <a:r>
              <a:t>        if (!ctx-&gt;isThreatOngoing)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D4D4D4"/>
                </a:solidFill>
                <a:latin typeface="Consolas"/>
              </a:defRPr>
            </a:pPr>
            <a:r>
              <a:t>            ctx-&gt;isThreatOngoing = true;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D4D4D4"/>
                </a:solidFill>
                <a:latin typeface="Consolas"/>
              </a:defRPr>
            </a:pPr>
            <a:r>
              <a:t>            ctx-&gt;riskOnsetTimestampMs = nowMs;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D4D4D4"/>
                </a:solidFill>
                <a:latin typeface="Consolas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6A9955"/>
                </a:solidFill>
                <a:latin typeface="Consolas"/>
              </a:defRPr>
            </a:pPr>
            <a:r>
              <a:t>        /* Confirm HIGH after sustained threat */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569CD6"/>
                </a:solidFill>
                <a:latin typeface="Consolas"/>
              </a:defRPr>
            </a:pPr>
            <a:r>
              <a:t>        if ((nowMs - ctx-&gt;riskOnsetTimestampMs)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D4D4D4"/>
                </a:solidFill>
                <a:latin typeface="Consolas"/>
              </a:defRPr>
            </a:pPr>
            <a:r>
              <a:t>            &gt;= REAR_RISK_CONFIRM_DURATION_MS)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D4D4D4"/>
                </a:solidFill>
                <a:latin typeface="Consolas"/>
              </a:defRPr>
            </a:pPr>
            <a:r>
              <a:t>            ctx-&gt;isRiskHighActive = true;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569CD6"/>
                </a:solidFill>
                <a:latin typeface="Consolas"/>
              </a:defRPr>
            </a:pPr>
            <a:r>
              <a:t>    } else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6A9955"/>
                </a:solidFill>
                <a:latin typeface="Consolas"/>
              </a:defRPr>
            </a:pPr>
            <a:r>
              <a:t>        /* Clear HIGH after sustained safe */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569CD6"/>
                </a:solidFill>
                <a:latin typeface="Consolas"/>
              </a:defRPr>
            </a:pPr>
            <a:r>
              <a:t>        if ((nowMs - ctx-&gt;riskClearTimestampMs)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D4D4D4"/>
                </a:solidFill>
                <a:latin typeface="Consolas"/>
              </a:defRPr>
            </a:pPr>
            <a:r>
              <a:t>            &gt;= REAR_RISK_CLEAR_DURATION_MS)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D4D4D4"/>
                </a:solidFill>
                <a:latin typeface="Consolas"/>
              </a:defRPr>
            </a:pPr>
            <a:r>
              <a:t>            ctx-&gt;isRiskHighActive = false;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D4D4D4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D4D4D4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77"/>
                </a:solidFill>
                <a:latin typeface="맑은 고딕"/>
              </a:defRPr>
            </a:pPr>
            <a: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645920" cy="274320"/>
          </a:xfrm>
          <a:prstGeom prst="round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Q2. 해결 과정 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365760"/>
            <a:ext cx="640080" cy="274320"/>
          </a:xfrm>
          <a:prstGeom prst="roundRect">
            <a:avLst/>
          </a:prstGeom>
          <a:solidFill>
            <a:srgbClr val="006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F-08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  <a:latin typeface="맑은 고딕"/>
              </a:defRPr>
            </a:pPr>
            <a:r>
              <a:t>ASIL-B 등급의 Fail-Safe 시스템을 구축해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2600" b="1">
                <a:solidFill>
                  <a:srgbClr val="002B5C"/>
                </a:solidFill>
                <a:latin typeface="맑은 고딕"/>
              </a:defRPr>
            </a:pPr>
            <a:r>
              <a:t>무결점 안전을 확보하다.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2743200" cy="2743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▎ 보호 액션 실행 흐름 (ProtectionController)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5029200" cy="1188720"/>
          </a:xfrm>
          <a:prstGeom prst="roundRect">
            <a:avLst/>
          </a:prstGeom>
          <a:solidFill>
            <a:srgbClr val="E8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E53335"/>
                </a:solidFill>
                <a:latin typeface="맑은 고딕"/>
              </a:defRPr>
            </a:pPr>
            <a:r>
              <a:t>🔴  Risk HIGH  →  즉시 보호 액션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333344"/>
                </a:solidFill>
                <a:latin typeface="맑은 고딕"/>
              </a:defRPr>
            </a:pPr>
            <a:r>
              <a:t>• 도어 차일드락 강제 ON (targetCLState = CL_STATE_ON)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333344"/>
                </a:solidFill>
                <a:latin typeface="맑은 고딕"/>
              </a:defRPr>
            </a:pPr>
            <a:r>
              <a:t>• 경고음 발생 + HMI 경고 메시지 표시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3344"/>
                </a:solidFill>
                <a:latin typeface="맑은 고딕"/>
              </a:defRPr>
            </a:pPr>
            <a:r>
              <a:t>• 이벤트 로그 기록 (eventLog = true)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029200" cy="1188720"/>
          </a:xfrm>
          <a:prstGeom prst="roundRect">
            <a:avLst/>
          </a:prstGeom>
          <a:solidFill>
            <a:srgbClr val="FF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FF6B35"/>
                </a:solidFill>
                <a:latin typeface="맑은 고딕"/>
              </a:defRPr>
            </a:pPr>
            <a:r>
              <a:t>🟠  Sensor FAULT  →  SAFE_LOCKED 정책 (SDD 5.2.3)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333344"/>
                </a:solidFill>
                <a:latin typeface="맑은 고딕"/>
              </a:defRPr>
            </a:pPr>
            <a:r>
              <a:t>• 센서 고장 시 즉시 CL ON 유지 / 강제 활성화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333344"/>
                </a:solidFill>
                <a:latin typeface="맑은 고딕"/>
              </a:defRPr>
            </a:pPr>
            <a:r>
              <a:t>• 운전자 필수 알림 (warningSound = true)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3344"/>
                </a:solidFill>
                <a:latin typeface="맑은 고딕"/>
              </a:defRPr>
            </a:pPr>
            <a:r>
              <a:t>• DTC 저장 및 FAULT_FLAG_REAR_SENSOR 세트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94960"/>
            <a:ext cx="5029200" cy="822960"/>
          </a:xfrm>
          <a:prstGeom prst="roundRect">
            <a:avLst/>
          </a:prstGeom>
          <a:solidFill>
            <a:srgbClr val="E0F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486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00C853"/>
                </a:solidFill>
                <a:latin typeface="맑은 고딕"/>
              </a:defRPr>
            </a:pPr>
            <a:r>
              <a:t>🟢  Risk LOW/NONE  →  현재 상태 유지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3344"/>
                </a:solidFill>
                <a:latin typeface="맑은 고딕"/>
              </a:defRPr>
            </a:pPr>
            <a:r>
              <a:t>• 경고 해제, 정상 운전 모드 유지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▎ Defensive Programming + Fail-Safe 코드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606040"/>
            <a:ext cx="5029200" cy="292608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6974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569CD6"/>
                </a:solidFill>
                <a:latin typeface="Consolas"/>
              </a:defRPr>
            </a:pPr>
            <a:r>
              <a:t>void F08_RearRiskProtectionController_Run(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569CD6"/>
                </a:solidFill>
                <a:latin typeface="Consolas"/>
              </a:defRPr>
            </a:pPr>
            <a:r>
              <a:t>    const RearRiskProtectionInput_t *input,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D4D4D4"/>
                </a:solidFill>
                <a:latin typeface="Consolas"/>
              </a:defRPr>
            </a:pPr>
            <a:r>
              <a:t>    RearRiskProtectionOutput_t     *output)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D4D4D4"/>
                </a:solidFill>
                <a:latin typeface="Consolas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6A9955"/>
                </a:solidFill>
                <a:latin typeface="Consolas"/>
              </a:defRPr>
            </a:pPr>
            <a:r>
              <a:t>    /* Defensive: NULL pointer guard */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569CD6"/>
                </a:solidFill>
                <a:latin typeface="Consolas"/>
              </a:defRPr>
            </a:pPr>
            <a:r>
              <a:t>    if ((input == NULL) || (output == NULL))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569CD6"/>
                </a:solidFill>
                <a:latin typeface="Consolas"/>
              </a:defRPr>
            </a:pPr>
            <a:r>
              <a:t>        return;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D4D4D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D4D4D4"/>
                </a:solidFill>
                <a:latin typeface="Consolas"/>
              </a:defRPr>
            </a:pPr>
            <a:r>
              <a:t>    initNeutralOutput(input-&gt;currentCLState, output);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D4D4D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6A9955"/>
                </a:solidFill>
                <a:latin typeface="Consolas"/>
              </a:defRPr>
            </a:pPr>
            <a:r>
              <a:t>    /* IGN OFF → feature inactive */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569CD6"/>
                </a:solidFill>
                <a:latin typeface="Consolas"/>
              </a:defRPr>
            </a:pPr>
            <a:r>
              <a:t>    if (input-&gt;ignitionState != IGN_STATE_ON)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569CD6"/>
                </a:solidFill>
                <a:latin typeface="Consolas"/>
              </a:defRPr>
            </a:pPr>
            <a:r>
              <a:t>        return;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D4D4D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6A9955"/>
                </a:solidFill>
                <a:latin typeface="Consolas"/>
              </a:defRPr>
            </a:pPr>
            <a:r>
              <a:t>    /* FAULT: SAFE_LOCKED policy (SDD 5.2.3) */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569CD6"/>
                </a:solidFill>
                <a:latin typeface="Consolas"/>
              </a:defRPr>
            </a:pPr>
            <a:r>
              <a:t>    if (!input-&gt;riskValid)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DCDCAA"/>
                </a:solidFill>
                <a:latin typeface="Consolas"/>
              </a:defRPr>
            </a:pPr>
            <a:r>
              <a:t>        output-&gt;targetCLState = CL_STATE_ON;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D4D4D4"/>
                </a:solidFill>
                <a:latin typeface="Consolas"/>
              </a:defRPr>
            </a:pPr>
            <a:r>
              <a:t>        output-&gt;warningSound  = true;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D4D4D4"/>
                </a:solidFill>
                <a:latin typeface="Consolas"/>
              </a:defRPr>
            </a:pPr>
            <a:r>
              <a:t>        output-&gt;eventLog      = true;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569CD6"/>
                </a:solidFill>
                <a:latin typeface="Consolas"/>
              </a:defRPr>
            </a:pPr>
            <a:r>
              <a:t>        return;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D4D4D4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D4D4D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6A9955"/>
                </a:solidFill>
                <a:latin typeface="Consolas"/>
              </a:defRPr>
            </a:pPr>
            <a:r>
              <a:t>    /* Risk HIGH: protective action */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569CD6"/>
                </a:solidFill>
                <a:latin typeface="Consolas"/>
              </a:defRPr>
            </a:pPr>
            <a:r>
              <a:t>    if (input-&gt;riskHigh)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DCDCAA"/>
                </a:solidFill>
                <a:latin typeface="Consolas"/>
              </a:defRPr>
            </a:pPr>
            <a:r>
              <a:t>        output-&gt;targetCLState = CL_STATE_ON;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D4D4D4"/>
                </a:solidFill>
                <a:latin typeface="Consolas"/>
              </a:defRPr>
            </a:pPr>
            <a:r>
              <a:t>        output-&gt;warningSound  = true;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D4D4D4"/>
                </a:solidFill>
                <a:latin typeface="Consolas"/>
              </a:defRPr>
            </a:pPr>
            <a:r>
              <a:t>        output-&gt;eventLog      = true;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D4D4D4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D4D4D4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5669280"/>
            <a:ext cx="1554480" cy="777240"/>
          </a:xfrm>
          <a:prstGeom prst="roundRect">
            <a:avLst/>
          </a:prstGeom>
          <a:solidFill>
            <a:srgbClr val="E8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57150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0047AB"/>
                </a:solidFill>
                <a:latin typeface="맑은 고딕"/>
              </a:defRPr>
            </a:pPr>
            <a:r>
              <a:t>MISRA C:2012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666677"/>
                </a:solidFill>
                <a:latin typeface="맑은 고딕"/>
              </a:defRPr>
            </a:pPr>
            <a:r>
              <a:t>Rule 21.3 동적 메모리 금지</a:t>
            </a:r>
            <a:br/>
            <a:r>
              <a:t>Rule 15.5 단일 return 패턴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5669280"/>
            <a:ext cx="1554480" cy="777240"/>
          </a:xfrm>
          <a:prstGeom prst="roundRect">
            <a:avLst/>
          </a:prstGeom>
          <a:solidFill>
            <a:srgbClr val="E8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57150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0047AB"/>
                </a:solidFill>
                <a:latin typeface="맑은 고딕"/>
              </a:defRPr>
            </a:pPr>
            <a:r>
              <a:t>ISO 26262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666677"/>
                </a:solidFill>
                <a:latin typeface="맑은 고딕"/>
              </a:defRPr>
            </a:pPr>
            <a:r>
              <a:t>ASIL-B 등급 SW 개발</a:t>
            </a:r>
            <a:br/>
            <a:r>
              <a:t>Defensive Programming 적용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5669280"/>
            <a:ext cx="1554480" cy="777240"/>
          </a:xfrm>
          <a:prstGeom prst="roundRect">
            <a:avLst/>
          </a:prstGeom>
          <a:solidFill>
            <a:srgbClr val="E8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0" y="57150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0047AB"/>
                </a:solidFill>
                <a:latin typeface="맑은 고딕"/>
              </a:defRPr>
            </a:pPr>
            <a:r>
              <a:t>A-SPICE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666677"/>
                </a:solidFill>
                <a:latin typeface="맑은 고딕"/>
              </a:defRPr>
            </a:pPr>
            <a:r>
              <a:t>요구사항 ↔ 코드 추적성</a:t>
            </a:r>
            <a:br/>
            <a:r>
              <a:t>DD-CL-F08 트레이서빌리티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77"/>
                </a:solidFill>
                <a:latin typeface="맑은 고딕"/>
              </a:defRPr>
            </a:pPr>
            <a: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103120" cy="274320"/>
          </a:xfrm>
          <a:prstGeom prst="round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Q3. 에스엘 적용 방안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  <a:latin typeface="맑은 고딕"/>
              </a:defRPr>
            </a:pPr>
            <a:r>
              <a:t>에스엘의 전장 부품에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2600" b="1">
                <a:solidFill>
                  <a:srgbClr val="002B5C"/>
                </a:solidFill>
                <a:latin typeface="맑은 고딕"/>
              </a:defRPr>
            </a:pPr>
            <a:r>
              <a:t>ASIL-B 수준의 '안전 기반 통합 제어 역량'을 이식하다.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2743200" cy="2743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_application_17755637122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94560"/>
            <a:ext cx="10515600" cy="228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663440"/>
            <a:ext cx="3474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663440"/>
            <a:ext cx="3474720" cy="4572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400" b="1">
                <a:solidFill>
                  <a:srgbClr val="0047AB"/>
                </a:solidFill>
                <a:latin typeface="맑은 고딕"/>
              </a:defRPr>
            </a:pPr>
            <a:r>
              <a:t>💡  ADB 헤드램프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900" b="0">
                <a:solidFill>
                  <a:srgbClr val="666677"/>
                </a:solidFill>
                <a:latin typeface="맑은 고딕"/>
              </a:defRPr>
            </a:pPr>
            <a:r>
              <a:t>Adaptive Driving Beam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44"/>
                </a:solidFill>
                <a:latin typeface="맑은 고딕"/>
              </a:defRPr>
            </a:pPr>
            <a:r>
              <a:t>히스테리시스 → 빔 패턴 경계값 안정화</a:t>
            </a:r>
            <a:br/>
            <a:r>
              <a:t>Fail-Safe → 센서 고장 시 기본 빔 유지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4663440"/>
            <a:ext cx="3474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4663440"/>
            <a:ext cx="3474720" cy="45720"/>
          </a:xfrm>
          <a:prstGeom prst="rect">
            <a:avLst/>
          </a:prstGeom>
          <a:solidFill>
            <a:srgbClr val="006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39" y="48006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400" b="1">
                <a:solidFill>
                  <a:srgbClr val="006ED6"/>
                </a:solidFill>
                <a:latin typeface="맑은 고딕"/>
              </a:defRPr>
            </a:pPr>
            <a:r>
              <a:t>⚙️  E-Shifter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900" b="0">
                <a:solidFill>
                  <a:srgbClr val="666677"/>
                </a:solidFill>
                <a:latin typeface="맑은 고딕"/>
              </a:defRPr>
            </a:pPr>
            <a:r>
              <a:t>Electronic Gear Shifter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44"/>
                </a:solidFill>
                <a:latin typeface="맑은 고딕"/>
              </a:defRPr>
            </a:pPr>
            <a:r>
              <a:t>히스테리시스 → 변속 위치 판단 안정성</a:t>
            </a:r>
            <a:br/>
            <a:r>
              <a:t>Fail-Safe → 오변속 방지 + P단 안전 로직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663440"/>
            <a:ext cx="3474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4663440"/>
            <a:ext cx="3474720" cy="457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48006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🪞  전동 폴딩 미러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900" b="0">
                <a:solidFill>
                  <a:srgbClr val="666677"/>
                </a:solidFill>
                <a:latin typeface="맑은 고딕"/>
              </a:defRPr>
            </a:pPr>
            <a:r>
              <a:t>Power Folding Mirror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44"/>
                </a:solidFill>
                <a:latin typeface="맑은 고딕"/>
              </a:defRPr>
            </a:pPr>
            <a:r>
              <a:t>히스테리시스 → 장애물 감지 임계값 안정화</a:t>
            </a:r>
            <a:br/>
            <a:r>
              <a:t>Fail-Safe → 과부하 시 모터 정지 보호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77"/>
                </a:solidFill>
                <a:latin typeface="맑은 고딕"/>
              </a:defRPr>
            </a:pPr>
            <a: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6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0" y="5029200"/>
            <a:ext cx="2743200" cy="9144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0" y="6126480"/>
            <a:ext cx="2286000" cy="548640"/>
          </a:xfrm>
          <a:prstGeom prst="rect">
            <a:avLst/>
          </a:prstGeom>
          <a:solidFill>
            <a:srgbClr val="006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CCE5FF"/>
                </a:solidFill>
                <a:latin typeface="맑은 고딕"/>
              </a:defRPr>
            </a:pPr>
            <a:r>
              <a:t>기계공학의 뼈대 위에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800" b="0">
                <a:solidFill>
                  <a:srgbClr val="CCE5FF"/>
                </a:solidFill>
                <a:latin typeface="맑은 고딕"/>
              </a:defRPr>
            </a:pPr>
            <a:r>
              <a:t>똑똑한 SW의 두뇌를 탑재하는</a:t>
            </a:r>
          </a:p>
          <a:p>
            <a:pPr algn="l">
              <a:spcBef>
                <a:spcPts val="0"/>
              </a:spcBef>
              <a:spcAft>
                <a:spcPts val="3000"/>
              </a:spcAft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에스엘의 미래 파트너.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206240"/>
            <a:ext cx="3200400" cy="2743"/>
          </a:xfrm>
          <a:prstGeom prst="rect">
            <a:avLst/>
          </a:prstGeom>
          <a:solidFill>
            <a:srgbClr val="006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4480560"/>
            <a:ext cx="1828800" cy="274320"/>
          </a:xfrm>
          <a:prstGeom prst="round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Hysteresis Logic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4480560"/>
            <a:ext cx="1828800" cy="274320"/>
          </a:xfrm>
          <a:prstGeom prst="round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ASIL-B Fail-Safe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4480560"/>
            <a:ext cx="1828800" cy="274320"/>
          </a:xfrm>
          <a:prstGeom prst="round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MISRA C:2012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4480560"/>
            <a:ext cx="1828800" cy="274320"/>
          </a:xfrm>
          <a:prstGeom prst="round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Defensive Programming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4480560"/>
            <a:ext cx="1828800" cy="274320"/>
          </a:xfrm>
          <a:prstGeom prst="round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HW-SW 융합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206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CCE5FF"/>
                </a:solidFill>
                <a:latin typeface="맑은 고딕"/>
              </a:defRPr>
            </a:pPr>
            <a:r>
              <a:t>경청해 주셔서 감사합니다.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77"/>
                </a:solidFill>
                <a:latin typeface="맑은 고딕"/>
              </a:defRPr>
            </a:pPr>
            <a: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