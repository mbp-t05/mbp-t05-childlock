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/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>
    <p:restoredLeft sz="15620"/>
    <p:restoredTop sz="94660"/>
  </p:normalViewPr>
  <p:slideViewPr>
    <p:cSldViewPr snapToGrid="0" snapToObjects="1" showGuides="1">
      <p:cViewPr varScale="1">
        <p:scale>
          <a:sx n="100" d="100"/>
          <a:sy n="100" d="100"/>
        </p:scale>
        <p:origin x="-1512" y="-112"/>
      </p:cViewPr>
      <p:guideLst>
        <p:guide orient="horz" pos="2158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theme" Target="theme/theme1.xml"  /><Relationship Id="rId11" Type="http://schemas.openxmlformats.org/officeDocument/2006/relationships/tableStyles" Target="tableStyles.xml"  /><Relationship Id="rId2" Type="http://schemas.openxmlformats.org/officeDocument/2006/relationships/slide" Target="slides/slide1.xml"  /><Relationship Id="rId3" Type="http://schemas.openxmlformats.org/officeDocument/2006/relationships/slide" Target="slides/slide2.xml"  /><Relationship Id="rId4" Type="http://schemas.openxmlformats.org/officeDocument/2006/relationships/slide" Target="slides/slide3.xml"  /><Relationship Id="rId5" Type="http://schemas.openxmlformats.org/officeDocument/2006/relationships/slide" Target="slides/slide4.xml"  /><Relationship Id="rId6" Type="http://schemas.openxmlformats.org/officeDocument/2006/relationships/slide" Target="slides/slide5.xml"  /><Relationship Id="rId7" Type="http://schemas.openxmlformats.org/officeDocument/2006/relationships/slide" Target="slides/slide6.xml"  /><Relationship Id="rId8" Type="http://schemas.openxmlformats.org/officeDocument/2006/relationships/presProps" Target="presProps.xml"  /><Relationship Id="rId9" Type="http://schemas.openxmlformats.org/officeDocument/2006/relationships/viewProps" Target="viewProps.xml"  /></Relationship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10" Type="http://schemas.openxmlformats.org/officeDocument/2006/relationships/slideLayout" Target="../slideLayouts/slideLayout10.xml"  /><Relationship Id="rId11" Type="http://schemas.openxmlformats.org/officeDocument/2006/relationships/slideLayout" Target="../slideLayouts/slideLayout11.xml"  /><Relationship Id="rId12" Type="http://schemas.openxmlformats.org/officeDocument/2006/relationships/theme" Target="../theme/theme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slideLayout" Target="../slideLayouts/slideLayout5.xml"  /><Relationship Id="rId6" Type="http://schemas.openxmlformats.org/officeDocument/2006/relationships/slideLayout" Target="../slideLayouts/slideLayout6.xml"  /><Relationship Id="rId7" Type="http://schemas.openxmlformats.org/officeDocument/2006/relationships/slideLayout" Target="../slideLayouts/slideLayout7.xml"  /><Relationship Id="rId8" Type="http://schemas.openxmlformats.org/officeDocument/2006/relationships/slideLayout" Target="../slideLayouts/slideLayout8.xml"  /><Relationship Id="rId9" Type="http://schemas.openxmlformats.org/officeDocument/2006/relationships/slideLayout" Target="../slideLayouts/slideLayout9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1.jpeg"  /><Relationship Id="rId3" Type="http://schemas.openxmlformats.org/officeDocument/2006/relationships/image" Target="../media/image2.jpeg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Relationship Id="rId2" Type="http://schemas.openxmlformats.org/officeDocument/2006/relationships/image" Target="../media/image3.jpe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7.xml"  /></Relationships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1645920"/>
            <a:ext cx="9144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645920"/>
            <a:ext cx="118872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ISO 26262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66160" y="1645920"/>
            <a:ext cx="137160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기계공학의 메커니즘 위에</a:t>
            </a:r>
          </a:p>
          <a:p>
            <a:pPr algn="l">
              <a:spcBef>
                <a:spcPts val="0"/>
              </a:spcBef>
              <a:spcAft>
                <a:spcPts val="16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ASIL-B 등급의 SW 안전을 설계하다.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4206240"/>
            <a:ext cx="36576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389120"/>
            <a:ext cx="9144000" cy="628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spcBef>
                <a:spcPts val="0"/>
              </a:spcBef>
              <a:spcAft>
                <a:spcPts val="800"/>
              </a:spcAft>
              <a:defRPr sz="1600" b="0">
                <a:solidFill>
                  <a:srgbClr val="cce5ff"/>
                </a:solidFill>
                <a:latin typeface="맑은 고딕"/>
              </a:defRPr>
            </a:pPr>
            <a:r>
              <a:rPr lang="ko-KR" altLang="en-US"/>
              <a:t>하드웨어와 소프트웨어의 경계를 허무는 융합형 문제 해결사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300" b="0">
                <a:solidFill>
                  <a:srgbClr val="666677"/>
                </a:solidFill>
                <a:latin typeface="맑은 고딕"/>
              </a:defRPr>
            </a:pPr>
            <a:r>
              <a:rPr lang="ko-KR" altLang="en-US">
                <a:solidFill>
                  <a:schemeClr val="lt1"/>
                </a:solidFill>
              </a:rPr>
              <a:t>차량 도어 기구학 + 센서 물리 모델 + Fail-Safe SW 설계</a:t>
            </a:r>
            <a:endParaRPr lang="ko-KR" altLang="en-US">
              <a:solidFill>
                <a:schemeClr val="lt1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001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6217920"/>
            <a:ext cx="10058400" cy="257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666677"/>
                </a:solidFill>
                <a:latin typeface="맑은 고딕"/>
              </a:defRPr>
            </a:pPr>
            <a:r>
              <a:rPr lang="ko-KR" altLang="en-US">
                <a:solidFill>
                  <a:schemeClr val="lt1"/>
                </a:solidFill>
              </a:rPr>
              <a:t>지원 직무: 연구개발(R&amp;D)  ·  차량 SW 제어 로직 개발  ·  전장 부품 안전 설계</a:t>
            </a:r>
            <a:endParaRPr lang="ko-KR" altLang="en-US">
              <a:solidFill>
                <a:schemeClr val="lt1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3716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Q1. 문제 인식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차량 안전 시스템의 핵심,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HW와 SW의 유기적 통합의 괴리를 '문제'로 정의하다.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차일드 락 액추에이터의 기계적 특성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51760"/>
            <a:ext cx="5029200" cy="164592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4572000" cy="1369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rPr lang="ko-KR" altLang="en-US"/>
              <a:t>🔧  소형 DC 모터 + 기어 + 링크 구조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• 응답 지연 (수십 ms 수준): 모터 구동 → 래치 체결까지의 물리적 시간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• 기어 백래시(Backlash): 기어 치합 유격으로 인한 위치 불확정 구간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• 관성 지연(Inertia): 모터 정지 명령 후에도 관성에 의해 회전 지속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• 온도 드리프트: 극저온/고온 환경에서 센서 출력값 변동</a:t>
            </a:r>
            <a:endParaRPr lang="ko-KR" altLang="en-US"/>
          </a:p>
        </p:txBody>
      </p:sp>
      <p:sp>
        <p:nvSpPr>
          <p:cNvPr id="10" name="Rounded Rectangle 9"/>
          <p:cNvSpPr/>
          <p:nvPr/>
        </p:nvSpPr>
        <p:spPr>
          <a:xfrm>
            <a:off x="731520" y="4480560"/>
            <a:ext cx="5029200" cy="5029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526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✅  결론: HW의 물리적 한계를 이해한 SW 설계가 필수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▎ 정의한 핵심 문제 → 해결 모듈 매핑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2651760"/>
            <a:ext cx="5029200" cy="1234440"/>
          </a:xfrm>
          <a:prstGeom prst="roundRect">
            <a:avLst/>
          </a:prstGeom>
          <a:solidFill>
            <a:srgbClr val="FFF8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332720" y="2697480"/>
            <a:ext cx="8229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697480"/>
            <a:ext cx="3657600" cy="843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ff6b35"/>
                </a:solidFill>
                <a:latin typeface="맑은 고딕"/>
              </a:defRPr>
            </a:pPr>
            <a:r>
              <a:rPr lang="ko-KR" altLang="en-US"/>
              <a:t>①  경계값 떨림 → 모터 내구 리스크 위험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센서 노이즈 → 초당 수십 번 ON/OFF 명령</a:t>
            </a:r>
            <a:br>
              <a:rPr lang="ko-KR" altLang="en-US"/>
            </a:br>
            <a:r>
              <a:rPr lang="ko-KR" altLang="en-US"/>
              <a:t>→ 모터 소손(Burn-out) + 기어 마모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rPr lang="ko-KR" altLang="en-US"/>
              <a:t>→ 해결: 시간 기반 히스테리시스 밴드 (500ms/1000ms)</a:t>
            </a:r>
            <a:endParaRPr lang="ko-KR" altLang="en-US"/>
          </a:p>
        </p:txBody>
      </p:sp>
      <p:sp>
        <p:nvSpPr>
          <p:cNvPr id="16" name="Rounded Rectangle 15"/>
          <p:cNvSpPr/>
          <p:nvPr/>
        </p:nvSpPr>
        <p:spPr>
          <a:xfrm>
            <a:off x="6400800" y="4023360"/>
            <a:ext cx="5029200" cy="123444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332720" y="4069080"/>
            <a:ext cx="8229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0690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E53335"/>
                </a:solidFill>
                <a:latin typeface="맑은 고딕"/>
              </a:defRPr>
            </a:pPr>
            <a:r>
              <a:t>②  센서 고장 시 방치 (No Fail-Safe)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고장 인지 불가 → 차일드 락 풀림 방치</a:t>
            </a:r>
            <a:br/>
            <a:r>
              <a:t>→ 아이가 문 열고 도로 추락 위험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E53335"/>
                </a:solidFill>
                <a:latin typeface="맑은 고딕"/>
              </a:defRPr>
            </a:pPr>
            <a:r>
              <a:t>→ 해결: SAFE_LOCKED 강제 잠금 정책 (SDD 5.2.3)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5394960"/>
            <a:ext cx="5029200" cy="96012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875520" y="5440680"/>
            <a:ext cx="128016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→ F-07 &amp; F-08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5440680"/>
            <a:ext cx="3017520" cy="843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spcBef>
                <a:spcPts val="0"/>
              </a:spcBef>
              <a:spcAft>
                <a:spcPts val="4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rPr lang="ko-KR" altLang="en-US"/>
              <a:t>③  HW-SW 융합 관점 부재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모터 응답 수십 ms 수준을 무시한 SW → 기계적 피로 누적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4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rPr lang="ko-KR" altLang="en-US"/>
              <a:t>→ 해결: 기계공학 기반 안전 마진 타이머 설계</a:t>
            </a:r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기계공학도의 시각으로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센서의 물리적 한계를 SW로 극복하다.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후방 접근 위험 판단 로직 플로우</a:t>
            </a:r>
          </a:p>
        </p:txBody>
      </p:sp>
      <p:pic>
        <p:nvPicPr>
          <p:cNvPr id="9" name="Picture 8" descr="f07_flowchart_177556469708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핵심: 시간 기반 히스테리시스 밴드 — 왜 필요한가?</a:t>
            </a:r>
          </a:p>
        </p:txBody>
      </p:sp>
      <p:pic>
        <p:nvPicPr>
          <p:cNvPr id="11" name="Picture 10" descr="hysteresis_graph_17755637347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2606040"/>
            <a:ext cx="5029200" cy="1828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0" y="4572000"/>
            <a:ext cx="5029200" cy="182880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4617720"/>
            <a:ext cx="4572000" cy="1819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algn="l">
              <a:spcBef>
                <a:spcPts val="0"/>
              </a:spcBef>
              <a:spcAft>
                <a:spcPts val="6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rPr lang="ko-KR" altLang="en-US"/>
              <a:t>🔧  HW 보호 관점의 시간 기반 히스테리시스 설계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rPr lang="ko-KR" altLang="en-US"/>
              <a:t>확정 타이머 (500ms) — 모터 응답 수십 ms 수준의 10배 마진 확보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1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센서 값이 튀더라도 모터가 물리적으로 반응할 수 있는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6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충분한 안정화 시간을 SW가 확보 → 기계적 피로도 극적 감소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002b5c"/>
                </a:solidFill>
                <a:latin typeface="맑은 고딕"/>
              </a:defRPr>
            </a:pPr>
            <a:r>
              <a:rPr lang="ko-KR" altLang="en-US"/>
              <a:t>해제 타이머 (1000ms) — 확정 대비 2배 비대칭 설계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1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rPr lang="ko-KR" altLang="en-US"/>
              <a:t>안전 해제는 더 보수적으로: 1초 이상 안전 지속 확인 후 해제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6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rPr lang="ko-KR" altLang="en-US"/>
              <a:t>→ 모터 반복 구동 방지 + 기어 마모/소손 위험 원천 차단</a:t>
            </a:r>
            <a:endParaRPr lang="ko-KR" altLang="en-US"/>
          </a:p>
          <a:p>
            <a:pPr lvl="0" algn="l">
              <a:spcBef>
                <a:spcPts val="0"/>
              </a:spcBef>
              <a:spcAft>
                <a:spcPts val="1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rPr lang="ko-KR" altLang="en-US">
                <a:solidFill>
                  <a:schemeClr val="dk1"/>
                </a:solidFill>
              </a:rPr>
              <a:t>💡 참고: 자동차 BLDC 모터 제어에서 히스테리시스 비교기가</a:t>
            </a:r>
            <a:endParaRPr lang="ko-KR" altLang="en-US">
              <a:solidFill>
                <a:schemeClr val="dk1"/>
              </a:solidFill>
            </a:endParaRPr>
          </a:p>
          <a:p>
            <a:pPr lvl="0" algn="l">
              <a:spcBef>
                <a:spcPts val="0"/>
              </a:spcBef>
              <a:spcAft>
                <a:spcPts val="4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rPr lang="ko-KR" altLang="en-US">
                <a:solidFill>
                  <a:schemeClr val="dk1"/>
                </a:solidFill>
              </a:rPr>
              <a:t>   노이즈/리플에 의한 다중 출력 전환 방지에 사용됨 (동일 원리)</a:t>
            </a:r>
            <a:endParaRPr lang="ko-KR" altLang="en-US">
              <a:solidFill>
                <a:schemeClr val="dk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16459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Q2. 해결 과정 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65760"/>
            <a:ext cx="640080" cy="274320"/>
          </a:xfrm>
          <a:prstGeom prst="round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F-08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ASIL-B 등급의 Fail-Safe 시스템을 구축해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무결점 안전을 확보하다.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0312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보호 액션 판단 플로우 (ProtectionController)</a:t>
            </a:r>
          </a:p>
        </p:txBody>
      </p:sp>
      <p:pic>
        <p:nvPicPr>
          <p:cNvPr id="9" name="Picture 8" descr="f08_flowchart_v2_17755667156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651760"/>
            <a:ext cx="5303520" cy="36576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21031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400" b="1">
                <a:solidFill>
                  <a:srgbClr val="002B5C"/>
                </a:solidFill>
                <a:latin typeface="맑은 고딕"/>
              </a:defRPr>
            </a:pPr>
            <a:r>
              <a:t>▎ SAFE_LOCKED 정책 — 물리적으로 가장 안전한 상태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651760"/>
            <a:ext cx="5029200" cy="1371600"/>
          </a:xfrm>
          <a:prstGeom prst="roundRect">
            <a:avLst/>
          </a:prstGeom>
          <a:solidFill>
            <a:srgbClr val="FF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  <a:defRPr sz="1400" b="1">
                <a:solidFill>
                  <a:srgbClr val="E53335"/>
                </a:solidFill>
                <a:latin typeface="맑은 고딕"/>
              </a:defRPr>
            </a:pPr>
            <a:r>
              <a:t>⚠  센서 고장 시 차일드 락이 풀려버리면?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333344"/>
                </a:solidFill>
                <a:latin typeface="맑은 고딕"/>
              </a:defRPr>
            </a:pPr>
            <a:r>
              <a:t>아이가 후방 차량 접근을 모른 채 문을 열고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200" b="1">
                <a:solidFill>
                  <a:srgbClr val="E53335"/>
                </a:solidFill>
                <a:latin typeface="맑은 고딕"/>
              </a:defRPr>
            </a:pPr>
            <a:r>
              <a:t>도로로 떨어질 수 있는 치명적 사고 발생 가능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002B5C"/>
                </a:solidFill>
                <a:latin typeface="맑은 고딕"/>
              </a:defRPr>
            </a:pPr>
            <a:r>
              <a:t>→ 따라서 고장 시 "무조건 잠금 유지"가 기계적으로 가장 안전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4206240"/>
            <a:ext cx="5029200" cy="1463040"/>
          </a:xfrm>
          <a:prstGeom prst="round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4297680"/>
            <a:ext cx="4572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  <a:defRPr sz="1300" b="1">
                <a:solidFill>
                  <a:srgbClr val="0047AB"/>
                </a:solidFill>
                <a:latin typeface="맑은 고딕"/>
              </a:defRPr>
            </a:pPr>
            <a:r>
              <a:t>🛡  Defensive Programming 방어 로직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① FAULT 플래그 감지 → 즉시 CL ON 강제 유지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② 모터를 "잠금 위치"로 구동 → 래치 체결 확보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③ HMI 경고음 + 메시지로 운전자 즉시 인지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0">
                <a:solidFill>
                  <a:srgbClr val="333344"/>
                </a:solidFill>
                <a:latin typeface="맑은 고딕"/>
              </a:defRPr>
            </a:pPr>
            <a:r>
              <a:t>④ 이벤트 로그/DTC 저장 → 사후 분석 대비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100" b="1">
                <a:solidFill>
                  <a:srgbClr val="0047AB"/>
                </a:solidFill>
                <a:latin typeface="맑은 고딕"/>
              </a:defRPr>
            </a:pPr>
            <a:r>
              <a:t>→ 통신 단절/센서 고장 시에도 승객 안전 100% 확보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MISRA C:2012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동적 메모리 금지</a:t>
            </a:r>
            <a:br/>
            <a:r>
              <a:t>Defensive 코딩 규칙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ISO 26262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ASIL-B 등급</a:t>
            </a:r>
            <a:br/>
            <a:r>
              <a:t>Fail-Safe 설계 원칙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875520" y="5852160"/>
            <a:ext cx="155448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5870448"/>
            <a:ext cx="1371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A-SPICE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800" b="0">
                <a:solidFill>
                  <a:srgbClr val="666677"/>
                </a:solidFill>
                <a:latin typeface="맑은 고딕"/>
              </a:defRPr>
            </a:pPr>
            <a:r>
              <a:t>요구사항↔코드 추적</a:t>
            </a:r>
            <a:br/>
            <a:r>
              <a:t>DD-CL-F08 트레이서빌리티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65760"/>
            <a:ext cx="210312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Q3. 에스엘 적용 방안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666677"/>
                </a:solidFill>
                <a:latin typeface="맑은 고딕"/>
              </a:defRPr>
            </a:pPr>
            <a:r>
              <a:t>에스엘의 전장 부품에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2600" b="1">
                <a:solidFill>
                  <a:srgbClr val="002B5C"/>
                </a:solidFill>
                <a:latin typeface="맑은 고딕"/>
              </a:defRPr>
            </a:pPr>
            <a:r>
              <a:t>ASIL-B 수준의 '안전 기반 통합 제어 역량'을 이식하다.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2743200" cy="2743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2103120"/>
            <a:ext cx="10698480" cy="54864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48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  <a:defRPr sz="1200" b="1">
                <a:solidFill>
                  <a:srgbClr val="FFFFFF"/>
                </a:solidFill>
                <a:latin typeface="맑은 고딕"/>
              </a:defRPr>
            </a:pPr>
            <a:r>
              <a:t>모든 에스엘 전장품의 공통점:  정밀한 '모터 제어(HW)'  +  '상황 판단 로직(SW)'의 결합  →  차일드 락과 동일한 설계 패러다임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926080"/>
            <a:ext cx="3474720" cy="4572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47AB"/>
                </a:solidFill>
                <a:latin typeface="맑은 고딕"/>
              </a:defRPr>
            </a:pPr>
            <a:r>
              <a:t>💡  ADB 헤드램프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Adaptive Driving Beam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LED 매트릭스 구동 모터</a:t>
            </a:r>
            <a:br/>
            <a:r>
              <a:t>+ 빔 각도 조절 액추에이터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빔 패턴</a:t>
            </a:r>
            <a:br/>
            <a:r>
              <a:t>경계값 안정화 (깜빡임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고장 시</a:t>
            </a:r>
            <a:br/>
            <a:r>
              <a:t>기본 빔(Low Beam) 유지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80559" y="2926080"/>
            <a:ext cx="3474720" cy="45720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39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6ED6"/>
                </a:solidFill>
                <a:latin typeface="맑은 고딕"/>
              </a:defRPr>
            </a:pPr>
            <a:r>
              <a:t>⚙️  E-Shifter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Electronic Gear Shifter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전자식 변속 모터</a:t>
            </a:r>
            <a:br/>
            <a:r>
              <a:t>+ 포지션 감지 센서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변속 위치</a:t>
            </a:r>
            <a:br/>
            <a:r>
              <a:t>판단 안정성 (오변속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센서 고장 시</a:t>
            </a:r>
            <a:br/>
            <a:r>
              <a:t>P단 강제 고정 (안전 정차)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2926080"/>
            <a:ext cx="3474720" cy="3566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CE5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2926080"/>
            <a:ext cx="3474720" cy="457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1089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defRPr sz="1500" b="1">
                <a:solidFill>
                  <a:srgbClr val="002B5C"/>
                </a:solidFill>
                <a:latin typeface="맑은 고딕"/>
              </a:defRPr>
            </a:pPr>
            <a:r>
              <a:t>🪞  전동 폴딩 미러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Power Folding Mirror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2B5C"/>
                </a:solidFill>
                <a:latin typeface="맑은 고딕"/>
              </a:defRPr>
            </a:pPr>
            <a:r>
              <a:t>🔧 HW 구성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접힘/펼침 구동 모터</a:t>
            </a:r>
            <a:br/>
            <a:r>
              <a:t>+ 위치 센서 + 전류 감지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0047AB"/>
                </a:solidFill>
                <a:latin typeface="맑은 고딕"/>
              </a:defRPr>
            </a:pPr>
            <a:r>
              <a:t>📐 시간 기반 히스테리시스 적용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히스테리시스 → 장애물 감지</a:t>
            </a:r>
            <a:br/>
            <a:r>
              <a:t>임계값 안정화 (오판 방지)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6B35"/>
                </a:solidFill>
                <a:latin typeface="맑은 고딕"/>
              </a:defRPr>
            </a:pPr>
            <a:r>
              <a:t>🛡 Fail-Safe 적용</a:t>
            </a:r>
          </a:p>
          <a:p>
            <a:pPr algn="l">
              <a:spcBef>
                <a:spcPts val="0"/>
              </a:spcBef>
              <a:spcAft>
                <a:spcPts val="400"/>
              </a:spcAft>
              <a:defRPr sz="1000" b="0">
                <a:solidFill>
                  <a:srgbClr val="333344"/>
                </a:solidFill>
                <a:latin typeface="맑은 고딕"/>
              </a:defRPr>
            </a:pPr>
            <a:r>
              <a:t>Fail-Safe → 과부하/장애물 시</a:t>
            </a:r>
            <a:br/>
            <a:r>
              <a:t>모터 즉시 정지 보호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4652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66677"/>
                </a:solidFill>
                <a:latin typeface="맑은 고딕"/>
              </a:defRPr>
            </a:pPr>
            <a: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6576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기계공학의 뼈대 위에</a:t>
            </a:r>
          </a:p>
          <a:p>
            <a:pPr algn="l">
              <a:spcBef>
                <a:spcPts val="0"/>
              </a:spcBef>
              <a:spcAft>
                <a:spcPts val="800"/>
              </a:spcAft>
              <a:defRPr sz="1800" b="0">
                <a:solidFill>
                  <a:srgbClr val="CCE5FF"/>
                </a:solidFill>
                <a:latin typeface="맑은 고딕"/>
              </a:defRPr>
            </a:pPr>
            <a:r>
              <a:t>똑똑한 SW의 두뇌를 탑재하는</a:t>
            </a:r>
          </a:p>
          <a:p>
            <a:pPr algn="l">
              <a:spcBef>
                <a:spcPts val="0"/>
              </a:spcBef>
              <a:spcAft>
                <a:spcPts val="3000"/>
              </a:spcAft>
              <a:defRPr sz="3600" b="1">
                <a:solidFill>
                  <a:srgbClr val="FFFFFF"/>
                </a:solidFill>
                <a:latin typeface="맑은 고딕"/>
              </a:defRPr>
            </a:pPr>
            <a:r>
              <a:t>에스엘의 미래 파트너.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4206240"/>
            <a:ext cx="3200400" cy="2743"/>
          </a:xfrm>
          <a:prstGeom prst="rect">
            <a:avLst/>
          </a:prstGeom>
          <a:solidFill>
            <a:srgbClr val="006E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7160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Hysteresis Logic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ASIL-B Fail-Safe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MISRA C:2012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Defensive Programming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4480560"/>
            <a:ext cx="1828800" cy="274320"/>
          </a:xfrm>
          <a:prstGeom prst="roundRect">
            <a:avLst/>
          </a:prstGeom>
          <a:solidFill>
            <a:srgbClr val="0047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900" b="1">
                <a:solidFill>
                  <a:srgbClr val="FFFFFF"/>
                </a:solidFill>
                <a:latin typeface="맑은 고딕"/>
              </a:defRPr>
            </a:pPr>
            <a:r>
              <a:t>HW-SW 융합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1206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defRPr sz="2000" b="0">
                <a:solidFill>
                  <a:srgbClr val="CCE5FF"/>
                </a:solidFill>
                <a:latin typeface="맑은 고딕"/>
              </a:defRPr>
            </a:pPr>
            <a:r>
              <a:t>경청해 주셔서 감사합니다.</a:t>
            </a:r>
          </a:p>
        </p:txBody>
      </p:sp>
    </p:spTree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/>
  <ep:Words>594</ep:Words>
  <ep:PresentationFormat>On-screen Show (4:3)</ep:PresentationFormat>
  <ep:Paragraphs>149</ep:Paragraphs>
  <ep:Slides>6</ep:Slides>
  <ep:Notes>0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ep:HeadingPairs>
  <ep:TitlesOfParts>
    <vt:vector size="7" baseType="lpstr">
      <vt:lpstr>Office Theme</vt:lpstr>
      <vt:lpstr>슬라이드 1</vt:lpstr>
      <vt:lpstr>슬라이드 2</vt:lpstr>
      <vt:lpstr>슬라이드 3</vt:lpstr>
      <vt:lpstr>슬라이드 4</vt:lpstr>
      <vt:lpstr>슬라이드 5</vt:lpstr>
      <vt:lpstr>슬라이드 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2013-01-27T09:14:16.000</dcterms:created>
  <dc:description>generated using python-pptx</dc:description>
  <cp:lastModifiedBy>fish0</cp:lastModifiedBy>
  <dcterms:modified xsi:type="dcterms:W3CDTF">2026-04-07T13:18:18.505</dcterms:modified>
  <cp:revision>5</cp:revision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