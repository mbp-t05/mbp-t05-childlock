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2.jp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02B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3152" cy="6858000"/>
          </a:xfrm>
          <a:prstGeom prst="rect">
            <a:avLst/>
          </a:prstGeom>
          <a:solidFill>
            <a:srgbClr val="0047A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91695" cy="36576"/>
          </a:xfrm>
          <a:prstGeom prst="rect">
            <a:avLst/>
          </a:prstGeom>
          <a:solidFill>
            <a:srgbClr val="006E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9601200" y="274320"/>
            <a:ext cx="2286000" cy="731520"/>
          </a:xfrm>
          <a:prstGeom prst="rect">
            <a:avLst/>
          </a:prstGeom>
          <a:solidFill>
            <a:srgbClr val="0047A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0058400" y="1188720"/>
            <a:ext cx="1828800" cy="457200"/>
          </a:xfrm>
          <a:prstGeom prst="rect">
            <a:avLst/>
          </a:prstGeom>
          <a:solidFill>
            <a:srgbClr val="006E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1097280" y="1645920"/>
            <a:ext cx="914400" cy="274320"/>
          </a:xfrm>
          <a:prstGeom prst="roundRect">
            <a:avLst/>
          </a:prstGeom>
          <a:solidFill>
            <a:srgbClr val="006E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900" b="1">
                <a:solidFill>
                  <a:srgbClr val="FFFFFF"/>
                </a:solidFill>
                <a:latin typeface="맑은 고딕"/>
              </a:defRPr>
            </a:pPr>
            <a:r>
              <a:t>ASIL-B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194560" y="1645920"/>
            <a:ext cx="1188720" cy="274320"/>
          </a:xfrm>
          <a:prstGeom prst="roundRect">
            <a:avLst/>
          </a:prstGeom>
          <a:solidFill>
            <a:srgbClr val="006E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900" b="1">
                <a:solidFill>
                  <a:srgbClr val="FFFFFF"/>
                </a:solidFill>
                <a:latin typeface="맑은 고딕"/>
              </a:defRPr>
            </a:pPr>
            <a:r>
              <a:t>ISO 26262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566160" y="1645920"/>
            <a:ext cx="1371600" cy="274320"/>
          </a:xfrm>
          <a:prstGeom prst="roundRect">
            <a:avLst/>
          </a:prstGeom>
          <a:solidFill>
            <a:srgbClr val="006E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900" b="1">
                <a:solidFill>
                  <a:srgbClr val="FFFFFF"/>
                </a:solidFill>
                <a:latin typeface="맑은 고딕"/>
              </a:defRPr>
            </a:pPr>
            <a:r>
              <a:t>MISRA C:2012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97280" y="2286000"/>
            <a:ext cx="914400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  <a:defRPr sz="2000" b="0">
                <a:solidFill>
                  <a:srgbClr val="CCE5FF"/>
                </a:solidFill>
                <a:latin typeface="맑은 고딕"/>
              </a:defRPr>
            </a:pPr>
            <a:r>
              <a:t>기계공학의 메커니즘 위에</a:t>
            </a:r>
          </a:p>
          <a:p>
            <a:pPr algn="l">
              <a:spcBef>
                <a:spcPts val="0"/>
              </a:spcBef>
              <a:spcAft>
                <a:spcPts val="1600"/>
              </a:spcAft>
              <a:defRPr sz="3600" b="1">
                <a:solidFill>
                  <a:srgbClr val="FFFFFF"/>
                </a:solidFill>
                <a:latin typeface="맑은 고딕"/>
              </a:defRPr>
            </a:pPr>
            <a:r>
              <a:t>ASIL-B 등급의 SW 안전을 설계하다.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1097280" y="4206240"/>
            <a:ext cx="3657600" cy="2743"/>
          </a:xfrm>
          <a:prstGeom prst="rect">
            <a:avLst/>
          </a:prstGeom>
          <a:solidFill>
            <a:srgbClr val="006E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97280" y="4389120"/>
            <a:ext cx="91440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800"/>
              </a:spcAft>
              <a:defRPr sz="1600" b="0">
                <a:solidFill>
                  <a:srgbClr val="CCE5FF"/>
                </a:solidFill>
                <a:latin typeface="맑은 고딕"/>
              </a:defRPr>
            </a:pPr>
            <a:r>
              <a:t>하드웨어와 소프트웨어의 경계를 허무는 융합형 문제 해결사</a:t>
            </a:r>
          </a:p>
          <a:p>
            <a:pPr algn="l">
              <a:spcBef>
                <a:spcPts val="0"/>
              </a:spcBef>
              <a:spcAft>
                <a:spcPts val="400"/>
              </a:spcAft>
              <a:defRPr sz="1300" b="0">
                <a:solidFill>
                  <a:srgbClr val="666677"/>
                </a:solidFill>
                <a:latin typeface="맑은 고딕"/>
              </a:defRPr>
            </a:pPr>
            <a:r>
              <a:t>차량 도어 기구학 + 센서 물리 모델 + Fail-Safe SW 설계</a:t>
            </a:r>
          </a:p>
        </p:txBody>
      </p:sp>
      <p:sp>
        <p:nvSpPr>
          <p:cNvPr id="13" name="Rectangle 12"/>
          <p:cNvSpPr/>
          <p:nvPr/>
        </p:nvSpPr>
        <p:spPr>
          <a:xfrm>
            <a:off x="0" y="6126480"/>
            <a:ext cx="12191695" cy="731520"/>
          </a:xfrm>
          <a:prstGeom prst="rect">
            <a:avLst/>
          </a:prstGeom>
          <a:solidFill>
            <a:srgbClr val="001F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97280" y="621792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  <a:defRPr sz="1100" b="0">
                <a:solidFill>
                  <a:srgbClr val="666677"/>
                </a:solidFill>
                <a:latin typeface="맑은 고딕"/>
              </a:defRPr>
            </a:pPr>
            <a:r>
              <a:t>지원 직무: 연구개발(R&amp;D)  ·  차량 SW 제어 로직 개발  ·  전장 부품 안전 설계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430000" y="6446520"/>
            <a:ext cx="640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666677"/>
                </a:solidFill>
                <a:latin typeface="맑은 고딕"/>
              </a:defRPr>
            </a:pPr>
            <a:r>
              <a:t>1 / 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0047A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E8F2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31520" y="365760"/>
            <a:ext cx="1371600" cy="274320"/>
          </a:xfrm>
          <a:prstGeom prst="roundRect">
            <a:avLst/>
          </a:prstGeom>
          <a:solidFill>
            <a:srgbClr val="0047A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900" b="1">
                <a:solidFill>
                  <a:srgbClr val="FFFFFF"/>
                </a:solidFill>
                <a:latin typeface="맑은 고딕"/>
              </a:defRPr>
            </a:pPr>
            <a:r>
              <a:t>Q1. 문제 인식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822960"/>
            <a:ext cx="10058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  <a:defRPr sz="1400" b="0">
                <a:solidFill>
                  <a:srgbClr val="666677"/>
                </a:solidFill>
                <a:latin typeface="맑은 고딕"/>
              </a:defRPr>
            </a:pPr>
            <a:r>
              <a:t>차량 안전 시스템의 핵심,</a:t>
            </a:r>
          </a:p>
          <a:p>
            <a:pPr algn="l">
              <a:spcBef>
                <a:spcPts val="0"/>
              </a:spcBef>
              <a:spcAft>
                <a:spcPts val="400"/>
              </a:spcAft>
              <a:defRPr sz="2600" b="1">
                <a:solidFill>
                  <a:srgbClr val="002B5C"/>
                </a:solidFill>
                <a:latin typeface="맑은 고딕"/>
              </a:defRPr>
            </a:pPr>
            <a:r>
              <a:t>HW와 SW의 유기적 통합의 괴리를 '문제'로 정의하다.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1920240"/>
            <a:ext cx="2743200" cy="2743"/>
          </a:xfrm>
          <a:prstGeom prst="rect">
            <a:avLst/>
          </a:prstGeom>
          <a:solidFill>
            <a:srgbClr val="0047A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2103120"/>
            <a:ext cx="5029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  <a:defRPr sz="1500" b="1">
                <a:solidFill>
                  <a:srgbClr val="002B5C"/>
                </a:solidFill>
                <a:latin typeface="맑은 고딕"/>
              </a:defRPr>
            </a:pPr>
            <a:r>
              <a:t>▎ 차일드 락 액추에이터의 기계적 특성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2651760"/>
            <a:ext cx="5029200" cy="1645920"/>
          </a:xfrm>
          <a:prstGeom prst="roundRect">
            <a:avLst/>
          </a:prstGeom>
          <a:solidFill>
            <a:srgbClr val="E8F2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5840" y="2743200"/>
            <a:ext cx="457200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800"/>
              </a:spcAft>
              <a:defRPr sz="1300" b="1">
                <a:solidFill>
                  <a:srgbClr val="0047AB"/>
                </a:solidFill>
                <a:latin typeface="맑은 고딕"/>
              </a:defRPr>
            </a:pPr>
            <a:r>
              <a:t>🔧  소형 DC 모터 + 기어 + 링크 구조</a:t>
            </a:r>
          </a:p>
          <a:p>
            <a:pPr algn="l">
              <a:spcBef>
                <a:spcPts val="0"/>
              </a:spcBef>
              <a:spcAft>
                <a:spcPts val="400"/>
              </a:spcAft>
              <a:defRPr sz="1100" b="0">
                <a:solidFill>
                  <a:srgbClr val="333344"/>
                </a:solidFill>
                <a:latin typeface="맑은 고딕"/>
              </a:defRPr>
            </a:pPr>
            <a:r>
              <a:t>• 응답 지연 (~50ms): 모터 구동 → 래치 체결까지의 물리적 시간</a:t>
            </a:r>
          </a:p>
          <a:p>
            <a:pPr algn="l">
              <a:spcBef>
                <a:spcPts val="0"/>
              </a:spcBef>
              <a:spcAft>
                <a:spcPts val="400"/>
              </a:spcAft>
              <a:defRPr sz="1100" b="0">
                <a:solidFill>
                  <a:srgbClr val="333344"/>
                </a:solidFill>
                <a:latin typeface="맑은 고딕"/>
              </a:defRPr>
            </a:pPr>
            <a:r>
              <a:t>• 기어 백래시(Backlash): 기어 치합 유격으로 인한 위치 불확정 구간</a:t>
            </a:r>
          </a:p>
          <a:p>
            <a:pPr algn="l">
              <a:spcBef>
                <a:spcPts val="0"/>
              </a:spcBef>
              <a:spcAft>
                <a:spcPts val="400"/>
              </a:spcAft>
              <a:defRPr sz="1100" b="0">
                <a:solidFill>
                  <a:srgbClr val="333344"/>
                </a:solidFill>
                <a:latin typeface="맑은 고딕"/>
              </a:defRPr>
            </a:pPr>
            <a:r>
              <a:t>• 관성 지연(Inertia): 모터 정지 명령 후에도 관성에 의해 회전 지속</a:t>
            </a:r>
          </a:p>
          <a:p>
            <a:pPr algn="l">
              <a:spcBef>
                <a:spcPts val="0"/>
              </a:spcBef>
              <a:spcAft>
                <a:spcPts val="400"/>
              </a:spcAft>
              <a:defRPr sz="1100" b="0">
                <a:solidFill>
                  <a:srgbClr val="333344"/>
                </a:solidFill>
                <a:latin typeface="맑은 고딕"/>
              </a:defRPr>
            </a:pPr>
            <a:r>
              <a:t>• 온도 드리프트: 극저온/고온 환경에서 센서 출력값 변동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520" y="4480560"/>
            <a:ext cx="5029200" cy="502920"/>
          </a:xfrm>
          <a:prstGeom prst="roundRect">
            <a:avLst/>
          </a:prstGeom>
          <a:solidFill>
            <a:srgbClr val="0047A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05840" y="4526280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  <a:defRPr sz="1200" b="1">
                <a:solidFill>
                  <a:srgbClr val="FFFFFF"/>
                </a:solidFill>
                <a:latin typeface="맑은 고딕"/>
              </a:defRPr>
            </a:pPr>
            <a:r>
              <a:t>✅  결론: HW의 물리적 한계를 이해한 SW 설계가 필수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0" y="2103120"/>
            <a:ext cx="5029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  <a:defRPr sz="1500" b="1">
                <a:solidFill>
                  <a:srgbClr val="002B5C"/>
                </a:solidFill>
                <a:latin typeface="맑은 고딕"/>
              </a:defRPr>
            </a:pPr>
            <a:r>
              <a:t>▎ 정의한 핵심 문제 → 해결 모듈 매핑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400800" y="2651760"/>
            <a:ext cx="5029200" cy="1234440"/>
          </a:xfrm>
          <a:prstGeom prst="roundRect">
            <a:avLst/>
          </a:prstGeom>
          <a:solidFill>
            <a:srgbClr val="FFF8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10332720" y="2697480"/>
            <a:ext cx="822960" cy="274320"/>
          </a:xfrm>
          <a:prstGeom prst="roundRect">
            <a:avLst/>
          </a:prstGeom>
          <a:solidFill>
            <a:srgbClr val="006E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900" b="1">
                <a:solidFill>
                  <a:srgbClr val="FFFFFF"/>
                </a:solidFill>
                <a:latin typeface="맑은 고딕"/>
              </a:defRPr>
            </a:pPr>
            <a:r>
              <a:t>→ F-07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675120" y="2697480"/>
            <a:ext cx="3657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  <a:defRPr sz="1300" b="1">
                <a:solidFill>
                  <a:srgbClr val="FF6B35"/>
                </a:solidFill>
                <a:latin typeface="맑은 고딕"/>
              </a:defRPr>
            </a:pPr>
            <a:r>
              <a:t>①  경계값 떨림 → 모터 소손 위험</a:t>
            </a:r>
          </a:p>
          <a:p>
            <a:pPr algn="l">
              <a:spcBef>
                <a:spcPts val="0"/>
              </a:spcBef>
              <a:spcAft>
                <a:spcPts val="400"/>
              </a:spcAft>
              <a:defRPr sz="1000" b="0">
                <a:solidFill>
                  <a:srgbClr val="333344"/>
                </a:solidFill>
                <a:latin typeface="맑은 고딕"/>
              </a:defRPr>
            </a:pPr>
            <a:r>
              <a:t>센서 노이즈 → 초당 수십 번 ON/OFF 명령</a:t>
            </a:r>
            <a:br/>
            <a:r>
              <a:t>→ 모터 소손(Burn-out) + 기어 마모</a:t>
            </a:r>
          </a:p>
          <a:p>
            <a:pPr algn="l">
              <a:spcBef>
                <a:spcPts val="0"/>
              </a:spcBef>
              <a:spcAft>
                <a:spcPts val="400"/>
              </a:spcAft>
              <a:defRPr sz="1000" b="1">
                <a:solidFill>
                  <a:srgbClr val="FF6B35"/>
                </a:solidFill>
                <a:latin typeface="맑은 고딕"/>
              </a:defRPr>
            </a:pPr>
            <a:r>
              <a:t>→ 해결: 시간 기반 히스테리시스 밴드 (500ms/1000ms)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0" y="4023360"/>
            <a:ext cx="5029200" cy="1234440"/>
          </a:xfrm>
          <a:prstGeom prst="roundRect">
            <a:avLst/>
          </a:prstGeom>
          <a:solidFill>
            <a:srgbClr val="FFEC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10332720" y="4069080"/>
            <a:ext cx="822960" cy="274320"/>
          </a:xfrm>
          <a:prstGeom prst="roundRect">
            <a:avLst/>
          </a:prstGeom>
          <a:solidFill>
            <a:srgbClr val="006E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900" b="1">
                <a:solidFill>
                  <a:srgbClr val="FFFFFF"/>
                </a:solidFill>
                <a:latin typeface="맑은 고딕"/>
              </a:defRPr>
            </a:pPr>
            <a:r>
              <a:t>→ F-08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675120" y="4069080"/>
            <a:ext cx="3657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  <a:defRPr sz="1300" b="1">
                <a:solidFill>
                  <a:srgbClr val="E53335"/>
                </a:solidFill>
                <a:latin typeface="맑은 고딕"/>
              </a:defRPr>
            </a:pPr>
            <a:r>
              <a:t>②  센서 고장 시 방치 (No Fail-Safe)</a:t>
            </a:r>
          </a:p>
          <a:p>
            <a:pPr algn="l">
              <a:spcBef>
                <a:spcPts val="0"/>
              </a:spcBef>
              <a:spcAft>
                <a:spcPts val="400"/>
              </a:spcAft>
              <a:defRPr sz="1000" b="0">
                <a:solidFill>
                  <a:srgbClr val="333344"/>
                </a:solidFill>
                <a:latin typeface="맑은 고딕"/>
              </a:defRPr>
            </a:pPr>
            <a:r>
              <a:t>고장 인지 불가 → 차일드 락 풀림 방치</a:t>
            </a:r>
            <a:br/>
            <a:r>
              <a:t>→ 아이가 문 열고 도로 추락 위험</a:t>
            </a:r>
          </a:p>
          <a:p>
            <a:pPr algn="l">
              <a:spcBef>
                <a:spcPts val="0"/>
              </a:spcBef>
              <a:spcAft>
                <a:spcPts val="400"/>
              </a:spcAft>
              <a:defRPr sz="1000" b="1">
                <a:solidFill>
                  <a:srgbClr val="E53335"/>
                </a:solidFill>
                <a:latin typeface="맑은 고딕"/>
              </a:defRPr>
            </a:pPr>
            <a:r>
              <a:t>→ 해결: SAFE_LOCKED 강제 잠금 정책 (SDD 5.2.3)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400800" y="5394960"/>
            <a:ext cx="5029200" cy="960120"/>
          </a:xfrm>
          <a:prstGeom prst="roundRect">
            <a:avLst/>
          </a:prstGeom>
          <a:solidFill>
            <a:srgbClr val="E8F2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9875520" y="5440680"/>
            <a:ext cx="1280160" cy="274320"/>
          </a:xfrm>
          <a:prstGeom prst="roundRect">
            <a:avLst/>
          </a:prstGeom>
          <a:solidFill>
            <a:srgbClr val="006E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900" b="1">
                <a:solidFill>
                  <a:srgbClr val="FFFFFF"/>
                </a:solidFill>
                <a:latin typeface="맑은 고딕"/>
              </a:defRPr>
            </a:pPr>
            <a:r>
              <a:t>→ F-07 &amp; F-08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675120" y="5440680"/>
            <a:ext cx="30175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  <a:defRPr sz="1300" b="1">
                <a:solidFill>
                  <a:srgbClr val="0047AB"/>
                </a:solidFill>
                <a:latin typeface="맑은 고딕"/>
              </a:defRPr>
            </a:pPr>
            <a:r>
              <a:t>③  HW-SW 융합 관점 부재</a:t>
            </a:r>
          </a:p>
          <a:p>
            <a:pPr algn="l">
              <a:spcBef>
                <a:spcPts val="0"/>
              </a:spcBef>
              <a:spcAft>
                <a:spcPts val="400"/>
              </a:spcAft>
              <a:defRPr sz="1000" b="0">
                <a:solidFill>
                  <a:srgbClr val="333344"/>
                </a:solidFill>
                <a:latin typeface="맑은 고딕"/>
              </a:defRPr>
            </a:pPr>
            <a:r>
              <a:t>모터 응답 ~50ms를 무시한 SW → 기계적 피로 누적</a:t>
            </a:r>
          </a:p>
          <a:p>
            <a:pPr algn="l">
              <a:spcBef>
                <a:spcPts val="0"/>
              </a:spcBef>
              <a:spcAft>
                <a:spcPts val="400"/>
              </a:spcAft>
              <a:defRPr sz="1000" b="1">
                <a:solidFill>
                  <a:srgbClr val="0047AB"/>
                </a:solidFill>
                <a:latin typeface="맑은 고딕"/>
              </a:defRPr>
            </a:pPr>
            <a:r>
              <a:t>→ 해결: 기계공학 기반 안전 마진 타이머 설계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430000" y="6446520"/>
            <a:ext cx="640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666677"/>
                </a:solidFill>
                <a:latin typeface="맑은 고딕"/>
              </a:defRPr>
            </a:pPr>
            <a:r>
              <a:t>2 / 6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0047A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E8F2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31520" y="365760"/>
            <a:ext cx="1645920" cy="274320"/>
          </a:xfrm>
          <a:prstGeom prst="roundRect">
            <a:avLst/>
          </a:prstGeom>
          <a:solidFill>
            <a:srgbClr val="0047A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900" b="1">
                <a:solidFill>
                  <a:srgbClr val="FFFFFF"/>
                </a:solidFill>
                <a:latin typeface="맑은 고딕"/>
              </a:defRPr>
            </a:pPr>
            <a:r>
              <a:t>Q2. 해결 과정 ①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560320" y="365760"/>
            <a:ext cx="640080" cy="274320"/>
          </a:xfrm>
          <a:prstGeom prst="roundRect">
            <a:avLst/>
          </a:prstGeom>
          <a:solidFill>
            <a:srgbClr val="006E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900" b="1">
                <a:solidFill>
                  <a:srgbClr val="FFFFFF"/>
                </a:solidFill>
                <a:latin typeface="맑은 고딕"/>
              </a:defRPr>
            </a:pPr>
            <a:r>
              <a:t>F-07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822960"/>
            <a:ext cx="10058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  <a:defRPr sz="1400" b="0">
                <a:solidFill>
                  <a:srgbClr val="666677"/>
                </a:solidFill>
                <a:latin typeface="맑은 고딕"/>
              </a:defRPr>
            </a:pPr>
            <a:r>
              <a:t>기계공학도의 시각으로</a:t>
            </a:r>
          </a:p>
          <a:p>
            <a:pPr algn="l">
              <a:spcBef>
                <a:spcPts val="0"/>
              </a:spcBef>
              <a:spcAft>
                <a:spcPts val="400"/>
              </a:spcAft>
              <a:defRPr sz="2600" b="1">
                <a:solidFill>
                  <a:srgbClr val="002B5C"/>
                </a:solidFill>
                <a:latin typeface="맑은 고딕"/>
              </a:defRPr>
            </a:pPr>
            <a:r>
              <a:t>센서의 물리적 한계를 SW로 극복하다.</a:t>
            </a:r>
          </a:p>
        </p:txBody>
      </p:sp>
      <p:sp>
        <p:nvSpPr>
          <p:cNvPr id="7" name="Rectangle 6"/>
          <p:cNvSpPr/>
          <p:nvPr/>
        </p:nvSpPr>
        <p:spPr>
          <a:xfrm>
            <a:off x="731520" y="1920240"/>
            <a:ext cx="2743200" cy="2743"/>
          </a:xfrm>
          <a:prstGeom prst="rect">
            <a:avLst/>
          </a:prstGeom>
          <a:solidFill>
            <a:srgbClr val="0047A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1520" y="2103120"/>
            <a:ext cx="53035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  <a:defRPr sz="1400" b="1">
                <a:solidFill>
                  <a:srgbClr val="002B5C"/>
                </a:solidFill>
                <a:latin typeface="맑은 고딕"/>
              </a:defRPr>
            </a:pPr>
            <a:r>
              <a:t>▎ 후방 접근 위험 판단 로직 플로우</a:t>
            </a:r>
          </a:p>
        </p:txBody>
      </p:sp>
      <p:pic>
        <p:nvPicPr>
          <p:cNvPr id="9" name="Picture 8" descr="f07_flowchart_177556469708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2651760"/>
            <a:ext cx="5303520" cy="365760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6400800" y="2103120"/>
            <a:ext cx="5029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  <a:defRPr sz="1400" b="1">
                <a:solidFill>
                  <a:srgbClr val="002B5C"/>
                </a:solidFill>
                <a:latin typeface="맑은 고딕"/>
              </a:defRPr>
            </a:pPr>
            <a:r>
              <a:t>▎ 핵심: 시간 기반 히스테리시스 밴드 — 왜 필요한가?</a:t>
            </a:r>
          </a:p>
        </p:txBody>
      </p:sp>
      <p:pic>
        <p:nvPicPr>
          <p:cNvPr id="11" name="Picture 10" descr="hysteresis_graph_177556373472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0800" y="2606040"/>
            <a:ext cx="5029200" cy="1828800"/>
          </a:xfrm>
          <a:prstGeom prst="rect">
            <a:avLst/>
          </a:prstGeom>
        </p:spPr>
      </p:pic>
      <p:sp>
        <p:nvSpPr>
          <p:cNvPr id="12" name="Rounded Rectangle 11"/>
          <p:cNvSpPr/>
          <p:nvPr/>
        </p:nvSpPr>
        <p:spPr>
          <a:xfrm>
            <a:off x="6400800" y="4572000"/>
            <a:ext cx="5029200" cy="1828800"/>
          </a:xfrm>
          <a:prstGeom prst="roundRect">
            <a:avLst/>
          </a:prstGeom>
          <a:solidFill>
            <a:srgbClr val="E8F2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675120" y="4617720"/>
            <a:ext cx="4572000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  <a:defRPr sz="1300" b="1">
                <a:solidFill>
                  <a:srgbClr val="0047AB"/>
                </a:solidFill>
                <a:latin typeface="맑은 고딕"/>
              </a:defRPr>
            </a:pPr>
            <a:r>
              <a:t>🔧  HW 보호 관점의 시간 기반 히스테리시스 설계</a:t>
            </a:r>
          </a:p>
          <a:p>
            <a:pPr algn="l">
              <a:spcBef>
                <a:spcPts val="0"/>
              </a:spcBef>
              <a:spcAft>
                <a:spcPts val="200"/>
              </a:spcAft>
              <a:defRPr sz="1100" b="1">
                <a:solidFill>
                  <a:srgbClr val="002B5C"/>
                </a:solidFill>
                <a:latin typeface="맑은 고딕"/>
              </a:defRPr>
            </a:pPr>
            <a:r>
              <a:t>확정 타이머 (500ms) — 모터 응답 ~50ms의 10배 마진 확보</a:t>
            </a:r>
          </a:p>
          <a:p>
            <a:pPr algn="l">
              <a:spcBef>
                <a:spcPts val="0"/>
              </a:spcBef>
              <a:spcAft>
                <a:spcPts val="100"/>
              </a:spcAft>
              <a:defRPr sz="1000" b="0">
                <a:solidFill>
                  <a:srgbClr val="333344"/>
                </a:solidFill>
                <a:latin typeface="맑은 고딕"/>
              </a:defRPr>
            </a:pPr>
            <a:r>
              <a:t>센서 값이 튀더라도 모터가 물리적으로 반응할 수 있는</a:t>
            </a:r>
          </a:p>
          <a:p>
            <a:pPr algn="l">
              <a:spcBef>
                <a:spcPts val="0"/>
              </a:spcBef>
              <a:spcAft>
                <a:spcPts val="600"/>
              </a:spcAft>
              <a:defRPr sz="1000" b="0">
                <a:solidFill>
                  <a:srgbClr val="333344"/>
                </a:solidFill>
                <a:latin typeface="맑은 고딕"/>
              </a:defRPr>
            </a:pPr>
            <a:r>
              <a:t>충분한 안정화 시간을 SW가 확보 → 기계적 피로도 극적 감소</a:t>
            </a:r>
          </a:p>
          <a:p>
            <a:pPr algn="l">
              <a:spcBef>
                <a:spcPts val="0"/>
              </a:spcBef>
              <a:spcAft>
                <a:spcPts val="200"/>
              </a:spcAft>
              <a:defRPr sz="1100" b="1">
                <a:solidFill>
                  <a:srgbClr val="002B5C"/>
                </a:solidFill>
                <a:latin typeface="맑은 고딕"/>
              </a:defRPr>
            </a:pPr>
            <a:r>
              <a:t>해제 타이머 (1000ms) — 확정 대비 2배 비대칭 설계</a:t>
            </a:r>
          </a:p>
          <a:p>
            <a:pPr algn="l">
              <a:spcBef>
                <a:spcPts val="0"/>
              </a:spcBef>
              <a:spcAft>
                <a:spcPts val="100"/>
              </a:spcAft>
              <a:defRPr sz="1000" b="0">
                <a:solidFill>
                  <a:srgbClr val="333344"/>
                </a:solidFill>
                <a:latin typeface="맑은 고딕"/>
              </a:defRPr>
            </a:pPr>
            <a:r>
              <a:t>안전 해제는 더 보수적으로: 1초 이상 안전 지속 확인 후 해제</a:t>
            </a:r>
          </a:p>
          <a:p>
            <a:pPr algn="l">
              <a:spcBef>
                <a:spcPts val="0"/>
              </a:spcBef>
              <a:spcAft>
                <a:spcPts val="600"/>
              </a:spcAft>
              <a:defRPr sz="1000" b="1">
                <a:solidFill>
                  <a:srgbClr val="0047AB"/>
                </a:solidFill>
                <a:latin typeface="맑은 고딕"/>
              </a:defRPr>
            </a:pPr>
            <a:r>
              <a:t>→ 모터 반복 구동 방지 + 기어 마모/소손 위험 원천 차단</a:t>
            </a:r>
          </a:p>
          <a:p>
            <a:pPr algn="l">
              <a:spcBef>
                <a:spcPts val="0"/>
              </a:spcBef>
              <a:spcAft>
                <a:spcPts val="100"/>
              </a:spcAft>
              <a:defRPr sz="900" b="0">
                <a:solidFill>
                  <a:srgbClr val="666677"/>
                </a:solidFill>
                <a:latin typeface="맑은 고딕"/>
              </a:defRPr>
            </a:pPr>
            <a:r>
              <a:t>💡 참고: 자동차 BLDC 모터 제어에서 히스테리시스 비교기가</a:t>
            </a:r>
          </a:p>
          <a:p>
            <a:pPr algn="l">
              <a:spcBef>
                <a:spcPts val="0"/>
              </a:spcBef>
              <a:spcAft>
                <a:spcPts val="400"/>
              </a:spcAft>
              <a:defRPr sz="900" b="0">
                <a:solidFill>
                  <a:srgbClr val="666677"/>
                </a:solidFill>
                <a:latin typeface="맑은 고딕"/>
              </a:defRPr>
            </a:pPr>
            <a:r>
              <a:t>   노이즈/리플에 의한 다중 출력 전환 방지에 사용됨 (동일 원리)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430000" y="6446520"/>
            <a:ext cx="640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666677"/>
                </a:solidFill>
                <a:latin typeface="맑은 고딕"/>
              </a:defRPr>
            </a:pPr>
            <a:r>
              <a:t>3 / 6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0047A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E8F2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31520" y="365760"/>
            <a:ext cx="1645920" cy="274320"/>
          </a:xfrm>
          <a:prstGeom prst="roundRect">
            <a:avLst/>
          </a:prstGeom>
          <a:solidFill>
            <a:srgbClr val="0047A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900" b="1">
                <a:solidFill>
                  <a:srgbClr val="FFFFFF"/>
                </a:solidFill>
                <a:latin typeface="맑은 고딕"/>
              </a:defRPr>
            </a:pPr>
            <a:r>
              <a:t>Q2. 해결 과정 ②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560320" y="365760"/>
            <a:ext cx="640080" cy="274320"/>
          </a:xfrm>
          <a:prstGeom prst="roundRect">
            <a:avLst/>
          </a:prstGeom>
          <a:solidFill>
            <a:srgbClr val="006E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900" b="1">
                <a:solidFill>
                  <a:srgbClr val="FFFFFF"/>
                </a:solidFill>
                <a:latin typeface="맑은 고딕"/>
              </a:defRPr>
            </a:pPr>
            <a:r>
              <a:t>F-08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822960"/>
            <a:ext cx="10058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  <a:defRPr sz="1400" b="0">
                <a:solidFill>
                  <a:srgbClr val="666677"/>
                </a:solidFill>
                <a:latin typeface="맑은 고딕"/>
              </a:defRPr>
            </a:pPr>
            <a:r>
              <a:t>ASIL-B 등급의 Fail-Safe 시스템을 구축해</a:t>
            </a:r>
          </a:p>
          <a:p>
            <a:pPr algn="l">
              <a:spcBef>
                <a:spcPts val="0"/>
              </a:spcBef>
              <a:spcAft>
                <a:spcPts val="400"/>
              </a:spcAft>
              <a:defRPr sz="2600" b="1">
                <a:solidFill>
                  <a:srgbClr val="002B5C"/>
                </a:solidFill>
                <a:latin typeface="맑은 고딕"/>
              </a:defRPr>
            </a:pPr>
            <a:r>
              <a:t>무결점 안전을 확보하다.</a:t>
            </a:r>
          </a:p>
        </p:txBody>
      </p:sp>
      <p:sp>
        <p:nvSpPr>
          <p:cNvPr id="7" name="Rectangle 6"/>
          <p:cNvSpPr/>
          <p:nvPr/>
        </p:nvSpPr>
        <p:spPr>
          <a:xfrm>
            <a:off x="731520" y="1920240"/>
            <a:ext cx="2743200" cy="2743"/>
          </a:xfrm>
          <a:prstGeom prst="rect">
            <a:avLst/>
          </a:prstGeom>
          <a:solidFill>
            <a:srgbClr val="0047A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1520" y="2103120"/>
            <a:ext cx="53035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  <a:defRPr sz="1400" b="1">
                <a:solidFill>
                  <a:srgbClr val="002B5C"/>
                </a:solidFill>
                <a:latin typeface="맑은 고딕"/>
              </a:defRPr>
            </a:pPr>
            <a:r>
              <a:t>▎ 보호 액션 판단 플로우 (ProtectionController)</a:t>
            </a:r>
          </a:p>
        </p:txBody>
      </p:sp>
      <p:pic>
        <p:nvPicPr>
          <p:cNvPr id="9" name="Picture 8" descr="f08_flowchart_v2_177556671560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2651760"/>
            <a:ext cx="5303520" cy="365760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6400800" y="2103120"/>
            <a:ext cx="5029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  <a:defRPr sz="1400" b="1">
                <a:solidFill>
                  <a:srgbClr val="002B5C"/>
                </a:solidFill>
                <a:latin typeface="맑은 고딕"/>
              </a:defRPr>
            </a:pPr>
            <a:r>
              <a:t>▎ SAFE_LOCKED 정책 — 물리적으로 가장 안전한 상태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400800" y="2651760"/>
            <a:ext cx="5029200" cy="1371600"/>
          </a:xfrm>
          <a:prstGeom prst="roundRect">
            <a:avLst/>
          </a:prstGeom>
          <a:solidFill>
            <a:srgbClr val="FFEC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675120" y="2743200"/>
            <a:ext cx="457200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1000"/>
              </a:spcAft>
              <a:defRPr sz="1400" b="1">
                <a:solidFill>
                  <a:srgbClr val="E53335"/>
                </a:solidFill>
                <a:latin typeface="맑은 고딕"/>
              </a:defRPr>
            </a:pPr>
            <a:r>
              <a:t>⚠  센서 고장 시 차일드 락이 풀려버리면?</a:t>
            </a:r>
          </a:p>
          <a:p>
            <a:pPr algn="l">
              <a:spcBef>
                <a:spcPts val="0"/>
              </a:spcBef>
              <a:spcAft>
                <a:spcPts val="200"/>
              </a:spcAft>
              <a:defRPr sz="1200" b="0">
                <a:solidFill>
                  <a:srgbClr val="333344"/>
                </a:solidFill>
                <a:latin typeface="맑은 고딕"/>
              </a:defRPr>
            </a:pPr>
            <a:r>
              <a:t>아이가 후방 차량 접근을 모른 채 문을 열고</a:t>
            </a:r>
          </a:p>
          <a:p>
            <a:pPr algn="l">
              <a:spcBef>
                <a:spcPts val="0"/>
              </a:spcBef>
              <a:spcAft>
                <a:spcPts val="800"/>
              </a:spcAft>
              <a:defRPr sz="1200" b="1">
                <a:solidFill>
                  <a:srgbClr val="E53335"/>
                </a:solidFill>
                <a:latin typeface="맑은 고딕"/>
              </a:defRPr>
            </a:pPr>
            <a:r>
              <a:t>도로로 떨어질 수 있는 치명적 사고 발생 가능</a:t>
            </a:r>
          </a:p>
          <a:p>
            <a:pPr algn="l">
              <a:spcBef>
                <a:spcPts val="0"/>
              </a:spcBef>
              <a:spcAft>
                <a:spcPts val="400"/>
              </a:spcAft>
              <a:defRPr sz="1200" b="1">
                <a:solidFill>
                  <a:srgbClr val="002B5C"/>
                </a:solidFill>
                <a:latin typeface="맑은 고딕"/>
              </a:defRPr>
            </a:pPr>
            <a:r>
              <a:t>→ 따라서 고장 시 "무조건 잠금 유지"가 기계적으로 가장 안전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400800" y="4206240"/>
            <a:ext cx="5029200" cy="1463040"/>
          </a:xfrm>
          <a:prstGeom prst="roundRect">
            <a:avLst/>
          </a:prstGeom>
          <a:solidFill>
            <a:srgbClr val="E8F2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675120" y="4297680"/>
            <a:ext cx="457200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800"/>
              </a:spcAft>
              <a:defRPr sz="1300" b="1">
                <a:solidFill>
                  <a:srgbClr val="0047AB"/>
                </a:solidFill>
                <a:latin typeface="맑은 고딕"/>
              </a:defRPr>
            </a:pPr>
            <a:r>
              <a:t>🛡  Defensive Programming 방어 로직</a:t>
            </a:r>
          </a:p>
          <a:p>
            <a:pPr algn="l">
              <a:spcBef>
                <a:spcPts val="0"/>
              </a:spcBef>
              <a:spcAft>
                <a:spcPts val="400"/>
              </a:spcAft>
              <a:defRPr sz="1100" b="0">
                <a:solidFill>
                  <a:srgbClr val="333344"/>
                </a:solidFill>
                <a:latin typeface="맑은 고딕"/>
              </a:defRPr>
            </a:pPr>
            <a:r>
              <a:t>① FAULT 플래그 감지 → 즉시 CL ON 강제 유지</a:t>
            </a:r>
          </a:p>
          <a:p>
            <a:pPr algn="l">
              <a:spcBef>
                <a:spcPts val="0"/>
              </a:spcBef>
              <a:spcAft>
                <a:spcPts val="400"/>
              </a:spcAft>
              <a:defRPr sz="1100" b="0">
                <a:solidFill>
                  <a:srgbClr val="333344"/>
                </a:solidFill>
                <a:latin typeface="맑은 고딕"/>
              </a:defRPr>
            </a:pPr>
            <a:r>
              <a:t>② 모터를 "잠금 위치"로 구동 → 래치 체결 확보</a:t>
            </a:r>
          </a:p>
          <a:p>
            <a:pPr algn="l">
              <a:spcBef>
                <a:spcPts val="0"/>
              </a:spcBef>
              <a:spcAft>
                <a:spcPts val="400"/>
              </a:spcAft>
              <a:defRPr sz="1100" b="0">
                <a:solidFill>
                  <a:srgbClr val="333344"/>
                </a:solidFill>
                <a:latin typeface="맑은 고딕"/>
              </a:defRPr>
            </a:pPr>
            <a:r>
              <a:t>③ HMI 경고음 + 메시지로 운전자 즉시 인지</a:t>
            </a:r>
          </a:p>
          <a:p>
            <a:pPr algn="l">
              <a:spcBef>
                <a:spcPts val="0"/>
              </a:spcBef>
              <a:spcAft>
                <a:spcPts val="400"/>
              </a:spcAft>
              <a:defRPr sz="1100" b="0">
                <a:solidFill>
                  <a:srgbClr val="333344"/>
                </a:solidFill>
                <a:latin typeface="맑은 고딕"/>
              </a:defRPr>
            </a:pPr>
            <a:r>
              <a:t>④ 이벤트 로그/DTC 저장 → 사후 분석 대비</a:t>
            </a:r>
          </a:p>
          <a:p>
            <a:pPr algn="l">
              <a:spcBef>
                <a:spcPts val="0"/>
              </a:spcBef>
              <a:spcAft>
                <a:spcPts val="400"/>
              </a:spcAft>
              <a:defRPr sz="1100" b="1">
                <a:solidFill>
                  <a:srgbClr val="0047AB"/>
                </a:solidFill>
                <a:latin typeface="맑은 고딕"/>
              </a:defRPr>
            </a:pPr>
            <a:r>
              <a:t>→ 통신 단절/센서 고장 시에도 승객 안전 100% 확보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0" y="5852160"/>
            <a:ext cx="1554480" cy="6400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CE5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92240" y="5870448"/>
            <a:ext cx="1371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  <a:defRPr sz="1000" b="1">
                <a:solidFill>
                  <a:srgbClr val="0047AB"/>
                </a:solidFill>
                <a:latin typeface="맑은 고딕"/>
              </a:defRPr>
            </a:pPr>
            <a:r>
              <a:t>MISRA C:2012</a:t>
            </a:r>
          </a:p>
          <a:p>
            <a:pPr algn="l">
              <a:spcBef>
                <a:spcPts val="0"/>
              </a:spcBef>
              <a:spcAft>
                <a:spcPts val="400"/>
              </a:spcAft>
              <a:defRPr sz="800" b="0">
                <a:solidFill>
                  <a:srgbClr val="666677"/>
                </a:solidFill>
                <a:latin typeface="맑은 고딕"/>
              </a:defRPr>
            </a:pPr>
            <a:r>
              <a:t>동적 메모리 금지</a:t>
            </a:r>
            <a:br/>
            <a:r>
              <a:t>Defensive 코딩 규칙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138160" y="5852160"/>
            <a:ext cx="1554480" cy="6400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CE5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229600" y="5870448"/>
            <a:ext cx="1371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  <a:defRPr sz="1000" b="1">
                <a:solidFill>
                  <a:srgbClr val="0047AB"/>
                </a:solidFill>
                <a:latin typeface="맑은 고딕"/>
              </a:defRPr>
            </a:pPr>
            <a:r>
              <a:t>ISO 26262</a:t>
            </a:r>
          </a:p>
          <a:p>
            <a:pPr algn="l">
              <a:spcBef>
                <a:spcPts val="0"/>
              </a:spcBef>
              <a:spcAft>
                <a:spcPts val="400"/>
              </a:spcAft>
              <a:defRPr sz="800" b="0">
                <a:solidFill>
                  <a:srgbClr val="666677"/>
                </a:solidFill>
                <a:latin typeface="맑은 고딕"/>
              </a:defRPr>
            </a:pPr>
            <a:r>
              <a:t>ASIL-B 등급</a:t>
            </a:r>
            <a:br/>
            <a:r>
              <a:t>Fail-Safe 설계 원칙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9875520" y="5852160"/>
            <a:ext cx="1554480" cy="6400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CE5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966960" y="5870448"/>
            <a:ext cx="1371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  <a:defRPr sz="1000" b="1">
                <a:solidFill>
                  <a:srgbClr val="0047AB"/>
                </a:solidFill>
                <a:latin typeface="맑은 고딕"/>
              </a:defRPr>
            </a:pPr>
            <a:r>
              <a:t>A-SPICE</a:t>
            </a:r>
          </a:p>
          <a:p>
            <a:pPr algn="l">
              <a:spcBef>
                <a:spcPts val="0"/>
              </a:spcBef>
              <a:spcAft>
                <a:spcPts val="400"/>
              </a:spcAft>
              <a:defRPr sz="800" b="0">
                <a:solidFill>
                  <a:srgbClr val="666677"/>
                </a:solidFill>
                <a:latin typeface="맑은 고딕"/>
              </a:defRPr>
            </a:pPr>
            <a:r>
              <a:t>요구사항↔코드 추적</a:t>
            </a:r>
            <a:br/>
            <a:r>
              <a:t>DD-CL-F08 트레이서빌리티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430000" y="6446520"/>
            <a:ext cx="640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666677"/>
                </a:solidFill>
                <a:latin typeface="맑은 고딕"/>
              </a:defRPr>
            </a:pPr>
            <a:r>
              <a:t>4 / 6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0047A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E8F2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31520" y="365760"/>
            <a:ext cx="2103120" cy="274320"/>
          </a:xfrm>
          <a:prstGeom prst="roundRect">
            <a:avLst/>
          </a:prstGeom>
          <a:solidFill>
            <a:srgbClr val="0047A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900" b="1">
                <a:solidFill>
                  <a:srgbClr val="FFFFFF"/>
                </a:solidFill>
                <a:latin typeface="맑은 고딕"/>
              </a:defRPr>
            </a:pPr>
            <a:r>
              <a:t>Q3. 에스엘 적용 방안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822960"/>
            <a:ext cx="10058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  <a:defRPr sz="1400" b="0">
                <a:solidFill>
                  <a:srgbClr val="666677"/>
                </a:solidFill>
                <a:latin typeface="맑은 고딕"/>
              </a:defRPr>
            </a:pPr>
            <a:r>
              <a:t>에스엘의 전장 부품에</a:t>
            </a:r>
          </a:p>
          <a:p>
            <a:pPr algn="l">
              <a:spcBef>
                <a:spcPts val="0"/>
              </a:spcBef>
              <a:spcAft>
                <a:spcPts val="400"/>
              </a:spcAft>
              <a:defRPr sz="2600" b="1">
                <a:solidFill>
                  <a:srgbClr val="002B5C"/>
                </a:solidFill>
                <a:latin typeface="맑은 고딕"/>
              </a:defRPr>
            </a:pPr>
            <a:r>
              <a:t>ASIL-B 수준의 '안전 기반 통합 제어 역량'을 이식하다.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1920240"/>
            <a:ext cx="2743200" cy="2743"/>
          </a:xfrm>
          <a:prstGeom prst="rect">
            <a:avLst/>
          </a:prstGeom>
          <a:solidFill>
            <a:srgbClr val="0047A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731520" y="2103120"/>
            <a:ext cx="10698480" cy="548640"/>
          </a:xfrm>
          <a:prstGeom prst="roundRect">
            <a:avLst/>
          </a:prstGeom>
          <a:solidFill>
            <a:srgbClr val="0047A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2148840"/>
            <a:ext cx="103327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  <a:defRPr sz="1200" b="1">
                <a:solidFill>
                  <a:srgbClr val="FFFFFF"/>
                </a:solidFill>
                <a:latin typeface="맑은 고딕"/>
              </a:defRPr>
            </a:pPr>
            <a:r>
              <a:t>모든 에스엘 전장품의 공통점:  정밀한 '모터 제어(HW)'  +  '상황 판단 로직(SW)'의 결합  →  차일드 락과 동일한 설계 패러다임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31520" y="2926080"/>
            <a:ext cx="3474720" cy="35661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CE5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31520" y="2926080"/>
            <a:ext cx="3474720" cy="45720"/>
          </a:xfrm>
          <a:prstGeom prst="rect">
            <a:avLst/>
          </a:prstGeom>
          <a:solidFill>
            <a:srgbClr val="0047A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4400" y="3063240"/>
            <a:ext cx="3108960" cy="3291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  <a:defRPr sz="1500" b="1">
                <a:solidFill>
                  <a:srgbClr val="0047AB"/>
                </a:solidFill>
                <a:latin typeface="맑은 고딕"/>
              </a:defRPr>
            </a:pPr>
            <a:r>
              <a:t>💡  ADB 헤드램프</a:t>
            </a:r>
          </a:p>
          <a:p>
            <a:pPr algn="l">
              <a:spcBef>
                <a:spcPts val="0"/>
              </a:spcBef>
              <a:spcAft>
                <a:spcPts val="800"/>
              </a:spcAft>
              <a:defRPr sz="900" b="0">
                <a:solidFill>
                  <a:srgbClr val="666677"/>
                </a:solidFill>
                <a:latin typeface="맑은 고딕"/>
              </a:defRPr>
            </a:pPr>
            <a:r>
              <a:t>Adaptive Driving Beam</a:t>
            </a:r>
          </a:p>
          <a:p>
            <a:pPr algn="l">
              <a:spcBef>
                <a:spcPts val="0"/>
              </a:spcBef>
              <a:spcAft>
                <a:spcPts val="200"/>
              </a:spcAft>
              <a:defRPr sz="1000" b="1">
                <a:solidFill>
                  <a:srgbClr val="002B5C"/>
                </a:solidFill>
                <a:latin typeface="맑은 고딕"/>
              </a:defRPr>
            </a:pPr>
            <a:r>
              <a:t>🔧 HW 구성</a:t>
            </a:r>
          </a:p>
          <a:p>
            <a:pPr algn="l">
              <a:spcBef>
                <a:spcPts val="0"/>
              </a:spcBef>
              <a:spcAft>
                <a:spcPts val="800"/>
              </a:spcAft>
              <a:defRPr sz="1000" b="0">
                <a:solidFill>
                  <a:srgbClr val="333344"/>
                </a:solidFill>
                <a:latin typeface="맑은 고딕"/>
              </a:defRPr>
            </a:pPr>
            <a:r>
              <a:t>LED 매트릭스 구동 모터</a:t>
            </a:r>
            <a:br/>
            <a:r>
              <a:t>+ 빔 각도 조절 액추에이터</a:t>
            </a:r>
          </a:p>
          <a:p>
            <a:pPr algn="l">
              <a:spcBef>
                <a:spcPts val="0"/>
              </a:spcBef>
              <a:spcAft>
                <a:spcPts val="200"/>
              </a:spcAft>
              <a:defRPr sz="1000" b="1">
                <a:solidFill>
                  <a:srgbClr val="0047AB"/>
                </a:solidFill>
                <a:latin typeface="맑은 고딕"/>
              </a:defRPr>
            </a:pPr>
            <a:r>
              <a:t>📐 시간 기반 히스테리시스 적용</a:t>
            </a:r>
          </a:p>
          <a:p>
            <a:pPr algn="l">
              <a:spcBef>
                <a:spcPts val="0"/>
              </a:spcBef>
              <a:spcAft>
                <a:spcPts val="800"/>
              </a:spcAft>
              <a:defRPr sz="1000" b="0">
                <a:solidFill>
                  <a:srgbClr val="333344"/>
                </a:solidFill>
                <a:latin typeface="맑은 고딕"/>
              </a:defRPr>
            </a:pPr>
            <a:r>
              <a:t>히스테리시스 → 빔 패턴</a:t>
            </a:r>
            <a:br/>
            <a:r>
              <a:t>경계값 안정화 (깜빡임 방지)</a:t>
            </a:r>
          </a:p>
          <a:p>
            <a:pPr algn="l">
              <a:spcBef>
                <a:spcPts val="0"/>
              </a:spcBef>
              <a:spcAft>
                <a:spcPts val="200"/>
              </a:spcAft>
              <a:defRPr sz="1000" b="1">
                <a:solidFill>
                  <a:srgbClr val="FF6B35"/>
                </a:solidFill>
                <a:latin typeface="맑은 고딕"/>
              </a:defRPr>
            </a:pPr>
            <a:r>
              <a:t>🛡 Fail-Safe 적용</a:t>
            </a:r>
          </a:p>
          <a:p>
            <a:pPr algn="l">
              <a:spcBef>
                <a:spcPts val="0"/>
              </a:spcBef>
              <a:spcAft>
                <a:spcPts val="400"/>
              </a:spcAft>
              <a:defRPr sz="1000" b="0">
                <a:solidFill>
                  <a:srgbClr val="333344"/>
                </a:solidFill>
                <a:latin typeface="맑은 고딕"/>
              </a:defRPr>
            </a:pPr>
            <a:r>
              <a:t>Fail-Safe → 센서 고장 시</a:t>
            </a:r>
            <a:br/>
            <a:r>
              <a:t>기본 빔(Low Beam) 유지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480559" y="2926080"/>
            <a:ext cx="3474720" cy="35661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CE5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480559" y="2926080"/>
            <a:ext cx="3474720" cy="45720"/>
          </a:xfrm>
          <a:prstGeom prst="rect">
            <a:avLst/>
          </a:prstGeom>
          <a:solidFill>
            <a:srgbClr val="006E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663439" y="3063240"/>
            <a:ext cx="3108960" cy="3291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  <a:defRPr sz="1500" b="1">
                <a:solidFill>
                  <a:srgbClr val="006ED6"/>
                </a:solidFill>
                <a:latin typeface="맑은 고딕"/>
              </a:defRPr>
            </a:pPr>
            <a:r>
              <a:t>⚙️  E-Shifter</a:t>
            </a:r>
          </a:p>
          <a:p>
            <a:pPr algn="l">
              <a:spcBef>
                <a:spcPts val="0"/>
              </a:spcBef>
              <a:spcAft>
                <a:spcPts val="800"/>
              </a:spcAft>
              <a:defRPr sz="900" b="0">
                <a:solidFill>
                  <a:srgbClr val="666677"/>
                </a:solidFill>
                <a:latin typeface="맑은 고딕"/>
              </a:defRPr>
            </a:pPr>
            <a:r>
              <a:t>Electronic Gear Shifter</a:t>
            </a:r>
          </a:p>
          <a:p>
            <a:pPr algn="l">
              <a:spcBef>
                <a:spcPts val="0"/>
              </a:spcBef>
              <a:spcAft>
                <a:spcPts val="200"/>
              </a:spcAft>
              <a:defRPr sz="1000" b="1">
                <a:solidFill>
                  <a:srgbClr val="002B5C"/>
                </a:solidFill>
                <a:latin typeface="맑은 고딕"/>
              </a:defRPr>
            </a:pPr>
            <a:r>
              <a:t>🔧 HW 구성</a:t>
            </a:r>
          </a:p>
          <a:p>
            <a:pPr algn="l">
              <a:spcBef>
                <a:spcPts val="0"/>
              </a:spcBef>
              <a:spcAft>
                <a:spcPts val="800"/>
              </a:spcAft>
              <a:defRPr sz="1000" b="0">
                <a:solidFill>
                  <a:srgbClr val="333344"/>
                </a:solidFill>
                <a:latin typeface="맑은 고딕"/>
              </a:defRPr>
            </a:pPr>
            <a:r>
              <a:t>전자식 변속 모터</a:t>
            </a:r>
            <a:br/>
            <a:r>
              <a:t>+ 포지션 감지 센서</a:t>
            </a:r>
          </a:p>
          <a:p>
            <a:pPr algn="l">
              <a:spcBef>
                <a:spcPts val="0"/>
              </a:spcBef>
              <a:spcAft>
                <a:spcPts val="200"/>
              </a:spcAft>
              <a:defRPr sz="1000" b="1">
                <a:solidFill>
                  <a:srgbClr val="0047AB"/>
                </a:solidFill>
                <a:latin typeface="맑은 고딕"/>
              </a:defRPr>
            </a:pPr>
            <a:r>
              <a:t>📐 시간 기반 히스테리시스 적용</a:t>
            </a:r>
          </a:p>
          <a:p>
            <a:pPr algn="l">
              <a:spcBef>
                <a:spcPts val="0"/>
              </a:spcBef>
              <a:spcAft>
                <a:spcPts val="800"/>
              </a:spcAft>
              <a:defRPr sz="1000" b="0">
                <a:solidFill>
                  <a:srgbClr val="333344"/>
                </a:solidFill>
                <a:latin typeface="맑은 고딕"/>
              </a:defRPr>
            </a:pPr>
            <a:r>
              <a:t>히스테리시스 → 변속 위치</a:t>
            </a:r>
            <a:br/>
            <a:r>
              <a:t>판단 안정성 (오변속 방지)</a:t>
            </a:r>
          </a:p>
          <a:p>
            <a:pPr algn="l">
              <a:spcBef>
                <a:spcPts val="0"/>
              </a:spcBef>
              <a:spcAft>
                <a:spcPts val="200"/>
              </a:spcAft>
              <a:defRPr sz="1000" b="1">
                <a:solidFill>
                  <a:srgbClr val="FF6B35"/>
                </a:solidFill>
                <a:latin typeface="맑은 고딕"/>
              </a:defRPr>
            </a:pPr>
            <a:r>
              <a:t>🛡 Fail-Safe 적용</a:t>
            </a:r>
          </a:p>
          <a:p>
            <a:pPr algn="l">
              <a:spcBef>
                <a:spcPts val="0"/>
              </a:spcBef>
              <a:spcAft>
                <a:spcPts val="400"/>
              </a:spcAft>
              <a:defRPr sz="1000" b="0">
                <a:solidFill>
                  <a:srgbClr val="333344"/>
                </a:solidFill>
                <a:latin typeface="맑은 고딕"/>
              </a:defRPr>
            </a:pPr>
            <a:r>
              <a:t>Fail-Safe → 센서 고장 시</a:t>
            </a:r>
            <a:br/>
            <a:r>
              <a:t>P단 강제 고정 (안전 정차)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229600" y="2926080"/>
            <a:ext cx="3474720" cy="35661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CE5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8229600" y="2926080"/>
            <a:ext cx="3474720" cy="45720"/>
          </a:xfrm>
          <a:prstGeom prst="rect">
            <a:avLst/>
          </a:prstGeom>
          <a:solidFill>
            <a:srgbClr val="002B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412480" y="3063240"/>
            <a:ext cx="3108960" cy="3291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  <a:defRPr sz="1500" b="1">
                <a:solidFill>
                  <a:srgbClr val="002B5C"/>
                </a:solidFill>
                <a:latin typeface="맑은 고딕"/>
              </a:defRPr>
            </a:pPr>
            <a:r>
              <a:t>🪞  전동 폴딩 미러</a:t>
            </a:r>
          </a:p>
          <a:p>
            <a:pPr algn="l">
              <a:spcBef>
                <a:spcPts val="0"/>
              </a:spcBef>
              <a:spcAft>
                <a:spcPts val="800"/>
              </a:spcAft>
              <a:defRPr sz="900" b="0">
                <a:solidFill>
                  <a:srgbClr val="666677"/>
                </a:solidFill>
                <a:latin typeface="맑은 고딕"/>
              </a:defRPr>
            </a:pPr>
            <a:r>
              <a:t>Power Folding Mirror</a:t>
            </a:r>
          </a:p>
          <a:p>
            <a:pPr algn="l">
              <a:spcBef>
                <a:spcPts val="0"/>
              </a:spcBef>
              <a:spcAft>
                <a:spcPts val="200"/>
              </a:spcAft>
              <a:defRPr sz="1000" b="1">
                <a:solidFill>
                  <a:srgbClr val="002B5C"/>
                </a:solidFill>
                <a:latin typeface="맑은 고딕"/>
              </a:defRPr>
            </a:pPr>
            <a:r>
              <a:t>🔧 HW 구성</a:t>
            </a:r>
          </a:p>
          <a:p>
            <a:pPr algn="l">
              <a:spcBef>
                <a:spcPts val="0"/>
              </a:spcBef>
              <a:spcAft>
                <a:spcPts val="800"/>
              </a:spcAft>
              <a:defRPr sz="1000" b="0">
                <a:solidFill>
                  <a:srgbClr val="333344"/>
                </a:solidFill>
                <a:latin typeface="맑은 고딕"/>
              </a:defRPr>
            </a:pPr>
            <a:r>
              <a:t>접힘/펼침 구동 모터</a:t>
            </a:r>
            <a:br/>
            <a:r>
              <a:t>+ 위치 센서 + 전류 감지</a:t>
            </a:r>
          </a:p>
          <a:p>
            <a:pPr algn="l">
              <a:spcBef>
                <a:spcPts val="0"/>
              </a:spcBef>
              <a:spcAft>
                <a:spcPts val="200"/>
              </a:spcAft>
              <a:defRPr sz="1000" b="1">
                <a:solidFill>
                  <a:srgbClr val="0047AB"/>
                </a:solidFill>
                <a:latin typeface="맑은 고딕"/>
              </a:defRPr>
            </a:pPr>
            <a:r>
              <a:t>📐 시간 기반 히스테리시스 적용</a:t>
            </a:r>
          </a:p>
          <a:p>
            <a:pPr algn="l">
              <a:spcBef>
                <a:spcPts val="0"/>
              </a:spcBef>
              <a:spcAft>
                <a:spcPts val="800"/>
              </a:spcAft>
              <a:defRPr sz="1000" b="0">
                <a:solidFill>
                  <a:srgbClr val="333344"/>
                </a:solidFill>
                <a:latin typeface="맑은 고딕"/>
              </a:defRPr>
            </a:pPr>
            <a:r>
              <a:t>히스테리시스 → 장애물 감지</a:t>
            </a:r>
            <a:br/>
            <a:r>
              <a:t>임계값 안정화 (오판 방지)</a:t>
            </a:r>
          </a:p>
          <a:p>
            <a:pPr algn="l">
              <a:spcBef>
                <a:spcPts val="0"/>
              </a:spcBef>
              <a:spcAft>
                <a:spcPts val="200"/>
              </a:spcAft>
              <a:defRPr sz="1000" b="1">
                <a:solidFill>
                  <a:srgbClr val="FF6B35"/>
                </a:solidFill>
                <a:latin typeface="맑은 고딕"/>
              </a:defRPr>
            </a:pPr>
            <a:r>
              <a:t>🛡 Fail-Safe 적용</a:t>
            </a:r>
          </a:p>
          <a:p>
            <a:pPr algn="l">
              <a:spcBef>
                <a:spcPts val="0"/>
              </a:spcBef>
              <a:spcAft>
                <a:spcPts val="400"/>
              </a:spcAft>
              <a:defRPr sz="1000" b="0">
                <a:solidFill>
                  <a:srgbClr val="333344"/>
                </a:solidFill>
                <a:latin typeface="맑은 고딕"/>
              </a:defRPr>
            </a:pPr>
            <a:r>
              <a:t>Fail-Safe → 과부하/장애물 시</a:t>
            </a:r>
            <a:br/>
            <a:r>
              <a:t>모터 즉시 정지 보호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1430000" y="6446520"/>
            <a:ext cx="640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666677"/>
                </a:solidFill>
                <a:latin typeface="맑은 고딕"/>
              </a:defRPr>
            </a:pPr>
            <a:r>
              <a:t>5 / 6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02B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36576"/>
          </a:xfrm>
          <a:prstGeom prst="rect">
            <a:avLst/>
          </a:prstGeom>
          <a:solidFill>
            <a:srgbClr val="006E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73152" cy="6858000"/>
          </a:xfrm>
          <a:prstGeom prst="rect">
            <a:avLst/>
          </a:prstGeom>
          <a:solidFill>
            <a:srgbClr val="0047A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9144000" y="5029200"/>
            <a:ext cx="2743200" cy="914400"/>
          </a:xfrm>
          <a:prstGeom prst="rect">
            <a:avLst/>
          </a:prstGeom>
          <a:solidFill>
            <a:srgbClr val="0047A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9601200" y="6126480"/>
            <a:ext cx="2286000" cy="548640"/>
          </a:xfrm>
          <a:prstGeom prst="rect">
            <a:avLst/>
          </a:prstGeom>
          <a:solidFill>
            <a:srgbClr val="006E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371600" y="1828800"/>
            <a:ext cx="914400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  <a:defRPr sz="1800" b="0">
                <a:solidFill>
                  <a:srgbClr val="CCE5FF"/>
                </a:solidFill>
                <a:latin typeface="맑은 고딕"/>
              </a:defRPr>
            </a:pPr>
            <a:r>
              <a:t>기계공학의 뼈대 위에</a:t>
            </a:r>
          </a:p>
          <a:p>
            <a:pPr algn="l">
              <a:spcBef>
                <a:spcPts val="0"/>
              </a:spcBef>
              <a:spcAft>
                <a:spcPts val="800"/>
              </a:spcAft>
              <a:defRPr sz="1800" b="0">
                <a:solidFill>
                  <a:srgbClr val="CCE5FF"/>
                </a:solidFill>
                <a:latin typeface="맑은 고딕"/>
              </a:defRPr>
            </a:pPr>
            <a:r>
              <a:t>똑똑한 SW의 두뇌를 탑재하는</a:t>
            </a:r>
          </a:p>
          <a:p>
            <a:pPr algn="l">
              <a:spcBef>
                <a:spcPts val="0"/>
              </a:spcBef>
              <a:spcAft>
                <a:spcPts val="3000"/>
              </a:spcAft>
              <a:defRPr sz="3600" b="1">
                <a:solidFill>
                  <a:srgbClr val="FFFFFF"/>
                </a:solidFill>
                <a:latin typeface="맑은 고딕"/>
              </a:defRPr>
            </a:pPr>
            <a:r>
              <a:t>에스엘의 미래 파트너.</a:t>
            </a:r>
          </a:p>
        </p:txBody>
      </p:sp>
      <p:sp>
        <p:nvSpPr>
          <p:cNvPr id="8" name="Rectangle 7"/>
          <p:cNvSpPr/>
          <p:nvPr/>
        </p:nvSpPr>
        <p:spPr>
          <a:xfrm>
            <a:off x="1371600" y="4206240"/>
            <a:ext cx="3200400" cy="2743"/>
          </a:xfrm>
          <a:prstGeom prst="rect">
            <a:avLst/>
          </a:prstGeom>
          <a:solidFill>
            <a:srgbClr val="006E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1371600" y="4480560"/>
            <a:ext cx="1828800" cy="274320"/>
          </a:xfrm>
          <a:prstGeom prst="roundRect">
            <a:avLst/>
          </a:prstGeom>
          <a:solidFill>
            <a:srgbClr val="0047A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900" b="1">
                <a:solidFill>
                  <a:srgbClr val="FFFFFF"/>
                </a:solidFill>
                <a:latin typeface="맑은 고딕"/>
              </a:defRPr>
            </a:pPr>
            <a:r>
              <a:t>Hysteresis Logic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383280" y="4480560"/>
            <a:ext cx="1828800" cy="274320"/>
          </a:xfrm>
          <a:prstGeom prst="roundRect">
            <a:avLst/>
          </a:prstGeom>
          <a:solidFill>
            <a:srgbClr val="0047A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900" b="1">
                <a:solidFill>
                  <a:srgbClr val="FFFFFF"/>
                </a:solidFill>
                <a:latin typeface="맑은 고딕"/>
              </a:defRPr>
            </a:pPr>
            <a:r>
              <a:t>ASIL-B Fail-Safe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394960" y="4480560"/>
            <a:ext cx="1828800" cy="274320"/>
          </a:xfrm>
          <a:prstGeom prst="roundRect">
            <a:avLst/>
          </a:prstGeom>
          <a:solidFill>
            <a:srgbClr val="0047A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900" b="1">
                <a:solidFill>
                  <a:srgbClr val="FFFFFF"/>
                </a:solidFill>
                <a:latin typeface="맑은 고딕"/>
              </a:defRPr>
            </a:pPr>
            <a:r>
              <a:t>MISRA C:2012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406640" y="4480560"/>
            <a:ext cx="1828800" cy="274320"/>
          </a:xfrm>
          <a:prstGeom prst="roundRect">
            <a:avLst/>
          </a:prstGeom>
          <a:solidFill>
            <a:srgbClr val="0047A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900" b="1">
                <a:solidFill>
                  <a:srgbClr val="FFFFFF"/>
                </a:solidFill>
                <a:latin typeface="맑은 고딕"/>
              </a:defRPr>
            </a:pPr>
            <a:r>
              <a:t>Defensive Programming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9418320" y="4480560"/>
            <a:ext cx="1828800" cy="274320"/>
          </a:xfrm>
          <a:prstGeom prst="roundRect">
            <a:avLst/>
          </a:prstGeom>
          <a:solidFill>
            <a:srgbClr val="0047A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900" b="1">
                <a:solidFill>
                  <a:srgbClr val="FFFFFF"/>
                </a:solidFill>
                <a:latin typeface="맑은 고딕"/>
              </a:defRPr>
            </a:pPr>
            <a:r>
              <a:t>HW-SW 융합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371600" y="5120640"/>
            <a:ext cx="91440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  <a:defRPr sz="2000" b="0">
                <a:solidFill>
                  <a:srgbClr val="CCE5FF"/>
                </a:solidFill>
                <a:latin typeface="맑은 고딕"/>
              </a:defRPr>
            </a:pPr>
            <a:r>
              <a:t>경청해 주셔서 감사합니다.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430000" y="6446520"/>
            <a:ext cx="640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666677"/>
                </a:solidFill>
                <a:latin typeface="맑은 고딕"/>
              </a:defRPr>
            </a:pPr>
            <a:r>
              <a:t>6 / 6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