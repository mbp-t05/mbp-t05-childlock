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274320"/>
            <a:ext cx="2286000" cy="73152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188720"/>
            <a:ext cx="1828800" cy="457200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91440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ASIL-B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1645920"/>
            <a:ext cx="118872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ISO 26262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645920"/>
            <a:ext cx="137160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MISRA C:2012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000" b="0">
                <a:solidFill>
                  <a:srgbClr val="CCE5FF"/>
                </a:solidFill>
                <a:latin typeface="맑은 고딕"/>
              </a:defRPr>
            </a:pPr>
            <a:r>
              <a:t>기계공학의 메커니즘 위에</a:t>
            </a:r>
          </a:p>
          <a:p>
            <a:pPr algn="l">
              <a:spcBef>
                <a:spcPts val="0"/>
              </a:spcBef>
              <a:spcAft>
                <a:spcPts val="16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ASIL-B 등급의 SW 안전을 설계하다.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3657600" cy="2743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3891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600" b="0">
                <a:solidFill>
                  <a:srgbClr val="CCE5FF"/>
                </a:solidFill>
                <a:latin typeface="맑은 고딕"/>
              </a:defRPr>
            </a:pPr>
            <a:r>
              <a:t>하드웨어와 소프트웨어의 경계를 허무는 융합형 문제 해결사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666677"/>
                </a:solidFill>
                <a:latin typeface="맑은 고딕"/>
              </a:defRPr>
            </a:pPr>
            <a:r>
              <a:t>차량 도어 기구학 + 센서 물리 모델 + Fail-Safe SW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001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6217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666677"/>
                </a:solidFill>
                <a:latin typeface="맑은 고딕"/>
              </a:defRPr>
            </a:pPr>
            <a:r>
              <a:t>지원 직무: 연구개발(R&amp;D)  ·  차량 SW 제어 로직 개발  ·  전장 부품 안전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3716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Q1. 문제 인식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차량 안전 시스템의 핵심,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HW와 SW의 유기적 통합의 괴리를 '문제'로 정의하다.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▎ 차일드 락의 기계적 특성과 SW 한계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5029200" cy="137160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🔧  소형 DC 모터 + 기어 트레인의 물리적 한계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응답 지연(Response Delay): 모터 구동 → 래치 체결까지 수십 ms 소요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기어 백래시(Backlash): 기어 치합 유격으로 인한 위치 불확정 구간 존재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관성 지연(Inertia): 모터 정지 명령 후에도 관성에 의해 회전 지속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06240"/>
            <a:ext cx="5029200" cy="1463040"/>
          </a:xfrm>
          <a:prstGeom prst="round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976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E53335"/>
                </a:solidFill>
                <a:latin typeface="맑은 고딕"/>
              </a:defRPr>
            </a:pPr>
            <a:r>
              <a:t>⚠  SW가 센서 노이즈를 그대로 전달하면?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333344"/>
                </a:solidFill>
                <a:latin typeface="맑은 고딕"/>
              </a:defRPr>
            </a:pPr>
            <a:r>
              <a:t>센서 경계값 떨림 → 모터에 초당 수십 번 ON/OFF 명령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E53335"/>
                </a:solidFill>
                <a:latin typeface="맑은 고딕"/>
              </a:defRPr>
            </a:pPr>
            <a:r>
              <a:t>👉 모터 소손(Burn-out) 및 기어 마모 → 치명적 HW 파손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E53335"/>
                </a:solidFill>
                <a:latin typeface="맑은 고딕"/>
              </a:defRPr>
            </a:pPr>
            <a:r>
              <a:t>👉 래치 체결 불완전 → 차일드 락 기능 상실 → 승객 안전 위협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52160"/>
            <a:ext cx="5029200" cy="54864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8978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✅  결론: 모터의 물리적 한계를 보호하는 SW 설계가 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▎ SW 관점에서 정의한 3가지 핵심 문제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651760"/>
            <a:ext cx="5029200" cy="1143000"/>
          </a:xfrm>
          <a:prstGeom prst="round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697480"/>
            <a:ext cx="4572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6B35"/>
                </a:solidFill>
                <a:latin typeface="맑은 고딕"/>
              </a:defRPr>
            </a:pPr>
            <a:r>
              <a:t>①  경계값 떨림에 의한 오판단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단순 if-else 비교 → 센서 노이즈에 의한</a:t>
            </a:r>
            <a:br/>
            <a:r>
              <a:t>ON/OFF 반복 토글 → 모터 수명 저하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→ 해결: 히스테리시스 밴드 (500ms/1000ms)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931920"/>
            <a:ext cx="5029200" cy="1143000"/>
          </a:xfrm>
          <a:prstGeom prst="round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977640"/>
            <a:ext cx="4572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E53335"/>
                </a:solidFill>
                <a:latin typeface="맑은 고딕"/>
              </a:defRPr>
            </a:pPr>
            <a:r>
              <a:t>②  센서 고장 시 방치 (No Fail-Safe)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센서 고장 인지 불가 → 차일드 락 풀림 방치</a:t>
            </a:r>
            <a:br/>
            <a:r>
              <a:t>→ 아이가 문을 열고 도로로 추락 위험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E53335"/>
                </a:solidFill>
                <a:latin typeface="맑은 고딕"/>
              </a:defRPr>
            </a:pPr>
            <a:r>
              <a:t>→ 해결: SAFE_LOCKED 강제 잠금 정책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5212079"/>
            <a:ext cx="5029200" cy="114300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5257799"/>
            <a:ext cx="4572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③  HW-SW 통합 관점 부재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모터 응답 지연/관성을 무시한 SW 설계</a:t>
            </a:r>
            <a:br/>
            <a:r>
              <a:t>→ 기계적 피로 누적 → 시스템 신뢰도 하락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→ 해결: 기계공학 기반 타이머 설계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6459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Q2. 해결 과정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65760"/>
            <a:ext cx="64008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F-07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기계공학도의 시각으로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센서의 물리적 한계를 SW로 극복하다.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후방 접근 위험 판단 로직 플로우</a:t>
            </a:r>
          </a:p>
        </p:txBody>
      </p:sp>
      <p:pic>
        <p:nvPicPr>
          <p:cNvPr id="9" name="Picture 8" descr="f07_flowchart_1775564697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30352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핵심: 히스테리시스(Hysteresis) — 왜 필요한가?</a:t>
            </a:r>
          </a:p>
        </p:txBody>
      </p:sp>
      <p:pic>
        <p:nvPicPr>
          <p:cNvPr id="11" name="Picture 10" descr="hysteresis_graph_17755637347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02920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0" y="4754880"/>
            <a:ext cx="5029200" cy="155448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4846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🔧  HW 보호 관점의 히스테리시스 설계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002B5C"/>
                </a:solidFill>
                <a:latin typeface="맑은 고딕"/>
              </a:defRPr>
            </a:pPr>
            <a:r>
              <a:t>확정 타이머 (500ms):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센서 값이 튀더라도 모터가 물리적으로 반응할 수 있는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충분한 안정화 시간을 SW가 확보 → 기계적 피로도 극적 감소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002B5C"/>
                </a:solidFill>
                <a:latin typeface="맑은 고딕"/>
              </a:defRPr>
            </a:pPr>
            <a:r>
              <a:t>해제 타이머 (1000ms):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안전한 상태가 1초 이상 지속되어야 해제 → 모터 반복 구동 방지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1">
                <a:solidFill>
                  <a:srgbClr val="0047AB"/>
                </a:solidFill>
                <a:latin typeface="맑은 고딕"/>
              </a:defRPr>
            </a:pPr>
            <a:r>
              <a:t>→ 기어 마모/모터 소손 위험 원천 차단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6459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Q2. 해결 과정 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65760"/>
            <a:ext cx="64008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F-08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ASIL-B 등급의 Fail-Safe 시스템을 구축해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무결점 안전을 확보하다.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보호 액션 판단 플로우 (ProtectionController)</a:t>
            </a:r>
          </a:p>
        </p:txBody>
      </p:sp>
      <p:pic>
        <p:nvPicPr>
          <p:cNvPr id="9" name="Picture 8" descr="f08_failsafe_flow_17755647139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30352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SAFE_LOCKED 정책 — 물리적으로 가장 안전한 상태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651760"/>
            <a:ext cx="5029200" cy="1371600"/>
          </a:xfrm>
          <a:prstGeom prst="round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1">
                <a:solidFill>
                  <a:srgbClr val="E53335"/>
                </a:solidFill>
                <a:latin typeface="맑은 고딕"/>
              </a:defRPr>
            </a:pPr>
            <a:r>
              <a:t>⚠  센서 고장 시 차일드 락이 풀려버리면?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333344"/>
                </a:solidFill>
                <a:latin typeface="맑은 고딕"/>
              </a:defRPr>
            </a:pPr>
            <a:r>
              <a:t>아이가 후방 차량 접근을 모른 채 문을 열고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1">
                <a:solidFill>
                  <a:srgbClr val="E53335"/>
                </a:solidFill>
                <a:latin typeface="맑은 고딕"/>
              </a:defRPr>
            </a:pPr>
            <a:r>
              <a:t>도로로 떨어질 수 있는 치명적 사고 발생 가능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002B5C"/>
                </a:solidFill>
                <a:latin typeface="맑은 고딕"/>
              </a:defRPr>
            </a:pPr>
            <a:r>
              <a:t>→ 따라서 고장 시 "무조건 잠금 유지"가 기계적으로 가장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206240"/>
            <a:ext cx="5029200" cy="146304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2976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🛡  Defensive Programming 방어 로직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① FAULT 플래그 감지 → 즉시 CL ON 강제 유지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② 모터를 "잠금 위치"로 구동 → 래치 체결 확보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③ HMI 경고음 + 메시지로 운전자 즉시 인지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④ 이벤트 로그/DTC 저장 → 사후 분석 대비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1">
                <a:solidFill>
                  <a:srgbClr val="0047AB"/>
                </a:solidFill>
                <a:latin typeface="맑은 고딕"/>
              </a:defRPr>
            </a:pPr>
            <a:r>
              <a:t>→ 통신 단절/센서 고장 시에도 승객 안전 100% 확보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585216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587044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MISRA C:2012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동적 메모리 금지</a:t>
            </a:r>
            <a:br/>
            <a:r>
              <a:t>Defensive 코딩 규칙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85216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87044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ISO 26262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ASIL-B 등급</a:t>
            </a:r>
            <a:br/>
            <a:r>
              <a:t>Fail-Safe 설계 원칙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585216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587044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A-SPICE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요구사항↔코드 추적</a:t>
            </a:r>
            <a:br/>
            <a:r>
              <a:t>DD-CL-F08 트레이서빌리티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21031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Q3. 에스엘 적용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에스엘의 전장 부품에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ASIL-B 수준의 '안전 기반 통합 제어 역량'을 이식하다.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0698480" cy="54864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모든 에스엘 전장품의 공통점:  정밀한 '모터 제어(HW)'  +  '상황 판단 로직(SW)'의 결합  →  차일드 락과 동일한 설계 패러다임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34747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926080"/>
            <a:ext cx="3474720" cy="4572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47AB"/>
                </a:solidFill>
                <a:latin typeface="맑은 고딕"/>
              </a:defRPr>
            </a:pPr>
            <a:r>
              <a:t>💡  ADB 헤드램프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Adaptive Driving Beam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LED 매트릭스 구동 모터</a:t>
            </a:r>
            <a:br/>
            <a:r>
              <a:t>+ 빔 각도 조절 액추에이터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빔 패턴</a:t>
            </a:r>
            <a:br/>
            <a:r>
              <a:t>경계값 안정화 (깜빡임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센서 고장 시</a:t>
            </a:r>
            <a:br/>
            <a:r>
              <a:t>기본 빔(Low Beam)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926080"/>
            <a:ext cx="34747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2926080"/>
            <a:ext cx="3474720" cy="45720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39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6ED6"/>
                </a:solidFill>
                <a:latin typeface="맑은 고딕"/>
              </a:defRPr>
            </a:pPr>
            <a:r>
              <a:t>⚙️  E-Shifter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Electronic Gear Shifter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전자식 변속 모터</a:t>
            </a:r>
            <a:br/>
            <a:r>
              <a:t>+ 포지션 감지 센서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변속 위치</a:t>
            </a:r>
            <a:br/>
            <a:r>
              <a:t>판단 안정성 (오변속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센서 고장 시</a:t>
            </a:r>
            <a:br/>
            <a:r>
              <a:t>P단 강제 고정 (안전 정차)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926080"/>
            <a:ext cx="34747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926080"/>
            <a:ext cx="3474720" cy="457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🪞  전동 폴딩 미러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Power Folding Mirror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접힘/펼침 구동 모터</a:t>
            </a:r>
            <a:br/>
            <a:r>
              <a:t>+ 위치 센서 + 전류 감지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장애물 감지</a:t>
            </a:r>
            <a:br/>
            <a:r>
              <a:t>임계값 안정화 (오판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과부하/장애물 시</a:t>
            </a:r>
            <a:br/>
            <a:r>
              <a:t>모터 즉시 정지 보호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5029200"/>
            <a:ext cx="2743200" cy="9144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0" y="6126480"/>
            <a:ext cx="2286000" cy="548640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CCE5FF"/>
                </a:solidFill>
                <a:latin typeface="맑은 고딕"/>
              </a:defRPr>
            </a:pPr>
            <a:r>
              <a:t>기계공학의 뼈대 위에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800" b="0">
                <a:solidFill>
                  <a:srgbClr val="CCE5FF"/>
                </a:solidFill>
                <a:latin typeface="맑은 고딕"/>
              </a:defRPr>
            </a:pPr>
            <a:r>
              <a:t>똑똑한 SW의 두뇌를 탑재하는</a:t>
            </a:r>
          </a:p>
          <a:p>
            <a:pPr algn="l">
              <a:spcBef>
                <a:spcPts val="0"/>
              </a:spcBef>
              <a:spcAft>
                <a:spcPts val="30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에스엘의 미래 파트너.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206240"/>
            <a:ext cx="3200400" cy="2743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7160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Hysteresis Logic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ASIL-B Fail-Safe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MISRA C:2012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Defensive Programming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HW-SW 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120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CCE5FF"/>
                </a:solidFill>
                <a:latin typeface="맑은 고딕"/>
              </a:defRPr>
            </a:pPr>
            <a:r>
              <a:t>경청해 주셔서 감사합니다.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