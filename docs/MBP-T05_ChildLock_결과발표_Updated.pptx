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743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9144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MOBIUS BOOTCAMP 1기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PBL 결과발표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3366"/>
                </a:solidFill>
              </a:defRPr>
            </a:pPr>
            <a:r>
              <a:t>ISO 26262 기반 소프트웨어 V-모델 V&amp;V 적용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4903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08080"/>
                </a:solidFill>
              </a:defRPr>
            </a:pPr>
            <a:r>
              <a:t>ISO 26262 및 A-SPICE 기반 프로세스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33333"/>
                </a:solidFill>
              </a:defRPr>
            </a:pPr>
            <a: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120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33333"/>
                </a:solidFill>
              </a:defRPr>
            </a:pPr>
            <a:r>
              <a:t>전자식 차일드 락 시스템 (MBP-T05)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08080"/>
                </a:solidFill>
              </a:defRPr>
            </a:pPr>
            <a:r>
              <a:t>2026. 03. 22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217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</a:defRPr>
            </a:pPr>
            <a:r>
              <a:t>현대모비스 x LIKELION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01. 팀 소개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60320" cy="4114800"/>
          </a:xfrm>
          <a:prstGeom prst="roundRect">
            <a:avLst/>
          </a:prstGeom>
          <a:solidFill>
            <a:srgbClr val="F5F5F5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25880" y="1645920"/>
            <a:ext cx="1371600" cy="1371600"/>
          </a:xfrm>
          <a:prstGeom prst="ellipse">
            <a:avLst/>
          </a:prstGeom>
          <a:solidFill>
            <a:srgbClr val="DCDCDC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박기준 (팀장)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66B2"/>
                </a:solidFill>
              </a:defRPr>
            </a:pPr>
            <a:r>
              <a:t>프로젝트 리더 &amp; 아키텍트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• 도어 및 하차 안전 제어 로직 기획/구현
• 단위 테스트 및 CI 환경 구축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371600"/>
            <a:ext cx="2560320" cy="4114800"/>
          </a:xfrm>
          <a:prstGeom prst="roundRect">
            <a:avLst/>
          </a:prstGeom>
          <a:solidFill>
            <a:srgbClr val="F5F5F5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60520" y="1645920"/>
            <a:ext cx="1371600" cy="1371600"/>
          </a:xfrm>
          <a:prstGeom prst="ellipse">
            <a:avLst/>
          </a:prstGeom>
          <a:solidFill>
            <a:srgbClr val="DCDCDC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0" y="3200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김도균 / 김이안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35661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66B2"/>
                </a:solidFill>
              </a:defRPr>
            </a:pPr>
            <a:r>
              <a:t>프로젝트 리더 &amp; 아키텍트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39319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• 도어 및 하차 안전 제어 로직 기획/구현
• 단위 테스트 및 CI 환경 구축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371600"/>
            <a:ext cx="2560320" cy="4114800"/>
          </a:xfrm>
          <a:prstGeom prst="roundRect">
            <a:avLst/>
          </a:prstGeom>
          <a:solidFill>
            <a:srgbClr val="F5F5F5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95160" y="1645920"/>
            <a:ext cx="1371600" cy="1371600"/>
          </a:xfrm>
          <a:prstGeom prst="ellipse">
            <a:avLst/>
          </a:prstGeom>
          <a:solidFill>
            <a:srgbClr val="DCDCDC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200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이한결 / 이승욱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5661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66B2"/>
                </a:solidFill>
              </a:defRPr>
            </a:pPr>
            <a:r>
              <a:t>프로젝트 리더 &amp; 아키텍트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9319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• 도어 및 하차 안전 제어 로직 기획/구현
• 단위 테스트 및 CI 환경 구축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1371600"/>
            <a:ext cx="2560320" cy="4114800"/>
          </a:xfrm>
          <a:prstGeom prst="roundRect">
            <a:avLst/>
          </a:prstGeom>
          <a:solidFill>
            <a:srgbClr val="F5F5F5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829800" y="1645920"/>
            <a:ext cx="1371600" cy="1371600"/>
          </a:xfrm>
          <a:prstGeom prst="ellipse">
            <a:avLst/>
          </a:prstGeom>
          <a:solidFill>
            <a:srgbClr val="DCDCDC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3200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박찬석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35661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66B2"/>
                </a:solidFill>
              </a:defRPr>
            </a:pPr>
            <a:r>
              <a:t>프로젝트 리더 &amp; 아키텍트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39319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• 도어 및 하차 안전 제어 로직 기획/구현
• 단위 테스트 및 CI 환경 구축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</a:defRPr>
            </a:pPr>
            <a:r>
              <a:t>MOBIUS BOOTCAMP 1기 | PBL 결과발표 | 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02. 문제 정의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303520" cy="2560320"/>
          </a:xfrm>
          <a:prstGeom prst="roundRect">
            <a:avLst/>
          </a:prstGeom>
          <a:solidFill>
            <a:srgbClr val="FFF0F0"/>
          </a:solidFill>
          <a:ln>
            <a:solidFill>
              <a:srgbClr val="C8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43C3C"/>
                </a:solidFill>
              </a:defRPr>
            </a:pPr>
            <a:r>
              <a:t>AS-IS (현재 문제점)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문제점 1: 기계식 차일드 락의 운전자 직접 제어 불편함 및 확인 어려움
문제점 2: 보호자가 뒷좌석 상황을 인지하지 못한 상태에서 문 열림 시 사고 위험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52160" y="2194560"/>
            <a:ext cx="548640" cy="457200"/>
          </a:xfrm>
          <a:prstGeom prst="rightArrow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92240" y="1188720"/>
            <a:ext cx="5303520" cy="2560320"/>
          </a:xfrm>
          <a:prstGeom prst="roundRect">
            <a:avLst/>
          </a:prstGeom>
          <a:solidFill>
            <a:srgbClr val="F0FFF0"/>
          </a:solidFill>
          <a:ln>
            <a:solidFill>
              <a:srgbClr val="64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C8C3C"/>
                </a:solidFill>
              </a:defRPr>
            </a:pPr>
            <a:r>
              <a:t>TO-BE (목표 상태)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73736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목표 1: 뒷좌석 통합 전자 제어(운전석 제어) 도입을 통한 편의성 개선
목표 2: 후방 레이더 연동 스마트 하차 안전 보조(FG-02) 기능 도입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023360"/>
            <a:ext cx="11338560" cy="2286000"/>
          </a:xfrm>
          <a:prstGeom prst="roundRect">
            <a:avLst/>
          </a:prstGeom>
          <a:solidFill>
            <a:srgbClr val="F0F8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핵심 연구 질문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ISO 26262 기능 안전을 준수하면서, 승객의 편의성과 하차 안전을 모두 충족하는 지능형 시스템을 어떻게 구현·검증할 것인가?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</a:defRPr>
            </a:pPr>
            <a:r>
              <a:t>MOBIUS BOOTCAMP 1기 | PBL 결과발표 | 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03. 솔루션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338560" cy="137160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지능형 센서 및 차량 상태 연동 제어 기반의 통합 하차 안전 솔루션 (FG-01 / FG-02)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C8DC"/>
                </a:solidFill>
              </a:defRPr>
            </a:pPr>
            <a:r>
              <a:t>C/C++ 기반 ISO 26262 및 FMEA/HAZOP 상위 기능 안전 분석 적용 모듈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26080"/>
            <a:ext cx="3566160" cy="3291840"/>
          </a:xfrm>
          <a:prstGeom prst="roundRect">
            <a:avLst/>
          </a:prstGeom>
          <a:solidFill>
            <a:srgbClr val="F8F8F8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828800" y="3108960"/>
            <a:ext cx="731520" cy="73152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31546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23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FG-01: 도어 잠금 및 해제 제어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8056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속도, 충돌, 스위치 연동 로직 적용 및 직전 상태 복구(Safe State) 제어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926080"/>
            <a:ext cx="3566160" cy="3291840"/>
          </a:xfrm>
          <a:prstGeom prst="roundRect">
            <a:avLst/>
          </a:prstGeom>
          <a:solidFill>
            <a:srgbClr val="F8F8F8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669280" y="3108960"/>
            <a:ext cx="731520" cy="73152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31546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4023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FG-02: 하차 안전 보조 제어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448056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후방 위험 판단 시 자동 잠금 유지 및 뒷좌석 점유/출발 상태 전환 시 운전자 알림 연동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2926080"/>
            <a:ext cx="3566160" cy="3291840"/>
          </a:xfrm>
          <a:prstGeom prst="roundRect">
            <a:avLst/>
          </a:prstGeom>
          <a:solidFill>
            <a:srgbClr val="F8F8F8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509760" y="3108960"/>
            <a:ext cx="731520" cy="73152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31546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023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Fail-Safe 설계 및 테스트 결함 주입 (Fault Injection) 방어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48056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FMEA/HAZOP 기반 요구사항 분석 적용 및 Fault Injection 시나리오 방어를 통한 Fail-Safe 설계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</a:defRPr>
            </a:pPr>
            <a:r>
              <a:t>MOBIUS BOOTCAMP 1기 | PBL 결과발표 | 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04. 기술 스택 &amp; 아키텍처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7772400" cy="5029200"/>
          </a:xfrm>
          <a:prstGeom prst="roundRect">
            <a:avLst/>
          </a:prstGeom>
          <a:solidFill>
            <a:srgbClr val="FCFCFC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0" y="1188720"/>
            <a:ext cx="3474720" cy="502920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0" y="1371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Tech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192024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6B4D2"/>
                </a:solidFill>
              </a:defRPr>
            </a:pPr>
            <a:r>
              <a:t>Language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2148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C11, C++17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274320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6B4D2"/>
                </a:solidFill>
              </a:defRPr>
            </a:pPr>
            <a:r>
              <a:t>Framework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2971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ISO 26262, ASPICE, V-Model 워크플로우 적용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356616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6B4D2"/>
                </a:solidFill>
              </a:defRPr>
            </a:pPr>
            <a:r>
              <a:t>Testing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3794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Google Test, Cppcheck (단위 테스트 및 정적 분석)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38912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6B4D2"/>
                </a:solidFill>
              </a:defRPr>
            </a:pPr>
            <a:r>
              <a:t>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4617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GitHub Actions (CI 자동화), Draw.io (UML)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521208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6B4D2"/>
                </a:solidFill>
              </a:defRPr>
            </a:pPr>
            <a:r>
              <a:t>Environment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5440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Ubuntu 22.04 LTS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</a:defRPr>
            </a:pPr>
            <a:r>
              <a:t>MOBIUS BOOTCAMP 1기 | PBL 결과발표 | 5/10</a:t>
            </a:r>
          </a:p>
        </p:txBody>
      </p:sp>
      <p:pic>
        <p:nvPicPr>
          <p:cNvPr id="21" name="Picture 20" descr="childlock_s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200400"/>
            <a:ext cx="784531" cy="457200"/>
          </a:xfrm>
          <a:prstGeom prst="rect">
            <a:avLst/>
          </a:prstGeom>
        </p:spPr>
      </p:pic>
      <p:pic>
        <p:nvPicPr>
          <p:cNvPr id="22" name="Picture 21" descr="childlock_s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749039"/>
            <a:ext cx="470719" cy="27432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05. 구현 결과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303520" cy="2286000"/>
          </a:xfrm>
          <a:prstGeom prst="roundRect">
            <a:avLst/>
          </a:prstGeom>
          <a:solidFill>
            <a:srgbClr val="F5F5F5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35040" y="1188720"/>
            <a:ext cx="5303520" cy="2286000"/>
          </a:xfrm>
          <a:prstGeom prst="roundRect">
            <a:avLst/>
          </a:prstGeom>
          <a:solidFill>
            <a:srgbClr val="F5F5F5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3657600"/>
            <a:ext cx="5303520" cy="2286000"/>
          </a:xfrm>
          <a:prstGeom prst="roundRect">
            <a:avLst/>
          </a:prstGeom>
          <a:solidFill>
            <a:srgbClr val="F5F5F5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35040" y="3657600"/>
            <a:ext cx="5303520" cy="2286000"/>
          </a:xfrm>
          <a:prstGeom prst="roundRect">
            <a:avLst/>
          </a:prstGeom>
          <a:solidFill>
            <a:srgbClr val="F5F5F5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</a:defRPr>
            </a:pPr>
            <a:r>
              <a:t>MOBIUS BOOTCAMP 1기 | PBL 결과발표 | 6/10</a:t>
            </a:r>
          </a:p>
        </p:txBody>
      </p:sp>
      <p:pic>
        <p:nvPicPr>
          <p:cNvPr id="18" name="Picture 17" descr="usecase_nor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03120"/>
            <a:ext cx="4937760" cy="5448563"/>
          </a:xfrm>
          <a:prstGeom prst="rect">
            <a:avLst/>
          </a:prstGeom>
        </p:spPr>
      </p:pic>
      <p:pic>
        <p:nvPicPr>
          <p:cNvPr id="19" name="Picture 18" descr="usecase_emergen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103120"/>
            <a:ext cx="4937760" cy="3325568"/>
          </a:xfrm>
          <a:prstGeom prst="rect">
            <a:avLst/>
          </a:prstGeom>
        </p:spPr>
      </p:pic>
      <p:pic>
        <p:nvPicPr>
          <p:cNvPr id="20" name="Picture 19" descr="FG-01_door_contro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572000"/>
            <a:ext cx="4937760" cy="2737045"/>
          </a:xfrm>
          <a:prstGeom prst="rect">
            <a:avLst/>
          </a:prstGeom>
        </p:spPr>
      </p:pic>
      <p:pic>
        <p:nvPicPr>
          <p:cNvPr id="21" name="Picture 20" descr="FG-02_exit_safe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4572000"/>
            <a:ext cx="4937760" cy="1783826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371600"/>
            <a:ext cx="3657600" cy="4114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57200" y="557784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안전 상태(SAFE_LOCKED) 전이 및 직전 상태 복구 제어 로직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1371600"/>
            <a:ext cx="3657600" cy="41148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572000" y="557784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AI 기반 하차 안전 보조(후방 위험 객체 탐지 및 상태 알림 연동)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06. 테스트 &amp; 검증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713232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테스트 케이스 및 결과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228600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테스트 항목 (단위 테스트, Fault Injection 시나리오 및 안전 상태 전이 검증)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1737360"/>
            <a:ext cx="164592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17830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ASIL B / QM 검증 요구사항 충족 및 양방향 추적성(Traceability) 점검 완료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37360"/>
            <a:ext cx="164592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7830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테스트 커버리지 달성 결과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109728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783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Pass/Fail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103120"/>
            <a:ext cx="228600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148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정상 동작 검증 (Pass)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0" y="2103120"/>
            <a:ext cx="164592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0" y="2148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정상 동작 검증 (Pass)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2103120"/>
            <a:ext cx="164592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2148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정상 동작 검증 (Pass)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103120"/>
            <a:ext cx="109728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21488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정상 동작 검증 (Pass)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651760"/>
            <a:ext cx="22860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697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정상 동작 검증 (Pass)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2651760"/>
            <a:ext cx="1645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26080" y="2697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정상 동작 검증 (Pass)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2651760"/>
            <a:ext cx="1645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2697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정상 동작 검증 (Pass)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2651760"/>
            <a:ext cx="10972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26974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정상 동작 검증 (Pass)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3200400"/>
            <a:ext cx="228600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246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정상 동작 검증 (Pass)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26080" y="3200400"/>
            <a:ext cx="164592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26080" y="3246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정상 동작 검증 (Pass)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0" y="3200400"/>
            <a:ext cx="164592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0" y="3246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정상 동작 검증 (Pass)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3200400"/>
            <a:ext cx="109728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0" y="32461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정상 동작 검증 (Pass)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3749039"/>
            <a:ext cx="22860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3794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정상 동작 검증 (Pass)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926080" y="3749039"/>
            <a:ext cx="1645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26080" y="3794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정상 동작 검증 (Pass)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0" y="3749039"/>
            <a:ext cx="1645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0" y="3794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정상 동작 검증 (Pass)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3749039"/>
            <a:ext cx="10972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0" y="37947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정상 동작 검증 (Pass)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4297679"/>
            <a:ext cx="228600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4343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정상 동작 검증 (Pass)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26080" y="4297679"/>
            <a:ext cx="164592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926080" y="4343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정상 동작 검증 (Pass)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0" y="4297679"/>
            <a:ext cx="164592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0" y="4343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정상 동작 검증 (Pass)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17920" y="4297679"/>
            <a:ext cx="109728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17920" y="43434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08080"/>
                </a:solidFill>
              </a:defRPr>
            </a:pPr>
            <a:r>
              <a:t>정상 동작 검증 (Pass)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772400" y="1188720"/>
            <a:ext cx="41148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55279" y="12801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성과 지표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55279" y="182880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정확도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55279" y="210312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100%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55279" y="283464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처리 속도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55279" y="310896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&lt;1ms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55279" y="384048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테스트 통과율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55279" y="411480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100%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955279" y="484632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커버리지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955279" y="512064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100%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</a:defRPr>
            </a:pPr>
            <a:r>
              <a:t>MOBIUS BOOTCAMP 1기 | PBL 결과발표 | 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07. 학습 내용 &amp; 교훈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669280" cy="2468880"/>
          </a:xfrm>
          <a:prstGeom prst="roundRect">
            <a:avLst/>
          </a:prstGeom>
          <a:solidFill>
            <a:srgbClr val="F0F8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기술적 학습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ISO 26262/ASPICE 산출물 기반 요구사항(SRS, SwDD) 작성 체화 및 V-모델 기반 설계-구현 워크플로우 경험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188720"/>
            <a:ext cx="5669280" cy="2468880"/>
          </a:xfrm>
          <a:prstGeom prst="roundRect">
            <a:avLst/>
          </a:prstGeom>
          <a:solidFill>
            <a:srgbClr val="FFF8F0"/>
          </a:solidFill>
          <a:ln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A00"/>
                </a:solidFill>
              </a:defRPr>
            </a:pPr>
            <a:r>
              <a:t>협업 &amp; 프로세스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GitHub Action을 활용한 CI/CT 자동 검증 파이프라인 연동 및 정적 분석 룰셋(Cppcheck) 도입 경험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840480"/>
            <a:ext cx="11338560" cy="2468880"/>
          </a:xfrm>
          <a:prstGeom prst="roundRect">
            <a:avLst/>
          </a:prstGeom>
          <a:solidFill>
            <a:srgbClr val="FFFAF5"/>
          </a:solidFill>
          <a:ln>
            <a:solidFill>
              <a:srgbClr val="C8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31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4783C"/>
                </a:solidFill>
              </a:defRPr>
            </a:pPr>
            <a:r>
              <a:t>도전 과제 &amp; 해결 과정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891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도전 과제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634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정상 동작 외의 복잡한 예외 조건(센서 에러, 동시 입력 등) 처리 시 상태 전이 충돌 위험 증가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43891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해결 방법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46634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제어 우선순위를 반영한 Decision Table 설계로 논리적 결함 차단 및 Fault Injection 시나리오화로 해결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</a:defRPr>
            </a:pPr>
            <a:r>
              <a:t>MOBIUS BOOTCAMP 1기 | PBL 결과발표 | 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08. 향후 계획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33856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560320"/>
            <a:ext cx="105156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86000" y="2423160"/>
            <a:ext cx="320040" cy="32004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1단계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CAN 통신 프로토콜 통합 제어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926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다중 제어기 통합 시그널 최적화 연동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0" y="2423160"/>
            <a:ext cx="320040" cy="32004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2단계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동적 주행 센서 (라이다/레이더) 시그널 결합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926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결합 시나리오 확장 및 판단 신뢰성 증대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0" y="2423160"/>
            <a:ext cx="320040" cy="32004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3단계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T-05 도어 제어 ECU 타겟 하드웨어 포팅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2926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제어기 로직 고도화 적용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114800"/>
            <a:ext cx="5486400" cy="2194560"/>
          </a:xfrm>
          <a:prstGeom prst="roundRect">
            <a:avLst/>
          </a:prstGeom>
          <a:solidFill>
            <a:srgbClr val="F0FFF0"/>
          </a:solidFill>
          <a:ln>
            <a:solidFill>
              <a:srgbClr val="64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206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C8C3C"/>
                </a:solidFill>
              </a:defRPr>
            </a:pPr>
            <a:r>
              <a:t>실무 적용 가능성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6634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현대모비스 차세대 통합 하차 제어 시스템 모듈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4114800"/>
            <a:ext cx="5669280" cy="2194560"/>
          </a:xfrm>
          <a:prstGeom prst="roundRect">
            <a:avLst/>
          </a:prstGeom>
          <a:solidFill>
            <a:srgbClr val="F8F8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4206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추가 개발 아이디어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66344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BLE 기반 부모 스마트폰 앱 연동 강제 오버라이드 기능 추가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</a:defRPr>
            </a:pPr>
            <a:r>
              <a:t>MOBIUS BOOTCAMP 1기 | PBL 결과발표 | 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0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00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28600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47472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4C8DC"/>
                </a:solidFill>
              </a:defRPr>
            </a:pPr>
            <a:r>
              <a:t>질문과 답변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0292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[팀명]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48640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4C8DC"/>
                </a:solidFill>
              </a:defRPr>
            </a:pPr>
            <a:r>
              <a:t>감사합니다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21792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6AABE"/>
                </a:solidFill>
              </a:defRPr>
            </a:pPr>
            <a:r>
              <a:t>MOBIUS BOOTCAMP 1기 | 현대모비스 x LIKELION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