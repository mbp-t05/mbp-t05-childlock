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4400" b="1">
                <a:solidFill>
                  <a:srgbClr val="ffffff"/>
                </a:solidFill>
              </a:defRPr>
            </a:pPr>
            <a:r>
              <a:rPr lang="ko-KR" altLang="en-US"/>
              <a:t>MOBIUS BOOTCAMP 1기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800" b="0">
                <a:solidFill>
                  <a:srgbClr val="ffffff"/>
                </a:solidFill>
              </a:defRPr>
            </a:pPr>
            <a:r>
              <a:rPr lang="ko-KR" altLang="en-US"/>
              <a:t>PBL 결과발표</a:t>
            </a: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003366"/>
                </a:solidFill>
              </a:defRPr>
            </a:pPr>
            <a:r>
              <a:rPr lang="en-US" altLang="ko-KR"/>
              <a:t>PBL 1 ISO26262 </a:t>
            </a:r>
            <a:r>
              <a:rPr lang="ko-KR" altLang="en-US"/>
              <a:t>프로젝트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0972800" cy="42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0">
                <a:solidFill>
                  <a:srgbClr val="333333"/>
                </a:solidFill>
              </a:defRPr>
            </a:pPr>
            <a:r>
              <a:rPr lang="ko-KR" altLang="en-US"/>
              <a:t>ISO 26262  </a:t>
            </a:r>
            <a:r>
              <a:rPr lang="en-US" altLang="ko-KR"/>
              <a:t>Child Lock </a:t>
            </a:r>
            <a:r>
              <a:rPr lang="ko-KR" altLang="en-US"/>
              <a:t>SW 시뮬레이션 프로젝트</a:t>
            </a: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29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400" b="0">
                <a:solidFill>
                  <a:srgbClr val="808080"/>
                </a:solidFill>
              </a:defRPr>
            </a:pPr>
            <a:r>
              <a:rPr lang="ko-KR" altLang="en-US"/>
              <a:t>2026. 03. 2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11" name="TextBox 10"/>
          <p:cNvSpPr txBox="1"/>
          <p:nvPr/>
        </p:nvSpPr>
        <p:spPr>
          <a:xfrm>
            <a:off x="1005840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/>
              <a:t>현대모비스 x LIKELION</a:t>
            </a:r>
            <a:endParaRPr lang="ko-KR" altLang="en-US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4252939"/>
            <a:ext cx="3549276" cy="2650518"/>
          </a:xfrm>
          <a:prstGeom prst="rect">
            <a:avLst/>
          </a:prstGeom>
          <a:noFill/>
        </p:spPr>
      </p:pic>
      <p:sp>
        <p:nvSpPr>
          <p:cNvPr id="15" name="TextBox 7"/>
          <p:cNvSpPr txBox="1"/>
          <p:nvPr/>
        </p:nvSpPr>
        <p:spPr>
          <a:xfrm>
            <a:off x="457200" y="4572000"/>
            <a:ext cx="10972800" cy="56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3200" b="1">
                <a:solidFill>
                  <a:srgbClr val="333333"/>
                </a:solidFill>
              </a:defRPr>
            </a:pPr>
            <a:r>
              <a:rPr lang="ko-KR" altLang="en-US"/>
              <a:t>팀명 </a:t>
            </a:r>
            <a:r>
              <a:rPr lang="en-US" altLang="ko-KR"/>
              <a:t>:</a:t>
            </a:r>
            <a:r>
              <a:rPr lang="ko-KR" altLang="en-US"/>
              <a:t> 전차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01. 팀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rPr sz="1300" b="1">
                <a:solidFill>
                  <a:srgbClr val="FFFFFF"/>
                </a:solidFill>
                <a:latin typeface="Malgun Gothic"/>
              </a:rPr>
              <a:t>박기준 (팀장)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김도균 / 김이안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t>이한결 / 이승욱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56032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1645920"/>
            <a:ext cx="1371600" cy="1371600"/>
          </a:xfrm>
          <a:prstGeom prst="ellipse">
            <a:avLst/>
          </a:prstGeom>
          <a:solidFill>
            <a:srgbClr val="DCDCDC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</a:defRPr>
            </a:pPr>
            <a:r>
              <a:rPr sz="1300" b="1">
                <a:solidFill>
                  <a:srgbClr val="FFFFFF"/>
                </a:solidFill>
                <a:latin typeface="Malgun Gothic"/>
              </a:rPr>
              <a:t>박찬석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66B2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rPr sz="900">
                <a:latin typeface="Malgun Gothi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02. 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FF0F0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3C3C"/>
                </a:solidFill>
              </a:defRPr>
            </a:pPr>
            <a:r>
              <a:t>AS-IS (현재 문제점)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1: 기계식 차일드 락의 수동 제어 불편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운전자가 뒷좌석에 직접 접근하여 개별 조작 필요 → 운전 중 불가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2: 사고·충돌 발생 시 뒷좌석 탈출 지연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기계식 잠금 시 비상 해제 수단 없어 인명 피해 위험 가중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3: 후방 위험 접근 정보와 하차 안전 연동 부재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후방 이륜차·차량 접근 중에도 뒷좌석 문이 열릴 수 있어 사고 위험</a:t>
            </a:r>
          </a:p>
          <a:p>
            <a:r>
              <a:rPr sz="1100" b="1">
                <a:solidFill>
                  <a:srgbClr val="1A1A2E"/>
                </a:solidFill>
                <a:latin typeface="Malgun Gothic"/>
              </a:rPr>
              <a:t>▪ 문제점 4: 점화 OFF 시 차일드 락 상태 인지 부재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하차 직전 잠금 상태 미인지로 아이가 내부에서 열기 불가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2194560"/>
            <a:ext cx="548640" cy="45720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303520" cy="256032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C8C3C"/>
                </a:solidFill>
              </a:defRPr>
            </a:pPr>
            <a:r>
              <a:t>TO-BE (목표 상태)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1: 전자식 통합 차일드 락 제어 (FG-01)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운전석에서 원버튼 ON/OFF + 속도 기반 자동 잠금 (≥15 km/h)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2: 사고 시 즉각 자동 해제 (ASIL B, FG-01)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충돌·에어백 신호 동시 감지 시 비상 해제 최우선 수행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3: 후방 위험 연동 자동 보호 (FG-02)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후방 레이더 연동 — 위험 감지 시 자동 잠금 유지 &amp; 운전자 경고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✔ 목표 4: 시동 OFF / 출발 시 상태 알림 (FG-02)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점화 OFF 및 출발 시 뒷좌석 점유 + CL 상태 1회 운전자 알림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33856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핵심 연구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sz="1300" b="0">
                <a:solidFill>
                  <a:srgbClr val="1A1A2E"/>
                </a:solidFill>
                <a:latin typeface="Malgun Gothic"/>
              </a:rPr>
              <a:t>ISO 26262 기능 안전을 준수하면서, 승객의 편의성과 하차 안전을 모두 충족하는
지능형 차일드 락 제어 시스템을 어떻게 설계·구현·검증할 것인가?
→ V-모델 기반 SRS↔SDD↔Code↔Test 양방향 추적성으로 답한다.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3/10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03. 솔루션 개요</a:t>
            </a:r>
            <a:endParaRPr lang="ko-KR" altLang="en-US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1371600"/>
          </a:xfrm>
          <a:prstGeom prst="roundRect">
            <a:avLst>
              <a:gd name="adj" fmla="val 16667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200" b="1">
                <a:solidFill>
                  <a:srgbClr val="ffffff"/>
                </a:solidFill>
              </a:defRPr>
            </a:pPr>
            <a:r>
              <a:rPr lang="ko-KR" altLang="en-US"/>
              <a:t>지능형 센서 및 차량 상태 연동 제어 기반의 통합 하차 안전 솔루션 (FG-01 / FG-02)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200" b="0">
                <a:solidFill>
                  <a:srgbClr val="b4c8dc"/>
                </a:solidFill>
              </a:defRPr>
            </a:pPr>
            <a:r>
              <a:rPr lang="ko-KR" altLang="en-US"/>
              <a:t>C/C++ 기반 ISO 26262 및 FMEA/HAZOP 상위 기능 안전 분석 적용 모듈</a:t>
            </a: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182880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1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/>
              <a:t>FG-01: 도어 잠금 및 해제 제어</a:t>
            </a: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3200400" cy="118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속도, 충돌, 스위치 연동 로직 적용 및 직전 상태 복구(Safe State) 제어</a:t>
            </a:r>
            <a:endParaRPr lang="ko-KR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Oval 13"/>
          <p:cNvSpPr/>
          <p:nvPr/>
        </p:nvSpPr>
        <p:spPr>
          <a:xfrm>
            <a:off x="566928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66928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2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/>
              <a:t>FG-02: 하차 안전 보조 제어</a:t>
            </a: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200400" cy="1184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후방 위험 판단 시 자동 잠금 유지 및 뒷좌석 점유/출발 상태 전환 시 운전자 알림 연동</a:t>
            </a:r>
            <a:endParaRPr lang="ko-KR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8138160" y="2926080"/>
            <a:ext cx="3566160" cy="3291840"/>
          </a:xfrm>
          <a:prstGeom prst="roundRect">
            <a:avLst>
              <a:gd name="adj" fmla="val 16667"/>
            </a:avLst>
          </a:prstGeom>
          <a:solidFill>
            <a:srgbClr val="f8f8f8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Oval 18"/>
          <p:cNvSpPr/>
          <p:nvPr/>
        </p:nvSpPr>
        <p:spPr>
          <a:xfrm>
            <a:off x="9509760" y="3108960"/>
            <a:ext cx="731520" cy="73152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509760" y="31546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3</a:t>
            </a: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32104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600" b="1">
                <a:solidFill>
                  <a:srgbClr val="333333"/>
                </a:solidFill>
              </a:defRPr>
            </a:pPr>
            <a:r>
              <a:rPr lang="ko-KR" altLang="en-US"/>
              <a:t>Fail-Safe 설계 및 테스트 결함 주입 (Fault Injection) 방어</a:t>
            </a: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200400" cy="146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FMEA/HAZOP 기반 요구사항 분석 적용 및 Fault Injection 시나리오 방어를 통한 Fail-Safe 설계</a:t>
            </a: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/>
              <a:t>MOBIUS BOOTCAMP 1기 | PBL 결과발표 | 4/10</a:t>
            </a: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04. 기술 스택 &amp;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772400" cy="5029200"/>
          </a:xfrm>
          <a:prstGeom prst="roundRect">
            <a:avLst/>
          </a:prstGeom>
          <a:solidFill>
            <a:srgbClr val="FCFCFC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0" y="1188720"/>
            <a:ext cx="3474720" cy="50292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C11, C++17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ISO 26262, ASPICE, V-Model 워크플로우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5661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Google Test, Cppcheck (단위 테스트 및 정적 분석)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891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GitHub Actions (CI 자동화), Draw.io (UML)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212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6B4D2"/>
                </a:solidFill>
              </a:defRPr>
            </a:pPr>
            <a:r>
              <a:t>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40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Ubuntu 22.04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5/10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234440"/>
            <a:ext cx="74980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357E"/>
                </a:solidFill>
                <a:latin typeface="Malgun Gothic"/>
              </a:rPr>
              <a:t>시스템 상태 다이어그램 (State Diagram)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0589"/>
            <a:ext cx="7406640" cy="4316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05. 구현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513113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449440" y="1188720"/>
            <a:ext cx="5371556" cy="513113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6/10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114" y="1269613"/>
            <a:ext cx="3860226" cy="2239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900" b="1">
                <a:solidFill>
                  <a:srgbClr val="00357e"/>
                </a:solidFill>
                <a:latin typeface="맑은 고딕"/>
              </a:rPr>
              <a:t>                       </a:t>
            </a:r>
            <a:r>
              <a:rPr sz="900" b="1">
                <a:solidFill>
                  <a:srgbClr val="00357e"/>
                </a:solidFill>
                <a:latin typeface="맑은 고딕"/>
              </a:rPr>
              <a:t>FG-01 플로우차트: 도어 잠금/해제 제어 (UC-1,2,3,4)</a:t>
            </a:r>
            <a:endParaRPr sz="900" b="1">
              <a:solidFill>
                <a:srgbClr val="00357e"/>
              </a:solidFill>
              <a:latin typeface="맑은 고딕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5114" y="1702418"/>
            <a:ext cx="4695032" cy="42096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26479" y="1234440"/>
            <a:ext cx="4194811" cy="2209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900" b="1">
                <a:solidFill>
                  <a:srgbClr val="00357e"/>
                </a:solidFill>
                <a:latin typeface="맑은 고딕"/>
              </a:rPr>
              <a:t>                                         </a:t>
            </a:r>
            <a:r>
              <a:rPr sz="900" b="1">
                <a:solidFill>
                  <a:srgbClr val="00357e"/>
                </a:solidFill>
                <a:latin typeface="맑은 고딕"/>
              </a:rPr>
              <a:t>FG-02 플로우차트: 하차 안전 보조 (UC-5,6,7)</a:t>
            </a:r>
            <a:endParaRPr sz="900" b="1">
              <a:solidFill>
                <a:srgbClr val="00357e"/>
              </a:solidFill>
              <a:latin typeface="맑은 고딕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10794" y="1585912"/>
            <a:ext cx="4917126" cy="4403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400" b="1">
                <a:solidFill>
                  <a:srgbClr val="ffffff"/>
                </a:solidFill>
              </a:defRPr>
            </a:pPr>
            <a:r>
              <a:rPr lang="ko-KR" altLang="en-US"/>
              <a:t>06. 테스트 &amp; 검증</a:t>
            </a:r>
            <a:endParaRPr lang="ko-KR" altLang="en-US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13232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7665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600" b="1">
                <a:solidFill>
                  <a:srgbClr val="003366"/>
                </a:solidFill>
              </a:defRPr>
            </a:pPr>
            <a:r>
              <a:rPr lang="ko-KR" altLang="en-US"/>
              <a:t>   테스트 케이스 및 결과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286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맑은 고딕"/>
              </a:rPr>
              <a:t>Test ID / 기법</a:t>
            </a:r>
            <a:endParaRPr sz="9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92608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맑은 고딕"/>
              </a:rPr>
              <a:t>UC</a:t>
            </a:r>
            <a:endParaRPr sz="9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0" y="1737360"/>
            <a:ext cx="164592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맑은 고딕"/>
              </a:rPr>
              <a:t>테스트 항목 (15건 중 핵심)</a:t>
            </a:r>
            <a:endParaRPr sz="9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109728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1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맑은 고딕"/>
              </a:rPr>
              <a:t>PASS/FAIL</a:t>
            </a:r>
            <a:endParaRPr sz="9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TC-004 / BVA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292608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UC-1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72000" y="210312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주행 중 해제 차단 (3.0 km/h)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265176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TC-005 / BVA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92608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92608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UC-1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0" y="2651760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572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주행 중 해제 허용 (2.9 km/h)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217920" y="2697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TC-008 / BVA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2608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292608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UC-2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0" y="3200400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457200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속도 초과 자동잠금 동작 (15.0 km/h)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17920" y="3200400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" y="3749039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TC-009 / DT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92608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UC-3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000" y="3749039"/>
            <a:ext cx="1645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45720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충돌 시 비상 해제 — 복합조건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7920" y="3749039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40080" y="4297679"/>
            <a:ext cx="228600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640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1">
                <a:solidFill>
                  <a:srgbClr val="d44500"/>
                </a:solidFill>
                <a:latin typeface="맑은 고딕"/>
              </a:rPr>
              <a:t>TC-010 / DT</a:t>
            </a:r>
            <a:endParaRPr sz="85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92608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292608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900" b="0">
                <a:solidFill>
                  <a:srgbClr val="1a1a2e"/>
                </a:solidFill>
                <a:latin typeface="맑은 고딕"/>
              </a:rPr>
              <a:t>UC-3</a:t>
            </a:r>
            <a:endParaRPr sz="90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572000" y="4297679"/>
            <a:ext cx="16459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4572000" y="4343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850" b="0">
                <a:solidFill>
                  <a:srgbClr val="1a1a2e"/>
                </a:solidFill>
                <a:latin typeface="맑은 고딕"/>
              </a:rPr>
              <a:t>충돌 단일조건 무시 (오동작 방지)  [ASIL B]</a:t>
            </a:r>
            <a:endParaRPr sz="850" b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17920" y="4297679"/>
            <a:ext cx="1097280" cy="502920"/>
          </a:xfrm>
          <a:prstGeom prst="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621792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 sz="1000" b="0">
                <a:solidFill>
                  <a:srgbClr val="808080"/>
                </a:solidFill>
              </a:defRPr>
            </a:pPr>
            <a:r>
              <a:rPr sz="1000" b="1">
                <a:solidFill>
                  <a:srgbClr val="007048"/>
                </a:solidFill>
                <a:latin typeface="맑은 고딕"/>
              </a:rPr>
              <a:t>PASS</a:t>
            </a:r>
            <a:endParaRPr sz="10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772400" y="1188720"/>
            <a:ext cx="4114800" cy="5029200"/>
          </a:xfrm>
          <a:prstGeom prst="roundRect">
            <a:avLst>
              <a:gd name="adj" fmla="val 16667"/>
            </a:avLst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795527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600" b="1">
                <a:solidFill>
                  <a:srgbClr val="003366"/>
                </a:solidFill>
              </a:defRPr>
            </a:pPr>
            <a:r>
              <a:rPr lang="ko-KR" altLang="en-US"/>
              <a:t>성과 지표</a:t>
            </a:r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7955279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맑은 고딕"/>
              </a:rPr>
              <a:t>단위 테스트</a:t>
            </a:r>
            <a:endParaRPr sz="1000" b="0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955279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2200" b="1">
                <a:solidFill>
                  <a:srgbClr val="00357e"/>
                </a:solidFill>
                <a:latin typeface="맑은 고딕"/>
              </a:rPr>
              <a:t>140 건</a:t>
            </a:r>
            <a:endParaRPr sz="2200" b="1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955279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맑은 고딕"/>
              </a:rPr>
              <a:t>통과율</a:t>
            </a:r>
            <a:endParaRPr sz="1000" b="0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955279" y="31089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1800" b="1">
                <a:solidFill>
                  <a:srgbClr val="007048"/>
                </a:solidFill>
                <a:latin typeface="맑은 고딕"/>
              </a:rPr>
              <a:t>100%</a:t>
            </a:r>
            <a:endParaRPr sz="1800" b="1">
              <a:solidFill>
                <a:srgbClr val="007048"/>
              </a:solidFill>
              <a:latin typeface="맑은 고딕"/>
            </a:endParaRPr>
          </a:p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1800" b="1">
                <a:solidFill>
                  <a:srgbClr val="007048"/>
                </a:solidFill>
                <a:latin typeface="맑은 고딕"/>
              </a:rPr>
              <a:t>(0 Fail)</a:t>
            </a:r>
            <a:endParaRPr sz="1800" b="1">
              <a:solidFill>
                <a:srgbClr val="007048"/>
              </a:solidFill>
              <a:latin typeface="맑은 고딕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955279" y="3840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맑은 고딕"/>
              </a:rPr>
              <a:t>시스템 TC</a:t>
            </a:r>
            <a:endParaRPr sz="1000" b="0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955279" y="41148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sz="2200" b="1">
                <a:solidFill>
                  <a:srgbClr val="d44500"/>
                </a:solidFill>
                <a:latin typeface="맑은 고딕"/>
              </a:rPr>
              <a:t>15 건</a:t>
            </a:r>
            <a:endParaRPr sz="2200" b="1">
              <a:solidFill>
                <a:srgbClr val="d44500"/>
              </a:solidFill>
              <a:latin typeface="맑은 고딕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955279" y="4846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1100" b="0">
                <a:solidFill>
                  <a:srgbClr val="333333"/>
                </a:solidFill>
              </a:defRPr>
            </a:pPr>
            <a:r>
              <a:rPr sz="1000" b="0">
                <a:solidFill>
                  <a:srgbClr val="00357e"/>
                </a:solidFill>
                <a:latin typeface="맑은 고딕"/>
              </a:rPr>
              <a:t>커버리지</a:t>
            </a:r>
            <a:endParaRPr sz="1000" b="0">
              <a:solidFill>
                <a:srgbClr val="00357e"/>
              </a:solidFill>
              <a:latin typeface="맑은 고딕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955279" y="5120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defRPr sz="2800" b="1">
                <a:solidFill>
                  <a:srgbClr val="003366"/>
                </a:solidFill>
              </a:defRPr>
            </a:pPr>
            <a:r>
              <a:rPr lang="ko-KR" altLang="en-US"/>
              <a:t>100%</a:t>
            </a:r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 sz="1000" b="0">
                <a:solidFill>
                  <a:srgbClr val="808080"/>
                </a:solidFill>
              </a:defRPr>
            </a:pPr>
            <a:r>
              <a:rPr lang="ko-KR" altLang="en-US"/>
              <a:t>MOBIUS BOOTCAMP 1기 | PBL 결과발표 | 7/10</a:t>
            </a: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07. 학습 내용 &amp; 교훈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669280" cy="2468880"/>
          </a:xfrm>
          <a:prstGeom prst="roundRect">
            <a:avLst/>
          </a:prstGeom>
          <a:solidFill>
            <a:srgbClr val="F0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기술적 학습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① ISO 26262 기반 기능 안전 분석 (HAZOP / FMEA) 및 ASIL B 수준 안전 목표 도출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② SRS → SwDD → Code → Test 양방향 추적성 확보 (ASPICE SWE.1~SWE.6)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③ V-모델 기반 설계-구현 워크플로우 — 요구사항 작성 전에 테스트 케이스 먼저 정의 (TDD)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④ Fail-Safe 상태(SAFE_LOCKED / EMERGENCY_RELEASED) 설계 및 우선순위 정책 수립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669280" cy="2468880"/>
          </a:xfrm>
          <a:prstGeom prst="roundRect">
            <a:avLst/>
          </a:prstGeom>
          <a:solidFill>
            <a:srgbClr val="FFF8F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A00"/>
                </a:solidFill>
              </a:defRPr>
            </a:pPr>
            <a:r>
              <a:t>협업 &amp;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① GitHub Actions CI/CD 파이프라인: 빌드 → GTest → Cppcheck → lcov 자동화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② Lizard 복잡도 분석으로 Cyclomatic Complexity ≤10 준수 자동 검증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③ GoogleTest Mock 기반 엣지 케이스(Fault Injection, Null 입력) 시뮬레이션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④ Branch / MC/DC Coverage 100% 달성 — 140개 단위 테스트 케이스 모두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338560" cy="2468880"/>
          </a:xfrm>
          <a:prstGeom prst="roundRect">
            <a:avLst/>
          </a:prstGeom>
          <a:solidFill>
            <a:srgbClr val="FFFAF5"/>
          </a:solidFill>
          <a:ln>
            <a:solidFill>
              <a:srgbClr val="C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4783C"/>
                </a:solidFill>
              </a:defRPr>
            </a:pPr>
            <a:r>
              <a:t>도전 과제 &amp; 해결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도전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1: 복합 센서 예외 조건 (속도 오류+충돌+핸들 동시 입력) 처리 시 상태 충돌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2: 단위 테스트로 검증 어려운 시스템 수준 통합 시나리오 구축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과제 3: Door ECU ACK 미수신 상황의 재전송/Fail-Safe 로직 복잡성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해결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1: CrashSignal &gt; SensorFault &gt; DriverInput &gt; AutoLock 우선순위 Decision Table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2: GTest Mock으로 ECU 미응답/센서 고장 시나리오 Fault Injection 자동화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▸ 해결 3: 상태 전이 다이어그램(State Diagram)을 코드 구조에 1:1 대응시켜 가독성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8/10</a:t>
            </a: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08.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45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338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00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5156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CAN / CAN-FD 기반 도어 ECU 실시간 제어
다중 제어기 통합 시그널 최적화 연동
★ 차량 네트워크 통신 스택 통합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다중 제어기 통합 시그널 최적화 연동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LiDAR / Radar 복합 센서 데이터 퓨전
TTC(Time-to-Collision) 기반 위험도 고도화
★ 오탐률 최소화 히스테리시스 알고리즘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결합 시나리오 확장 및 판단 신뢰성 증대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0" y="2423160"/>
            <a:ext cx="320040" cy="32004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000">
                <a:latin typeface="Malgun Gothic"/>
              </a:rPr>
              <a:t>도어 제어 ECU 타겟 하드웨어 포팅 (AUTOSAR RTE)
HIL(Hardware-in-the-Loop) 환경 검증
★ ISO 26262 ASIL B 인증 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제어기 로직 고도화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0FFF0"/>
          </a:solidFill>
          <a:ln>
            <a:solidFill>
              <a:srgbClr val="64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8C3C"/>
                </a:solidFill>
              </a:defRPr>
            </a:pPr>
            <a:r>
              <a:t>실무 적용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357E"/>
                </a:solidFill>
                <a:latin typeface="Malgun Gothic"/>
              </a:rPr>
              <a:t>🚗 현대모비스 차세대 통합 하차 안전 제어기 모듈 적용 가능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기존 기계식 차일드 락 대체 → 비용 절감 + 안전성 향상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ASIL B 인증으로 글로벌 완성차 OEM 납품 가능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• V2X 연동 확장 시 원격 잠금/해제 상업화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669280" cy="2194560"/>
          </a:xfrm>
          <a:prstGeom prst="roundRect">
            <a:avLst/>
          </a:prstGeom>
          <a:solidFill>
            <a:srgbClr val="F8F8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추가 개발 아이디어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1: BLE 스마트폰 앱 연동 강제 오버라이드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부모 앱에서 원격 잠금/해제 + 긴급 해제 알림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2: AI 기반 영유아 방치 감지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좌석 점유 + 온도 + 시간 복합 분석 → 방치 사고 예방</a:t>
            </a:r>
          </a:p>
          <a:p>
            <a:r>
              <a:rPr sz="1100" b="1">
                <a:solidFill>
                  <a:srgbClr val="005BB5"/>
                </a:solidFill>
                <a:latin typeface="Malgun Gothic"/>
              </a:rPr>
              <a:t>💡 아이디어 3: OTA 업데이트로 임계값 동적 조정</a:t>
            </a:r>
          </a:p>
          <a:p>
            <a:r>
              <a:rPr sz="1000" b="0">
                <a:solidFill>
                  <a:srgbClr val="1A1A2E"/>
                </a:solidFill>
                <a:latin typeface="Malgun Gothic"/>
              </a:rPr>
              <a:t>   • Safety Goal 변경 없이 파라미터($UNLOCK_INHIBIT_SPEED 등) 업데이트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</a:defRPr>
            </a:pPr>
            <a:r>
              <a:t>MOBIUS BOOTCAMP 1기 | PBL 결과발표 |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4C8DC"/>
                </a:solidFill>
              </a:defRPr>
            </a:pPr>
            <a:r>
              <a:t>질문과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전차 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C8DC"/>
                </a:solidFill>
              </a:defRPr>
            </a:pPr>
            <a:r>
              <a:t>감사합니다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ABE"/>
                </a:solidFill>
              </a:defRPr>
            </a:pPr>
            <a:r>
              <a:t>MOBIUS BOOTCAMP 1기 | 현대모비스 x LIKELION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916</ep:Words>
  <ep:PresentationFormat>On-screen Show (4:3)</ep:PresentationFormat>
  <ep:Paragraphs>251</ep:Paragraphs>
  <ep:Slides>10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fish0</cp:lastModifiedBy>
  <dcterms:modified xsi:type="dcterms:W3CDTF">2026-03-22T16:09:27.362</dcterms:modified>
  <cp:revision>13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